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7" r:id="rId10"/>
    <p:sldId id="278" r:id="rId8"/>
    <p:sldId id="268" r:id="rId19"/>
    <p:sldId id="279" r:id="rId17"/>
    <p:sldId id="280" r:id="rId7"/>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347c98-ff72-5924-6a97-c886bb895010}">
          <p14:sldIdLst>
            <p14:sldId id="256"/>
          </p14:sldIdLst>
        </p14:section>
        <p14:section name="Problem and solution" id="{a6572cb7-10d9-d36e-1f62-9d95329b3a56}">
          <p14:sldIdLst>
            <p14:sldId id="257"/>
            <p14:sldId id="258"/>
          </p14:sldIdLst>
        </p14:section>
        <p14:section name="Product" id="{b234fb78-1df1-8dc2-a538-f8bafddae804}">
          <p14:sldIdLst>
            <p14:sldId id="259"/>
            <p14:sldId id="260"/>
            <p14:sldId id="261"/>
          </p14:sldIdLst>
        </p14:section>
        <p14:section name="Impact and plan" id="{ae6668b6-2f4f-f772-885c-98a0a8ddc4f1}">
          <p14:sldIdLst>
            <p14:sldId id="262"/>
            <p14:sldId id="263"/>
          </p14:sldIdLst>
        </p14:section>
        <p14:section name="Close" id="{4187ccfb-9c98-8d74-f3d6-80e123a87b27}">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9.xml"/><Relationship Id="rId8"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7" Type="http://schemas.openxmlformats.org/officeDocument/2006/relationships/slide" Target="slides/slide8.xml"/><Relationship Id="rId1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TerraLink is a web app for NGOs that protect ponds and wetlands in Bangladesh. It helps teams spot possible changes, check them on the ground, assign work, track costs, and make clear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Ponds, beels and wetlands store rainwater, reduce urban flooding and support fisheries and livelihoods. Around Dhaka many canals and water bodies have disappeared or become blocked. NGO teams face three challenges: monitoring is difficult because comparing satellite images takes skill and clouds or seasonal drying can mislead; records are scattered across files, phones and chat groups; and follow-up is limited because it is unclear who checks a site, by when and at what cost. The gap is a simple workflow that connects observations to the work and costs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TerraLink keeps one shared record for each site, linking satellite evidence, decisions, tasks and costs. Teams compare images, review findings and resident photo reports, assign tasks, track costs and share reports. Residents can also upload photos to report a problem. It is built to be trusted: it uses free Sentinel-2 imagery, measures water area in the browser, shows Insufficient data when clouds hide a site, and treats a drop in water as a reason to check, not proof. The screenshot is the project manager’s dashboard. Who uses it: the Project Manager reviews findings, approves work and controls the budget; the Field Coordinator updates assigned tasks and records costs; a User explores the water bodies and reports problems with photos.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exact flow, in four lanes. A resident reports a problem with photos and a map pin; or the satellite comparison measures the water area from two Sentinel-2 images. Both go to the project manager, who reviews the evidence and decides: a report is verified or rejected with a reason, and a site is Confirmed for follow-up, Inconclusive, or No change; if clouds block the view the site shows Insufficient data. If confirmed, the manager creates a task for a field coordinator with a deadline and cost. TerraLink puts the task on the schedule, can add it to Google Calendar, and emails the assignee. The coordinator starts the work, records costs, and submits completion photos with a summary. TerraLink emails the manager. The manager approves the work and the expenses, or returns it for more work, which sends it back to the coordinator. When the task is completed with an outcome, the resident sees the result on their report, and the report can be downloaded as a PDF or sent by email.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are welcome. The live demo is at terralink-probah.vercel.app, or scan the QR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3, 4 and 5. Reports: Download PDF saves the report; Send opens a list of the team plus any extra email address, and each person has their own Send button; the email arrives with a subject, a short message, a summary table and the PDF attached. Schedule and Notifications: tasks and events go on the TerraLink schedule, can be added to Google Calendar, and come with email invitations and alerts. Team and Costs: the budget page compares planned and actual cost for each water body, an expense counts only after the manager approves it, and the manager is emailed when a site goes over budget. The images show the Send dialog, the PDF a person downloads, and the Budgets page. Email uses EmailJS and the calendar uses the Google Calendar 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of the six features. Feature 1, Map and Change Analysis, shows the five Dhaka water bodies on a map with their real mapped outlines. The manager picks two dates and TerraLink finds the clearest Sentinel-2 scene near each, draws both, and measures the water area with a water mask (NDWI), stating the uncertainty. When clouds block the view, or a water body is under one hectare, it shows Insufficient data instead of a guess. Feature 2, Review and Tasks, turns a verified finding, from the satellite or from a resident’s photo report, into field work: the manager records a decision with a reason, assigns a field coordinator with a deadline and cost, the coordinator works and submits photos, and the manager approves or returns the work. The small images laid over the corners show the wetland map and a task’s stages.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TerraLink helps: managers get a clearer view of findings and pending work; residents can report and upload problems with a photo and follow the result; responsibilities, deadlines and expenses are easier to track; and reports are shared by email as a PDF. Actual impact will be evaluated through user feedback and project results. The first prototype is a focused first step: five selected Dhaka ponds and wetlands, built on existing satellite data and free tools, with clearly labelled sample records where real project data is not available. Our vision is a practical tool that turns satellite observations into organised, accountable wetland protection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Bangla assistant is meant to replace the usual question to a colleague: where is that information? Today it is a guided assistant: it answers a set list of questions in Bangla from the live project records and always names the source record, and it says clearly when data is missing. It does not call an external AI model yet. The next step is to train it on the organisation’s own data, such as past reports, site records, costs and field notes, so any team member can ask a question in Bangla and get an answer without asking colleagues or searching the database. Answers will stay within what each role is allowed to see, and will keep showing their sources. The goal is less time spent searching for information, and fewer people needed to find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rtlCol="0"/>
          <a:lstStyle>
            <a:lvl1pPr algn="l" indent="0" marL="0">
              <a:buNone/>
              <a:defRPr lang="en-US" sz="1300" dirty="0">
                <a:solidFill>
                  <a:schemeClr val="accent2"/>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CYA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CYA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rtlCol="0"/>
          <a:lstStyle>
            <a:lvl1pPr algn="l" indent="0" marL="0">
              <a:buNone/>
              <a:defRPr lang="en-US" sz="1300" dirty="0">
                <a:solidFill>
                  <a:schemeClr val="accent2"/>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hyperlink" Target="https://terralink-probah.vercel.app" TargetMode="Externa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Aerial view of a pond and fields in Bangladesh">    </p:cNvPr>
          <p:cNvPicPr>
            <a:picLocks noChangeAspect="1"/>
          </p:cNvPicPr>
          <p:nvPr/>
        </p:nvPicPr>
        <p:blipFill>
          <a:blip r:embed="rId1"/>
          <a:srcRect l="0" r="0" t="0" b="0"/>
          <a:stretch/>
        </p:blipFill>
        <p:spPr>
          <a:xfrm>
            <a:off x="4800600" y="0"/>
            <a:ext cx="4343400" cy="5143500"/>
          </a:xfrm>
          <a:prstGeom prst="rect">
            <a:avLst/>
          </a:prstGeom>
        </p:spPr>
      </p:pic>
      <p:sp>
        <p:nvSpPr>
          <p:cNvPr id="3" name="Text 0"/>
          <p:cNvSpPr txBox="1"/>
          <p:nvPr/>
        </p:nvSpPr>
        <p:spPr>
          <a:xfrm>
            <a:off x="502920" y="914400"/>
            <a:ext cx="4114800" cy="274320"/>
          </a:xfrm>
          <a:prstGeom prst="rect">
            <a:avLst/>
          </a:prstGeom>
          <a:noFill/>
          <a:ln/>
        </p:spPr>
        <p:txBody>
          <a:bodyPr wrap="square" lIns="0" tIns="0" rIns="0" bIns="0" rtlCol="0" anchor="ctr"/>
          <a:lstStyle/>
          <a:p>
            <a:pPr indent="0" marL="0">
              <a:buNone/>
            </a:pPr>
            <a:r>
              <a:rPr lang="en-US" sz="900" b="1" spc="150" kern="0" dirty="0">
                <a:solidFill>
                  <a:schemeClr val="accent2"/>
                </a:solidFill>
              </a:rPr>
              <a:t>CLIMATE RESILIENCE &amp; ENVIRONMENTAL SUSTAINABILITY</a:t>
            </a:r>
            <a:endParaRPr lang="en-US" sz="900" dirty="0"/>
          </a:p>
        </p:txBody>
      </p:sp>
      <p:sp>
        <p:nvSpPr>
          <p:cNvPr id="4" name="Text 1"/>
          <p:cNvSpPr txBox="1"/>
          <p:nvPr/>
        </p:nvSpPr>
        <p:spPr>
          <a:xfrm>
            <a:off x="502920" y="1234440"/>
            <a:ext cx="4114800" cy="777240"/>
          </a:xfrm>
          <a:prstGeom prst="rect">
            <a:avLst/>
          </a:prstGeom>
          <a:noFill/>
          <a:ln/>
        </p:spPr>
        <p:txBody>
          <a:bodyPr wrap="square" lIns="0" tIns="0" rIns="0" bIns="0" rtlCol="0" anchor="ctr"/>
          <a:lstStyle/>
          <a:p>
            <a:pPr indent="0" marL="0">
              <a:buNone/>
            </a:pPr>
            <a:r>
              <a:rPr lang="en-US" sz="4400" b="1" dirty="0">
                <a:solidFill>
                  <a:schemeClr val="tx2"/>
                </a:solidFill>
              </a:rPr>
              <a:t>TerraLink</a:t>
            </a:r>
            <a:endParaRPr lang="en-US" sz="4400" dirty="0"/>
          </a:p>
        </p:txBody>
      </p:sp>
      <p:sp>
        <p:nvSpPr>
          <p:cNvPr id="5" name="Text 2"/>
          <p:cNvSpPr txBox="1"/>
          <p:nvPr/>
        </p:nvSpPr>
        <p:spPr>
          <a:xfrm>
            <a:off x="502920" y="2011680"/>
            <a:ext cx="4023360" cy="731520"/>
          </a:xfrm>
          <a:prstGeom prst="rect">
            <a:avLst/>
          </a:prstGeom>
          <a:noFill/>
          <a:ln/>
        </p:spPr>
        <p:txBody>
          <a:bodyPr wrap="square" lIns="0" tIns="0" rIns="0" bIns="0" rtlCol="0" anchor="t"/>
          <a:lstStyle/>
          <a:p>
            <a:pPr indent="0" marL="0">
              <a:buNone/>
            </a:pPr>
            <a:r>
              <a:rPr lang="en-US" sz="2000" dirty="0">
                <a:solidFill>
                  <a:schemeClr val="tx1"/>
                </a:solidFill>
              </a:rPr>
              <a:t>Smarter Wetland Monitoring &amp; Project Management</a:t>
            </a:r>
            <a:endParaRPr lang="en-US" sz="2000" dirty="0"/>
          </a:p>
        </p:txBody>
      </p:sp>
      <p:sp>
        <p:nvSpPr>
          <p:cNvPr id="6" name="Text 3"/>
          <p:cNvSpPr txBox="1"/>
          <p:nvPr/>
        </p:nvSpPr>
        <p:spPr>
          <a:xfrm>
            <a:off x="502920" y="2788920"/>
            <a:ext cx="3931920" cy="502920"/>
          </a:xfrm>
          <a:prstGeom prst="rect">
            <a:avLst/>
          </a:prstGeom>
          <a:noFill/>
          <a:ln/>
        </p:spPr>
        <p:txBody>
          <a:bodyPr wrap="square" lIns="0" tIns="0" rIns="0" bIns="0" rtlCol="0" anchor="t"/>
          <a:lstStyle/>
          <a:p>
            <a:pPr indent="0" marL="0">
              <a:buNone/>
            </a:pPr>
            <a:r>
              <a:rPr lang="en-US" sz="1300" i="1" dirty="0">
                <a:solidFill>
                  <a:schemeClr val="accent2"/>
                </a:solidFill>
              </a:rPr>
              <a:t>From a satellite signal to a recorded field response, all in one place.</a:t>
            </a:r>
            <a:endParaRPr lang="en-US" sz="1300" dirty="0"/>
          </a:p>
        </p:txBody>
      </p:sp>
      <p:sp>
        <p:nvSpPr>
          <p:cNvPr id="7" name="Cover divider"/>
          <p:cNvSpPr/>
          <p:nvPr/>
        </p:nvSpPr>
        <p:spPr>
          <a:xfrm>
            <a:off x="502920" y="3794760"/>
            <a:ext cx="3931920" cy="0"/>
          </a:xfrm>
          <a:prstGeom prst="line">
            <a:avLst/>
          </a:prstGeom>
          <a:noFill/>
          <a:ln w="9525">
            <a:solidFill>
              <a:schemeClr val="accent4"/>
            </a:solidFill>
            <a:prstDash val="solid"/>
          </a:ln>
        </p:spPr>
      </p:sp>
      <p:sp>
        <p:nvSpPr>
          <p:cNvPr id="8" name="Text 5"/>
          <p:cNvSpPr txBox="1"/>
          <p:nvPr/>
        </p:nvSpPr>
        <p:spPr>
          <a:xfrm>
            <a:off x="502920" y="3931920"/>
            <a:ext cx="4023360" cy="777240"/>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Afrin Jahan Era</a:t>
            </a:r>
            <a:endParaRPr lang="en-US" sz="1100" dirty="0"/>
          </a:p>
          <a:p>
            <a:pPr indent="0" marL="0">
              <a:spcAft>
                <a:spcPts val="200"/>
              </a:spcAft>
              <a:buNone/>
            </a:pPr>
            <a:r>
              <a:rPr lang="en-US" sz="1100" dirty="0">
                <a:solidFill>
                  <a:schemeClr val="accent2"/>
                </a:solidFill>
              </a:rPr>
              <a:t>Islamic University of Technology (IUT)</a:t>
            </a:r>
            <a:endParaRPr lang="en-US" sz="1100" dirty="0"/>
          </a:p>
          <a:p>
            <a:pPr indent="0" marL="0">
              <a:spcAft>
                <a:spcPts val="200"/>
              </a:spcAft>
              <a:buNone/>
            </a:pPr>
            <a:r>
              <a:rPr lang="en-US" sz="11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terralink-probah.vercel.app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The Problem</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Wetland protection requires more than identifying environmental changes.</a:t>
            </a:r>
            <a:endParaRPr lang="en-US" sz="1300" dirty="0"/>
          </a:p>
        </p:txBody>
      </p:sp>
      <p:sp>
        <p:nvSpPr>
          <p:cNvPr id="4" name="Text 2"/>
          <p:cNvSpPr txBox="1"/>
          <p:nvPr/>
        </p:nvSpPr>
        <p:spPr>
          <a:xfrm>
            <a:off x="457200" y="1298448"/>
            <a:ext cx="4663440" cy="2697480"/>
          </a:xfrm>
          <a:prstGeom prst="rect">
            <a:avLst/>
          </a:prstGeom>
          <a:noFill/>
          <a:ln/>
        </p:spPr>
        <p:txBody>
          <a:bodyPr wrap="square" lIns="0" tIns="0" rIns="0" bIns="0" rtlCol="0" anchor="t"/>
          <a:lstStyle/>
          <a:p>
            <a:pPr indent="0" marL="0">
              <a:spcAft>
                <a:spcPts val="600"/>
              </a:spcAft>
              <a:buNone/>
            </a:pPr>
            <a:r>
              <a:rPr lang="en-US" sz="1150" dirty="0">
                <a:solidFill>
                  <a:schemeClr val="tx1"/>
                </a:solidFill>
              </a:rPr>
              <a:t>Ponds, beels and wetlands store rainwater, reduce urban flooding and support fisheries and livelihoods. Around Dhaka, many canals and water bodies have disappeared or become blocked as the city grows.</a:t>
            </a:r>
            <a:endParaRPr lang="en-US" sz="1150" dirty="0"/>
          </a:p>
          <a:p>
            <a:pPr indent="0" marL="0">
              <a:spcAft>
                <a:spcPts val="600"/>
              </a:spcAft>
              <a:buNone/>
            </a:pPr>
            <a:r>
              <a:rPr lang="en-US" sz="1150" b="1" dirty="0">
                <a:solidFill>
                  <a:schemeClr val="tx1"/>
                </a:solidFill>
              </a:rPr>
              <a:t>Environmental project managers and field coordinators face three key challenges:</a:t>
            </a:r>
            <a:endParaRPr lang="en-US" sz="1150" dirty="0"/>
          </a:p>
          <a:p>
            <a:pPr indent="0" marL="0">
              <a:spcAft>
                <a:spcPts val="600"/>
              </a:spcAft>
              <a:buNone/>
            </a:pPr>
            <a:r>
              <a:rPr lang="en-US" sz="1150" b="1" dirty="0">
                <a:solidFill>
                  <a:schemeClr val="tx1"/>
                </a:solidFill>
              </a:rPr>
              <a:t>Difficult monitoring: </a:t>
            </a:r>
            <a:pPr indent="0" marL="0">
              <a:spcAft>
                <a:spcPts val="600"/>
              </a:spcAft>
              <a:buNone/>
            </a:pPr>
            <a:r>
              <a:rPr lang="en-US" sz="1150" dirty="0">
                <a:solidFill>
                  <a:schemeClr val="tx1"/>
                </a:solidFill>
              </a:rPr>
              <a:t>Comparing satellite images takes time and skill. Clouds or seasonal drying can make a pond look smaller than it is.</a:t>
            </a:r>
            <a:endParaRPr lang="en-US" sz="1150" dirty="0"/>
          </a:p>
          <a:p>
            <a:pPr indent="0" marL="0">
              <a:spcAft>
                <a:spcPts val="600"/>
              </a:spcAft>
              <a:buNone/>
            </a:pPr>
            <a:r>
              <a:rPr lang="en-US" sz="1150" b="1" dirty="0">
                <a:solidFill>
                  <a:schemeClr val="tx1"/>
                </a:solidFill>
              </a:rPr>
              <a:t>Scattered records: </a:t>
            </a:r>
            <a:pPr indent="0" marL="0">
              <a:spcAft>
                <a:spcPts val="600"/>
              </a:spcAft>
              <a:buNone/>
            </a:pPr>
            <a:r>
              <a:rPr lang="en-US" sz="1150" dirty="0">
                <a:solidFill>
                  <a:schemeClr val="tx1"/>
                </a:solidFill>
              </a:rPr>
              <a:t>Findings, photos, tasks and costs sit in separate files, phones and chat groups.</a:t>
            </a:r>
            <a:endParaRPr lang="en-US" sz="1150" dirty="0"/>
          </a:p>
          <a:p>
            <a:pPr indent="0" marL="0">
              <a:spcAft>
                <a:spcPts val="600"/>
              </a:spcAft>
              <a:buNone/>
            </a:pPr>
            <a:r>
              <a:rPr lang="en-US" sz="1150" b="1" dirty="0">
                <a:solidFill>
                  <a:schemeClr val="tx1"/>
                </a:solidFill>
              </a:rPr>
              <a:t>Limited follow-up: </a:t>
            </a:r>
            <a:pPr indent="0" marL="0">
              <a:spcAft>
                <a:spcPts val="600"/>
              </a:spcAft>
              <a:buNone/>
            </a:pPr>
            <a:r>
              <a:rPr lang="en-US" sz="1150" dirty="0">
                <a:solidFill>
                  <a:schemeClr val="tx1"/>
                </a:solidFill>
              </a:rPr>
              <a:t>It is unclear who should check a site, by when, and at what cost, so reports take long to prepare.</a:t>
            </a:r>
            <a:endParaRPr lang="en-US" sz="1150" dirty="0"/>
          </a:p>
        </p:txBody>
      </p:sp>
      <p:sp>
        <p:nvSpPr>
          <p:cNvPr id="5" name="Gap divider"/>
          <p:cNvSpPr/>
          <p:nvPr/>
        </p:nvSpPr>
        <p:spPr>
          <a:xfrm>
            <a:off x="457200" y="4069080"/>
            <a:ext cx="4663440" cy="0"/>
          </a:xfrm>
          <a:prstGeom prst="line">
            <a:avLst/>
          </a:prstGeom>
          <a:noFill/>
          <a:ln w="9525">
            <a:solidFill>
              <a:schemeClr val="accent4"/>
            </a:solidFill>
            <a:prstDash val="solid"/>
          </a:ln>
        </p:spPr>
      </p:sp>
      <p:sp>
        <p:nvSpPr>
          <p:cNvPr id="6" name="Text 4"/>
          <p:cNvSpPr txBox="1"/>
          <p:nvPr/>
        </p:nvSpPr>
        <p:spPr>
          <a:xfrm>
            <a:off x="457200" y="4160520"/>
            <a:ext cx="4663440" cy="502920"/>
          </a:xfrm>
          <a:prstGeom prst="rect">
            <a:avLst/>
          </a:prstGeom>
          <a:noFill/>
          <a:ln/>
        </p:spPr>
        <p:txBody>
          <a:bodyPr wrap="square" lIns="0" tIns="0" rIns="0" bIns="0" rtlCol="0" anchor="t"/>
          <a:lstStyle/>
          <a:p>
            <a:pPr indent="0" marL="0">
              <a:buNone/>
            </a:pPr>
            <a:r>
              <a:rPr lang="en-US" sz="1150" b="1" dirty="0">
                <a:solidFill>
                  <a:schemeClr val="tx2"/>
                </a:solidFill>
              </a:rPr>
              <a:t>The gap  </a:t>
            </a:r>
            <a:pPr indent="0" marL="0">
              <a:buNone/>
            </a:pPr>
            <a:r>
              <a:rPr lang="en-US" sz="1150" dirty="0">
                <a:solidFill>
                  <a:schemeClr val="tx1"/>
                </a:solidFill>
              </a:rPr>
              <a:t>A simple workflow that connects environmental observations to the checks, work and costs that follow.</a:t>
            </a:r>
            <a:endParaRPr lang="en-US" sz="1150" dirty="0"/>
          </a:p>
        </p:txBody>
      </p:sp>
      <p:pic>
        <p:nvPicPr>
          <p:cNvPr id="7" name="Problem image" descr="A pond surrounded by dense city buildings">    </p:cNvPr>
          <p:cNvPicPr>
            <a:picLocks noChangeAspect="1"/>
          </p:cNvPicPr>
          <p:nvPr/>
        </p:nvPicPr>
        <p:blipFill>
          <a:blip r:embed="rId1"/>
          <a:srcRect l="0" r="0" t="0" b="0"/>
          <a:stretch/>
        </p:blipFill>
        <p:spPr>
          <a:xfrm>
            <a:off x="5394960" y="1325880"/>
            <a:ext cx="3291840" cy="2377440"/>
          </a:xfrm>
          <a:prstGeom prst="rect">
            <a:avLst/>
          </a:prstGeom>
        </p:spPr>
      </p:pic>
      <p:sp>
        <p:nvSpPr>
          <p:cNvPr id="8" name="Problem image frame"/>
          <p:cNvSpPr/>
          <p:nvPr/>
        </p:nvSpPr>
        <p:spPr>
          <a:xfrm>
            <a:off x="5394960" y="1325880"/>
            <a:ext cx="3291840" cy="2377440"/>
          </a:xfrm>
          <a:prstGeom prst="rect">
            <a:avLst/>
          </a:prstGeom>
          <a:ln w="9525">
            <a:solidFill>
              <a:schemeClr val="accent4"/>
            </a:solidFill>
            <a:prstDash val="solid"/>
          </a:ln>
        </p:spPr>
      </p:sp>
      <p:sp>
        <p:nvSpPr>
          <p:cNvPr id="9" name="Text 6"/>
          <p:cNvSpPr txBox="1"/>
          <p:nvPr/>
        </p:nvSpPr>
        <p:spPr>
          <a:xfrm>
            <a:off x="5394960" y="3767328"/>
            <a:ext cx="3291840" cy="365760"/>
          </a:xfrm>
          <a:prstGeom prst="rect">
            <a:avLst/>
          </a:prstGeom>
          <a:noFill/>
          <a:ln/>
        </p:spPr>
        <p:txBody>
          <a:bodyPr wrap="square" lIns="0" tIns="0" rIns="0" bIns="0" rtlCol="0" anchor="t"/>
          <a:lstStyle/>
          <a:p>
            <a:pPr indent="0" marL="0">
              <a:buNone/>
            </a:pPr>
            <a:r>
              <a:rPr lang="en-US" sz="900" dirty="0">
                <a:solidFill>
                  <a:schemeClr val="accent2"/>
                </a:solidFill>
              </a:rPr>
              <a:t>Urban growth puts steady pressure on ponds and wetlands in and around Dhaka.</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Our Solution</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One platform to monitor, review and manage wetland protection projects.</a:t>
            </a:r>
            <a:endParaRPr lang="en-US" sz="1300" dirty="0"/>
          </a:p>
        </p:txBody>
      </p:sp>
      <p:sp>
        <p:nvSpPr>
          <p:cNvPr id="4" name="Text 2"/>
          <p:cNvSpPr txBox="1"/>
          <p:nvPr/>
        </p:nvSpPr>
        <p:spPr>
          <a:xfrm>
            <a:off x="457200" y="1298448"/>
            <a:ext cx="4206240" cy="18288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TerraLink keeps one shared record for each site, linking satellite evidence, decisions, tasks and costs.</a:t>
            </a:r>
            <a:endParaRPr lang="en-US" sz="1150" dirty="0"/>
          </a:p>
          <a:p>
            <a:pPr marL="152400" indent="-152400">
              <a:spcAft>
                <a:spcPts val="400"/>
              </a:spcAft>
              <a:buSzPct val="100000"/>
              <a:buChar char="•"/>
            </a:pPr>
            <a:r>
              <a:rPr lang="en-US" sz="1150" dirty="0">
                <a:solidFill>
                  <a:schemeClr val="tx1"/>
                </a:solidFill>
              </a:rPr>
              <a:t>Compare satellite images to spot possible changes in visible water area</a:t>
            </a:r>
            <a:endParaRPr lang="en-US" sz="1150" dirty="0"/>
          </a:p>
          <a:p>
            <a:pPr marL="152400" indent="-152400">
              <a:spcAft>
                <a:spcPts val="400"/>
              </a:spcAft>
              <a:buSzPct val="100000"/>
              <a:buChar char="•"/>
            </a:pPr>
            <a:r>
              <a:rPr lang="en-US" sz="1150" dirty="0">
                <a:solidFill>
                  <a:schemeClr val="tx1"/>
                </a:solidFill>
              </a:rPr>
              <a:t>Review satellite findings and resident photo reports before deciding</a:t>
            </a:r>
            <a:endParaRPr lang="en-US" sz="1150" dirty="0"/>
          </a:p>
          <a:p>
            <a:pPr marL="152400" indent="-152400">
              <a:spcAft>
                <a:spcPts val="400"/>
              </a:spcAft>
              <a:buSzPct val="100000"/>
              <a:buChar char="•"/>
            </a:pPr>
            <a:r>
              <a:rPr lang="en-US" sz="1150" dirty="0">
                <a:solidFill>
                  <a:schemeClr val="tx1"/>
                </a:solidFill>
              </a:rPr>
              <a:t>Assign tasks, deadlines and responsibilities to field coordinators</a:t>
            </a:r>
            <a:endParaRPr lang="en-US" sz="1150" dirty="0"/>
          </a:p>
          <a:p>
            <a:pPr marL="152400" indent="-152400">
              <a:spcAft>
                <a:spcPts val="400"/>
              </a:spcAft>
              <a:buSzPct val="100000"/>
              <a:buChar char="•"/>
            </a:pPr>
            <a:r>
              <a:rPr lang="en-US" sz="1150" dirty="0">
                <a:solidFill>
                  <a:schemeClr val="tx1"/>
                </a:solidFill>
              </a:rPr>
              <a:t>Track planned and actual project costs</a:t>
            </a:r>
            <a:endParaRPr lang="en-US" sz="1150" dirty="0"/>
          </a:p>
          <a:p>
            <a:pPr marL="152400" indent="-152400">
              <a:spcAft>
                <a:spcPts val="400"/>
              </a:spcAft>
              <a:buSzPct val="100000"/>
              <a:buChar char="•"/>
            </a:pPr>
            <a:r>
              <a:rPr lang="en-US" sz="1150" dirty="0">
                <a:solidFill>
                  <a:schemeClr val="tx1"/>
                </a:solidFill>
              </a:rPr>
              <a:t>Share reports as a PDF by email, with deadlines on the calendar</a:t>
            </a:r>
            <a:endParaRPr lang="en-US" sz="1150" dirty="0"/>
          </a:p>
        </p:txBody>
      </p:sp>
      <p:sp>
        <p:nvSpPr>
          <p:cNvPr id="5" name="Text 3"/>
          <p:cNvSpPr txBox="1"/>
          <p:nvPr/>
        </p:nvSpPr>
        <p:spPr>
          <a:xfrm>
            <a:off x="457200" y="3200400"/>
            <a:ext cx="4206240" cy="868680"/>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Built to be trusted</a:t>
            </a:r>
            <a:endParaRPr lang="en-US" sz="1100" dirty="0"/>
          </a:p>
          <a:p>
            <a:pPr indent="0" marL="0">
              <a:spcAft>
                <a:spcPts val="200"/>
              </a:spcAft>
              <a:buNone/>
            </a:pPr>
            <a:r>
              <a:rPr lang="en-US" sz="1100" dirty="0">
                <a:solidFill>
                  <a:schemeClr val="accent2"/>
                </a:solidFill>
              </a:rPr>
              <a:t>Uses free Sentinel-2 imagery and measures the water area in the browser (NDWI). When clouds hide a site, it shows "Insufficient data" instead of guessing, and a drop in water is treated as a reason to check, not as proof.</a:t>
            </a:r>
            <a:endParaRPr lang="en-US" sz="1100" dirty="0"/>
          </a:p>
        </p:txBody>
      </p:sp>
      <p:sp>
        <p:nvSpPr>
          <p:cNvPr id="6" name="Approach divider"/>
          <p:cNvSpPr/>
          <p:nvPr/>
        </p:nvSpPr>
        <p:spPr>
          <a:xfrm>
            <a:off x="457200" y="4114800"/>
            <a:ext cx="4206240" cy="0"/>
          </a:xfrm>
          <a:prstGeom prst="line">
            <a:avLst/>
          </a:prstGeom>
          <a:noFill/>
          <a:ln w="9525">
            <a:solidFill>
              <a:schemeClr val="accent4"/>
            </a:solidFill>
            <a:prstDash val="solid"/>
          </a:ln>
        </p:spPr>
      </p:sp>
      <p:sp>
        <p:nvSpPr>
          <p:cNvPr id="7" name="Text 5"/>
          <p:cNvSpPr txBox="1"/>
          <p:nvPr/>
        </p:nvSpPr>
        <p:spPr>
          <a:xfrm>
            <a:off x="457200" y="4206240"/>
            <a:ext cx="4206240" cy="457200"/>
          </a:xfrm>
          <a:prstGeom prst="rect">
            <a:avLst/>
          </a:prstGeom>
          <a:noFill/>
          <a:ln/>
        </p:spPr>
        <p:txBody>
          <a:bodyPr wrap="square" lIns="0" tIns="0" rIns="0" bIns="0" rtlCol="0" anchor="t"/>
          <a:lstStyle/>
          <a:p>
            <a:pPr indent="0" marL="0">
              <a:buNone/>
            </a:pPr>
            <a:r>
              <a:rPr lang="en-US" sz="1150" b="1" dirty="0">
                <a:solidFill>
                  <a:schemeClr val="tx2"/>
                </a:solidFill>
              </a:rPr>
              <a:t>Our approach  </a:t>
            </a:r>
            <a:pPr indent="0" marL="0">
              <a:buNone/>
            </a:pPr>
            <a:r>
              <a:rPr lang="en-US" sz="1150" dirty="0">
                <a:solidFill>
                  <a:schemeClr val="tx1"/>
                </a:solidFill>
              </a:rPr>
              <a:t>Turn a possible environmental change into a documented, trackable action.</a:t>
            </a:r>
            <a:endParaRPr lang="en-US" sz="1150" dirty="0"/>
          </a:p>
        </p:txBody>
      </p:sp>
      <p:sp>
        <p:nvSpPr>
          <p:cNvPr id="10" name="Text 7"/>
          <p:cNvSpPr txBox="1"/>
          <p:nvPr/>
        </p:nvSpPr>
        <p:spPr>
          <a:xfrm>
            <a:off x="4846320" y="3401568"/>
            <a:ext cx="3840480" cy="228600"/>
          </a:xfrm>
          <a:prstGeom prst="rect">
            <a:avLst/>
          </a:prstGeom>
          <a:noFill/>
          <a:ln/>
        </p:spPr>
        <p:txBody>
          <a:bodyPr wrap="square" lIns="0" tIns="0" rIns="0" bIns="0" rtlCol="0" anchor="ctr"/>
          <a:lstStyle/>
          <a:p>
            <a:pPr indent="0" marL="0">
              <a:buNone/>
            </a:pPr>
            <a:r>
              <a:rPr lang="en-US" sz="900" dirty="0">
                <a:solidFill>
                  <a:schemeClr val="accent2"/>
                </a:solidFill>
              </a:rPr>
              <a:t>Live prototype: the manager dashboard</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pic>
        <p:nvPicPr>
          <p:cNvPr id="26" name="Dashboard screenshot" descr="The project manager dashboard"/>
          <p:cNvPicPr>
            <a:picLocks noChangeAspect="1"/>
          </p:cNvPicPr>
          <p:nvPr/>
        </p:nvPicPr>
        <p:blipFill>
          <a:blip r:embed="rId4"/>
          <a:srcRect b="27869"/>
          <a:stretch>
            <a:fillRect/>
          </a:stretch>
        </p:blipFill>
        <p:spPr>
          <a:xfrm>
            <a:off x="4846320" y="1325880"/>
            <a:ext cx="3840480" cy="2011680"/>
          </a:xfrm>
          <a:prstGeom prst="rect">
            <a:avLst/>
          </a:prstGeom>
        </p:spPr>
      </p:pic>
      <p:sp>
        <p:nvSpPr>
          <p:cNvPr id="27" name="Dashboard screenshot frame"/>
          <p:cNvSpPr/>
          <p:nvPr/>
        </p:nvSpPr>
        <p:spPr>
          <a:xfrm>
            <a:off x="4846320" y="1325880"/>
            <a:ext cx="3840480" cy="2011680"/>
          </a:xfrm>
          <a:prstGeom prst="rect">
            <a:avLst/>
          </a:prstGeom>
          <a:noFill/>
          <a:ln w="9525">
            <a:solidFill>
              <a:schemeClr val="accent4"/>
            </a:solidFill>
          </a:ln>
        </p:spPr>
        <p:txBody>
          <a:bodyPr rtlCol="0" anchor="ctr"/>
          <a:lstStyle/>
          <a:p>
            <a:pPr algn="ctr"/>
          </a:p>
        </p:txBody>
      </p:sp>
      <p:sp>
        <p:nvSpPr>
          <p:cNvPr id="28" name="Who uses it heading"/>
          <p:cNvSpPr txBox="1"/>
          <p:nvPr/>
        </p:nvSpPr>
        <p:spPr>
          <a:xfrm>
            <a:off x="4846320" y="3730752"/>
            <a:ext cx="3840480" cy="237744"/>
          </a:xfrm>
          <a:prstGeom prst="rect">
            <a:avLst/>
          </a:prstGeom>
          <a:noFill/>
        </p:spPr>
        <p:txBody>
          <a:bodyPr wrap="square" lIns="0" rIns="0" tIns="0" bIns="0" anchor="t">
            <a:noAutofit/>
          </a:bodyPr>
          <a:lstStyle/>
          <a:p>
            <a:r>
              <a:rPr sz="1200" b="1" i="0">
                <a:solidFill>
                  <a:schemeClr val="tx1"/>
                </a:solidFill>
              </a:rPr>
              <a:t>Who uses it</a:t>
            </a:r>
          </a:p>
        </p:txBody>
      </p:sp>
      <p:sp>
        <p:nvSpPr>
          <p:cNvPr id="29" name="Project Manager role"/>
          <p:cNvSpPr txBox="1"/>
          <p:nvPr/>
        </p:nvSpPr>
        <p:spPr>
          <a:xfrm>
            <a:off x="4846320" y="4023360"/>
            <a:ext cx="3840480" cy="219456"/>
          </a:xfrm>
          <a:prstGeom prst="rect">
            <a:avLst/>
          </a:prstGeom>
          <a:noFill/>
        </p:spPr>
        <p:txBody>
          <a:bodyPr wrap="square" lIns="0" rIns="0" tIns="0" bIns="0" anchor="ctr">
            <a:noAutofit/>
          </a:bodyPr>
          <a:lstStyle/>
          <a:p>
            <a:r>
              <a:rPr sz="1000" b="1" i="0">
                <a:solidFill>
                  <a:schemeClr val="tx1"/>
                </a:solidFill>
              </a:rPr>
              <a:t>Project Manager  </a:t>
            </a:r>
            <a:r>
              <a:rPr sz="1000" b="0" i="0">
                <a:solidFill>
                  <a:schemeClr val="accent2"/>
                </a:solidFill>
              </a:rPr>
              <a:t>reviews findings, approves work, controls budget</a:t>
            </a:r>
          </a:p>
        </p:txBody>
      </p:sp>
      <p:sp>
        <p:nvSpPr>
          <p:cNvPr id="30" name="Field Coordinator role"/>
          <p:cNvSpPr txBox="1"/>
          <p:nvPr/>
        </p:nvSpPr>
        <p:spPr>
          <a:xfrm>
            <a:off x="4846320" y="4270248"/>
            <a:ext cx="3840480" cy="219456"/>
          </a:xfrm>
          <a:prstGeom prst="rect">
            <a:avLst/>
          </a:prstGeom>
          <a:noFill/>
        </p:spPr>
        <p:txBody>
          <a:bodyPr wrap="square" lIns="0" rIns="0" tIns="0" bIns="0" anchor="ctr">
            <a:noAutofit/>
          </a:bodyPr>
          <a:lstStyle/>
          <a:p>
            <a:r>
              <a:rPr sz="1000" b="1" i="0">
                <a:solidFill>
                  <a:schemeClr val="tx1"/>
                </a:solidFill>
              </a:rPr>
              <a:t>Field Coordinator  </a:t>
            </a:r>
            <a:r>
              <a:rPr sz="1000" b="0" i="0">
                <a:solidFill>
                  <a:schemeClr val="accent2"/>
                </a:solidFill>
              </a:rPr>
              <a:t>updates assigned tasks and records costs</a:t>
            </a:r>
          </a:p>
        </p:txBody>
      </p:sp>
      <p:sp>
        <p:nvSpPr>
          <p:cNvPr id="31" name="User role"/>
          <p:cNvSpPr txBox="1"/>
          <p:nvPr/>
        </p:nvSpPr>
        <p:spPr>
          <a:xfrm>
            <a:off x="4846320" y="4517136"/>
            <a:ext cx="3840480" cy="219456"/>
          </a:xfrm>
          <a:prstGeom prst="rect">
            <a:avLst/>
          </a:prstGeom>
          <a:noFill/>
        </p:spPr>
        <p:txBody>
          <a:bodyPr wrap="square" lIns="0" rIns="0" tIns="0" bIns="0" anchor="ctr">
            <a:noAutofit/>
          </a:bodyPr>
          <a:lstStyle/>
          <a:p>
            <a:r>
              <a:rPr sz="1000" b="1" i="0">
                <a:solidFill>
                  <a:schemeClr val="tx1"/>
                </a:solidFill>
              </a:rPr>
              <a:t>User  </a:t>
            </a:r>
            <a:r>
              <a:rPr sz="1000" b="0" i="0">
                <a:solidFill>
                  <a:schemeClr val="accent2"/>
                </a:solidFill>
              </a:rPr>
              <a:t>explores water bodies and reports problems with photos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How It Works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From a resident’s report or a satellite signal to a closed task and a shared report.</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
        <p:nvSpPr>
          <p:cNvPr id="26" name="Lane 1"/>
          <p:cNvSpPr/>
          <p:nvPr/>
        </p:nvSpPr>
        <p:spPr>
          <a:xfrm>
            <a:off x="457200" y="1517904"/>
            <a:ext cx="8229600" cy="777240"/>
          </a:xfrm>
          <a:prstGeom prst="rect">
            <a:avLst/>
          </a:prstGeom>
          <a:solidFill>
            <a:srgbClr val="F5F8F8"/>
          </a:solidFill>
          <a:ln w="9525">
            <a:solidFill>
              <a:schemeClr val="accent4"/>
            </a:solidFill>
          </a:ln>
          <a:effectLst/>
        </p:spPr>
        <p:txBody>
          <a:bodyPr rtlCol="0" anchor="ctr"/>
          <a:lstStyle/>
          <a:p>
            <a:pPr algn="ctr"/>
          </a:p>
        </p:txBody>
      </p:sp>
      <p:sp>
        <p:nvSpPr>
          <p:cNvPr id="27" name="Lane 1 label"/>
          <p:cNvSpPr/>
          <p:nvPr/>
        </p:nvSpPr>
        <p:spPr>
          <a:xfrm>
            <a:off x="457200" y="151790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Community member</a:t>
            </a:r>
          </a:p>
        </p:txBody>
      </p:sp>
      <p:sp>
        <p:nvSpPr>
          <p:cNvPr id="28" name="Lane 2"/>
          <p:cNvSpPr/>
          <p:nvPr/>
        </p:nvSpPr>
        <p:spPr>
          <a:xfrm>
            <a:off x="457200" y="2295144"/>
            <a:ext cx="8229600" cy="777240"/>
          </a:xfrm>
          <a:prstGeom prst="rect">
            <a:avLst/>
          </a:prstGeom>
          <a:solidFill>
            <a:schemeClr val="bg1"/>
          </a:solidFill>
          <a:ln w="9525">
            <a:solidFill>
              <a:schemeClr val="accent4"/>
            </a:solidFill>
          </a:ln>
          <a:effectLst/>
        </p:spPr>
        <p:txBody>
          <a:bodyPr rtlCol="0" anchor="ctr"/>
          <a:lstStyle/>
          <a:p>
            <a:pPr algn="ctr"/>
          </a:p>
        </p:txBody>
      </p:sp>
      <p:sp>
        <p:nvSpPr>
          <p:cNvPr id="29" name="Lane 2 label"/>
          <p:cNvSpPr/>
          <p:nvPr/>
        </p:nvSpPr>
        <p:spPr>
          <a:xfrm>
            <a:off x="457200" y="229514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Project manager</a:t>
            </a:r>
          </a:p>
        </p:txBody>
      </p:sp>
      <p:sp>
        <p:nvSpPr>
          <p:cNvPr id="30" name="Lane 3"/>
          <p:cNvSpPr/>
          <p:nvPr/>
        </p:nvSpPr>
        <p:spPr>
          <a:xfrm>
            <a:off x="457200" y="3072384"/>
            <a:ext cx="8229600" cy="777240"/>
          </a:xfrm>
          <a:prstGeom prst="rect">
            <a:avLst/>
          </a:prstGeom>
          <a:solidFill>
            <a:srgbClr val="F5F8F8"/>
          </a:solidFill>
          <a:ln w="9525">
            <a:solidFill>
              <a:schemeClr val="accent4"/>
            </a:solidFill>
          </a:ln>
          <a:effectLst/>
        </p:spPr>
        <p:txBody>
          <a:bodyPr rtlCol="0" anchor="ctr"/>
          <a:lstStyle/>
          <a:p>
            <a:pPr algn="ctr"/>
          </a:p>
        </p:txBody>
      </p:sp>
      <p:sp>
        <p:nvSpPr>
          <p:cNvPr id="31" name="Lane 3 label"/>
          <p:cNvSpPr/>
          <p:nvPr/>
        </p:nvSpPr>
        <p:spPr>
          <a:xfrm>
            <a:off x="457200" y="307238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Field coordinator</a:t>
            </a:r>
          </a:p>
        </p:txBody>
      </p:sp>
      <p:sp>
        <p:nvSpPr>
          <p:cNvPr id="32" name="Lane 4"/>
          <p:cNvSpPr/>
          <p:nvPr/>
        </p:nvSpPr>
        <p:spPr>
          <a:xfrm>
            <a:off x="457200" y="3849624"/>
            <a:ext cx="8229600" cy="777240"/>
          </a:xfrm>
          <a:prstGeom prst="rect">
            <a:avLst/>
          </a:prstGeom>
          <a:solidFill>
            <a:schemeClr val="bg1"/>
          </a:solidFill>
          <a:ln w="9525">
            <a:solidFill>
              <a:schemeClr val="accent4"/>
            </a:solidFill>
          </a:ln>
          <a:effectLst/>
        </p:spPr>
        <p:txBody>
          <a:bodyPr rtlCol="0" anchor="ctr"/>
          <a:lstStyle/>
          <a:p>
            <a:pPr algn="ctr"/>
          </a:p>
        </p:txBody>
      </p:sp>
      <p:sp>
        <p:nvSpPr>
          <p:cNvPr id="33" name="Lane 4 label"/>
          <p:cNvSpPr/>
          <p:nvPr/>
        </p:nvSpPr>
        <p:spPr>
          <a:xfrm>
            <a:off x="457200" y="384962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TerraLink (automatic)</a:t>
            </a:r>
          </a:p>
        </p:txBody>
      </p:sp>
      <p:sp>
        <p:nvSpPr>
          <p:cNvPr id="34" name="Stage 1"/>
          <p:cNvSpPr txBox="1"/>
          <p:nvPr/>
        </p:nvSpPr>
        <p:spPr>
          <a:xfrm>
            <a:off x="1325880" y="1243584"/>
            <a:ext cx="1051560" cy="219456"/>
          </a:xfrm>
          <a:prstGeom prst="rect">
            <a:avLst/>
          </a:prstGeom>
          <a:noFill/>
        </p:spPr>
        <p:txBody>
          <a:bodyPr wrap="square" lIns="0" rIns="0" tIns="0" bIns="0" anchor="ctr">
            <a:noAutofit/>
          </a:bodyPr>
          <a:lstStyle/>
          <a:p>
            <a:pPr algn="ctr"/>
            <a:r>
              <a:rPr sz="850" b="1" i="0">
                <a:solidFill>
                  <a:schemeClr val="tx2"/>
                </a:solidFill>
              </a:rPr>
              <a:t>1  </a:t>
            </a:r>
            <a:r>
              <a:rPr sz="800" b="1" i="0">
                <a:solidFill>
                  <a:schemeClr val="accent2"/>
                </a:solidFill>
              </a:rPr>
              <a:t>REPORT</a:t>
            </a:r>
          </a:p>
        </p:txBody>
      </p:sp>
      <p:sp>
        <p:nvSpPr>
          <p:cNvPr id="35" name="Stage 2"/>
          <p:cNvSpPr txBox="1"/>
          <p:nvPr/>
        </p:nvSpPr>
        <p:spPr>
          <a:xfrm>
            <a:off x="2377440" y="1243584"/>
            <a:ext cx="1051560" cy="219456"/>
          </a:xfrm>
          <a:prstGeom prst="rect">
            <a:avLst/>
          </a:prstGeom>
          <a:noFill/>
        </p:spPr>
        <p:txBody>
          <a:bodyPr wrap="square" lIns="0" rIns="0" tIns="0" bIns="0" anchor="ctr">
            <a:noAutofit/>
          </a:bodyPr>
          <a:lstStyle/>
          <a:p>
            <a:pPr algn="ctr"/>
            <a:r>
              <a:rPr sz="850" b="1" i="0">
                <a:solidFill>
                  <a:schemeClr val="tx2"/>
                </a:solidFill>
              </a:rPr>
              <a:t>2  </a:t>
            </a:r>
            <a:r>
              <a:rPr sz="800" b="1" i="0">
                <a:solidFill>
                  <a:schemeClr val="accent2"/>
                </a:solidFill>
              </a:rPr>
              <a:t>REVIEW</a:t>
            </a:r>
          </a:p>
        </p:txBody>
      </p:sp>
      <p:sp>
        <p:nvSpPr>
          <p:cNvPr id="36" name="Stage 3"/>
          <p:cNvSpPr txBox="1"/>
          <p:nvPr/>
        </p:nvSpPr>
        <p:spPr>
          <a:xfrm>
            <a:off x="3429000" y="1243584"/>
            <a:ext cx="1051560" cy="219456"/>
          </a:xfrm>
          <a:prstGeom prst="rect">
            <a:avLst/>
          </a:prstGeom>
          <a:noFill/>
        </p:spPr>
        <p:txBody>
          <a:bodyPr wrap="square" lIns="0" rIns="0" tIns="0" bIns="0" anchor="ctr">
            <a:noAutofit/>
          </a:bodyPr>
          <a:lstStyle/>
          <a:p>
            <a:pPr algn="ctr"/>
            <a:r>
              <a:rPr sz="850" b="1" i="0">
                <a:solidFill>
                  <a:schemeClr val="tx2"/>
                </a:solidFill>
              </a:rPr>
              <a:t>3  </a:t>
            </a:r>
            <a:r>
              <a:rPr sz="800" b="1" i="0">
                <a:solidFill>
                  <a:schemeClr val="accent2"/>
                </a:solidFill>
              </a:rPr>
              <a:t>DECIDE</a:t>
            </a:r>
          </a:p>
        </p:txBody>
      </p:sp>
      <p:sp>
        <p:nvSpPr>
          <p:cNvPr id="37" name="Stage 4"/>
          <p:cNvSpPr txBox="1"/>
          <p:nvPr/>
        </p:nvSpPr>
        <p:spPr>
          <a:xfrm>
            <a:off x="4480560" y="1243584"/>
            <a:ext cx="1051560" cy="219456"/>
          </a:xfrm>
          <a:prstGeom prst="rect">
            <a:avLst/>
          </a:prstGeom>
          <a:noFill/>
        </p:spPr>
        <p:txBody>
          <a:bodyPr wrap="square" lIns="0" rIns="0" tIns="0" bIns="0" anchor="ctr">
            <a:noAutofit/>
          </a:bodyPr>
          <a:lstStyle/>
          <a:p>
            <a:pPr algn="ctr"/>
            <a:r>
              <a:rPr sz="850" b="1" i="0">
                <a:solidFill>
                  <a:schemeClr val="tx2"/>
                </a:solidFill>
              </a:rPr>
              <a:t>4  </a:t>
            </a:r>
            <a:r>
              <a:rPr sz="800" b="1" i="0">
                <a:solidFill>
                  <a:schemeClr val="accent2"/>
                </a:solidFill>
              </a:rPr>
              <a:t>ASSIGN</a:t>
            </a:r>
          </a:p>
        </p:txBody>
      </p:sp>
      <p:sp>
        <p:nvSpPr>
          <p:cNvPr id="38" name="Stage 5"/>
          <p:cNvSpPr txBox="1"/>
          <p:nvPr/>
        </p:nvSpPr>
        <p:spPr>
          <a:xfrm>
            <a:off x="5532120" y="1243584"/>
            <a:ext cx="1051560" cy="219456"/>
          </a:xfrm>
          <a:prstGeom prst="rect">
            <a:avLst/>
          </a:prstGeom>
          <a:noFill/>
        </p:spPr>
        <p:txBody>
          <a:bodyPr wrap="square" lIns="0" rIns="0" tIns="0" bIns="0" anchor="ctr">
            <a:noAutofit/>
          </a:bodyPr>
          <a:lstStyle/>
          <a:p>
            <a:pPr algn="ctr"/>
            <a:r>
              <a:rPr sz="850" b="1" i="0">
                <a:solidFill>
                  <a:schemeClr val="tx2"/>
                </a:solidFill>
              </a:rPr>
              <a:t>5  </a:t>
            </a:r>
            <a:r>
              <a:rPr sz="800" b="1" i="0">
                <a:solidFill>
                  <a:schemeClr val="accent2"/>
                </a:solidFill>
              </a:rPr>
              <a:t>WORK</a:t>
            </a:r>
          </a:p>
        </p:txBody>
      </p:sp>
      <p:sp>
        <p:nvSpPr>
          <p:cNvPr id="39" name="Stage 6"/>
          <p:cNvSpPr txBox="1"/>
          <p:nvPr/>
        </p:nvSpPr>
        <p:spPr>
          <a:xfrm>
            <a:off x="6583680" y="1243584"/>
            <a:ext cx="1051560" cy="219456"/>
          </a:xfrm>
          <a:prstGeom prst="rect">
            <a:avLst/>
          </a:prstGeom>
          <a:noFill/>
        </p:spPr>
        <p:txBody>
          <a:bodyPr wrap="square" lIns="0" rIns="0" tIns="0" bIns="0" anchor="ctr">
            <a:noAutofit/>
          </a:bodyPr>
          <a:lstStyle/>
          <a:p>
            <a:pPr algn="ctr"/>
            <a:r>
              <a:rPr sz="850" b="1" i="0">
                <a:solidFill>
                  <a:schemeClr val="tx2"/>
                </a:solidFill>
              </a:rPr>
              <a:t>6  </a:t>
            </a:r>
            <a:r>
              <a:rPr sz="800" b="1" i="0">
                <a:solidFill>
                  <a:schemeClr val="accent2"/>
                </a:solidFill>
              </a:rPr>
              <a:t>VERIFY</a:t>
            </a:r>
          </a:p>
        </p:txBody>
      </p:sp>
      <p:sp>
        <p:nvSpPr>
          <p:cNvPr id="40" name="Stage 7"/>
          <p:cNvSpPr txBox="1"/>
          <p:nvPr/>
        </p:nvSpPr>
        <p:spPr>
          <a:xfrm>
            <a:off x="7635240" y="1243584"/>
            <a:ext cx="1051560" cy="219456"/>
          </a:xfrm>
          <a:prstGeom prst="rect">
            <a:avLst/>
          </a:prstGeom>
          <a:noFill/>
        </p:spPr>
        <p:txBody>
          <a:bodyPr wrap="square" lIns="0" rIns="0" tIns="0" bIns="0" anchor="ctr">
            <a:noAutofit/>
          </a:bodyPr>
          <a:lstStyle/>
          <a:p>
            <a:pPr algn="ctr"/>
            <a:r>
              <a:rPr sz="850" b="1" i="0">
                <a:solidFill>
                  <a:schemeClr val="tx2"/>
                </a:solidFill>
              </a:rPr>
              <a:t>7  </a:t>
            </a:r>
            <a:r>
              <a:rPr sz="800" b="1" i="0">
                <a:solidFill>
                  <a:schemeClr val="accent2"/>
                </a:solidFill>
              </a:rPr>
              <a:t>CLOSE &amp; SHARE</a:t>
            </a:r>
          </a:p>
        </p:txBody>
      </p:sp>
      <p:sp>
        <p:nvSpPr>
          <p:cNvPr id="41" name="Report a problem (Community member)"/>
          <p:cNvSpPr/>
          <p:nvPr/>
        </p:nvSpPr>
        <p:spPr>
          <a:xfrm>
            <a:off x="1431036" y="163220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Report a problem</a:t>
            </a:r>
          </a:p>
          <a:p>
            <a:pPr algn="ctr"/>
            <a:r>
              <a:rPr sz="750" b="0" i="0">
                <a:solidFill>
                  <a:schemeClr val="accent2"/>
                </a:solidFill>
              </a:rPr>
              <a:t>photos + map pin</a:t>
            </a:r>
          </a:p>
        </p:txBody>
      </p:sp>
      <p:sp>
        <p:nvSpPr>
          <p:cNvPr id="42" name="Satellite comparison (TerraLink (automatic))"/>
          <p:cNvSpPr/>
          <p:nvPr/>
        </p:nvSpPr>
        <p:spPr>
          <a:xfrm>
            <a:off x="143103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Satellite comparison</a:t>
            </a:r>
          </a:p>
          <a:p>
            <a:pPr algn="ctr"/>
            <a:r>
              <a:rPr sz="750" b="0" i="0">
                <a:solidFill>
                  <a:schemeClr val="accent2"/>
                </a:solidFill>
              </a:rPr>
              <a:t>Sentinel-2, NDWI</a:t>
            </a:r>
          </a:p>
        </p:txBody>
      </p:sp>
      <p:sp>
        <p:nvSpPr>
          <p:cNvPr id="43" name="Review evidence (Project manager)"/>
          <p:cNvSpPr/>
          <p:nvPr/>
        </p:nvSpPr>
        <p:spPr>
          <a:xfrm>
            <a:off x="2482596" y="240944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Review evidence</a:t>
            </a:r>
          </a:p>
          <a:p>
            <a:pPr algn="ctr"/>
            <a:r>
              <a:rPr sz="750" b="0" i="0">
                <a:solidFill>
                  <a:schemeClr val="accent2"/>
                </a:solidFill>
              </a:rPr>
              <a:t>report or satellite</a:t>
            </a:r>
          </a:p>
        </p:txBody>
      </p:sp>
      <p:sp>
        <p:nvSpPr>
          <p:cNvPr id="44" name="Confirmed? (Project manager)"/>
          <p:cNvSpPr/>
          <p:nvPr/>
        </p:nvSpPr>
        <p:spPr>
          <a:xfrm>
            <a:off x="3534156" y="2409444"/>
            <a:ext cx="841248" cy="548640"/>
          </a:xfrm>
          <a:prstGeom prst="roundRect">
            <a:avLst>
              <a:gd name="adj" fmla="val 12000"/>
            </a:avLst>
          </a:prstGeom>
          <a:solidFill>
            <a:srgbClr val="ECEFEF"/>
          </a:solidFill>
          <a:ln w="12700">
            <a:solidFill>
              <a:schemeClr val="accent3"/>
            </a:solidFill>
          </a:ln>
          <a:effectLst/>
        </p:spPr>
        <p:txBody>
          <a:bodyPr rtlCol="0" anchor="ctr" wrap="square" lIns="36576" rIns="36576" tIns="18288" bIns="18288"/>
          <a:lstStyle/>
          <a:p>
            <a:pPr algn="ctr"/>
            <a:r>
              <a:rPr sz="850" b="1" i="0">
                <a:solidFill>
                  <a:schemeClr val="tx1"/>
                </a:solidFill>
              </a:rPr>
              <a:t>Confirmed?</a:t>
            </a:r>
          </a:p>
          <a:p>
            <a:pPr algn="ctr"/>
            <a:r>
              <a:rPr sz="750" b="0" i="0">
                <a:solidFill>
                  <a:schemeClr val="accent2"/>
                </a:solidFill>
              </a:rPr>
              <a:t>verified or measured</a:t>
            </a:r>
          </a:p>
        </p:txBody>
      </p:sp>
      <p:sp>
        <p:nvSpPr>
          <p:cNvPr id="45" name="Not taken forward (Community member)"/>
          <p:cNvSpPr/>
          <p:nvPr/>
        </p:nvSpPr>
        <p:spPr>
          <a:xfrm>
            <a:off x="3534156" y="1632204"/>
            <a:ext cx="841248" cy="548640"/>
          </a:xfrm>
          <a:prstGeom prst="roundRect">
            <a:avLst>
              <a:gd name="adj" fmla="val 12000"/>
            </a:avLst>
          </a:prstGeom>
          <a:solidFill>
            <a:schemeClr val="bg1"/>
          </a:solidFill>
          <a:ln w="12700">
            <a:solidFill>
              <a:schemeClr val="accent3"/>
            </a:solidFill>
            <a:prstDash val="dash"/>
          </a:ln>
          <a:effectLst/>
        </p:spPr>
        <p:txBody>
          <a:bodyPr rtlCol="0" anchor="ctr" wrap="square" lIns="36576" rIns="36576" tIns="18288" bIns="18288"/>
          <a:lstStyle/>
          <a:p>
            <a:pPr algn="ctr"/>
            <a:r>
              <a:rPr sz="850" b="1" i="0">
                <a:solidFill>
                  <a:schemeClr val="tx1"/>
                </a:solidFill>
              </a:rPr>
              <a:t>Not taken forward</a:t>
            </a:r>
          </a:p>
          <a:p>
            <a:pPr algn="ctr"/>
            <a:r>
              <a:rPr sz="750" b="0" i="0">
                <a:solidFill>
                  <a:schemeClr val="accent2"/>
                </a:solidFill>
              </a:rPr>
              <a:t>reason recorded</a:t>
            </a:r>
          </a:p>
        </p:txBody>
      </p:sp>
      <p:sp>
        <p:nvSpPr>
          <p:cNvPr id="46" name="Create task (Project manager)"/>
          <p:cNvSpPr/>
          <p:nvPr/>
        </p:nvSpPr>
        <p:spPr>
          <a:xfrm>
            <a:off x="4585716" y="240944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Create task</a:t>
            </a:r>
          </a:p>
          <a:p>
            <a:pPr algn="ctr"/>
            <a:r>
              <a:rPr sz="750" b="0" i="0">
                <a:solidFill>
                  <a:schemeClr val="accent2"/>
                </a:solidFill>
              </a:rPr>
              <a:t>coordinator + deadline</a:t>
            </a:r>
          </a:p>
        </p:txBody>
      </p:sp>
      <p:sp>
        <p:nvSpPr>
          <p:cNvPr id="47" name="Schedule + email (TerraLink (automatic))"/>
          <p:cNvSpPr/>
          <p:nvPr/>
        </p:nvSpPr>
        <p:spPr>
          <a:xfrm>
            <a:off x="458571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Schedule + email</a:t>
            </a:r>
          </a:p>
          <a:p>
            <a:pPr algn="ctr"/>
            <a:r>
              <a:rPr sz="750" b="0" i="0">
                <a:solidFill>
                  <a:schemeClr val="accent2"/>
                </a:solidFill>
              </a:rPr>
              <a:t>calendar, assignee</a:t>
            </a:r>
          </a:p>
        </p:txBody>
      </p:sp>
      <p:sp>
        <p:nvSpPr>
          <p:cNvPr id="48" name="Do the work (Field coordinator)"/>
          <p:cNvSpPr/>
          <p:nvPr/>
        </p:nvSpPr>
        <p:spPr>
          <a:xfrm>
            <a:off x="5637276" y="318668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Do the work</a:t>
            </a:r>
          </a:p>
          <a:p>
            <a:pPr algn="ctr"/>
            <a:r>
              <a:rPr sz="750" b="0" i="0">
                <a:solidFill>
                  <a:schemeClr val="accent2"/>
                </a:solidFill>
              </a:rPr>
              <a:t>start, record costs</a:t>
            </a:r>
          </a:p>
        </p:txBody>
      </p:sp>
      <p:sp>
        <p:nvSpPr>
          <p:cNvPr id="49" name="Submit for review (Field coordinator)"/>
          <p:cNvSpPr/>
          <p:nvPr/>
        </p:nvSpPr>
        <p:spPr>
          <a:xfrm>
            <a:off x="6688836" y="318668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Submit for review</a:t>
            </a:r>
          </a:p>
          <a:p>
            <a:pPr algn="ctr"/>
            <a:r>
              <a:rPr sz="750" b="0" i="0">
                <a:solidFill>
                  <a:schemeClr val="accent2"/>
                </a:solidFill>
              </a:rPr>
              <a:t>photos + summary</a:t>
            </a:r>
          </a:p>
        </p:txBody>
      </p:sp>
      <p:sp>
        <p:nvSpPr>
          <p:cNvPr id="50" name="Email manager (TerraLink (automatic))"/>
          <p:cNvSpPr/>
          <p:nvPr/>
        </p:nvSpPr>
        <p:spPr>
          <a:xfrm>
            <a:off x="668883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Email manager</a:t>
            </a:r>
          </a:p>
          <a:p>
            <a:pPr algn="ctr"/>
            <a:r>
              <a:rPr sz="750" b="0" i="0">
                <a:solidFill>
                  <a:schemeClr val="accent2"/>
                </a:solidFill>
              </a:rPr>
              <a:t>ready for review</a:t>
            </a:r>
          </a:p>
        </p:txBody>
      </p:sp>
      <p:sp>
        <p:nvSpPr>
          <p:cNvPr id="51" name="Approve work? (Project manager)"/>
          <p:cNvSpPr/>
          <p:nvPr/>
        </p:nvSpPr>
        <p:spPr>
          <a:xfrm>
            <a:off x="6688836" y="2409444"/>
            <a:ext cx="841248" cy="548640"/>
          </a:xfrm>
          <a:prstGeom prst="roundRect">
            <a:avLst>
              <a:gd name="adj" fmla="val 12000"/>
            </a:avLst>
          </a:prstGeom>
          <a:solidFill>
            <a:srgbClr val="ECEFEF"/>
          </a:solidFill>
          <a:ln w="12700">
            <a:solidFill>
              <a:schemeClr val="accent3"/>
            </a:solidFill>
          </a:ln>
          <a:effectLst/>
        </p:spPr>
        <p:txBody>
          <a:bodyPr rtlCol="0" anchor="ctr" wrap="square" lIns="36576" rIns="36576" tIns="18288" bIns="18288"/>
          <a:lstStyle/>
          <a:p>
            <a:pPr algn="ctr"/>
            <a:r>
              <a:rPr sz="850" b="1" i="0">
                <a:solidFill>
                  <a:schemeClr val="tx1"/>
                </a:solidFill>
              </a:rPr>
              <a:t>Approve work?</a:t>
            </a:r>
          </a:p>
          <a:p>
            <a:pPr algn="ctr"/>
            <a:r>
              <a:rPr sz="750" b="0" i="0">
                <a:solidFill>
                  <a:schemeClr val="accent2"/>
                </a:solidFill>
              </a:rPr>
              <a:t>and expenses</a:t>
            </a:r>
          </a:p>
        </p:txBody>
      </p:sp>
      <p:sp>
        <p:nvSpPr>
          <p:cNvPr id="52" name="Task completed (Project manager)"/>
          <p:cNvSpPr/>
          <p:nvPr/>
        </p:nvSpPr>
        <p:spPr>
          <a:xfrm>
            <a:off x="7740396" y="240944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Task completed</a:t>
            </a:r>
          </a:p>
          <a:p>
            <a:pPr algn="ctr"/>
            <a:r>
              <a:rPr sz="750" b="0" i="0">
                <a:solidFill>
                  <a:schemeClr val="accent2"/>
                </a:solidFill>
              </a:rPr>
              <a:t>outcome recorded</a:t>
            </a:r>
          </a:p>
        </p:txBody>
      </p:sp>
      <p:sp>
        <p:nvSpPr>
          <p:cNvPr id="53" name="Sees the result (Community member)"/>
          <p:cNvSpPr/>
          <p:nvPr/>
        </p:nvSpPr>
        <p:spPr>
          <a:xfrm>
            <a:off x="7740396" y="163220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Sees the result</a:t>
            </a:r>
          </a:p>
          <a:p>
            <a:pPr algn="ctr"/>
            <a:r>
              <a:rPr sz="750" b="0" i="0">
                <a:solidFill>
                  <a:schemeClr val="accent2"/>
                </a:solidFill>
              </a:rPr>
              <a:t>report shows Resolved</a:t>
            </a:r>
          </a:p>
        </p:txBody>
      </p:sp>
      <p:sp>
        <p:nvSpPr>
          <p:cNvPr id="54" name="Report + email (TerraLink (automatic))"/>
          <p:cNvSpPr/>
          <p:nvPr/>
        </p:nvSpPr>
        <p:spPr>
          <a:xfrm>
            <a:off x="774039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Report + email</a:t>
            </a:r>
          </a:p>
          <a:p>
            <a:pPr algn="ctr"/>
            <a:r>
              <a:rPr sz="750" b="0" i="0">
                <a:solidFill>
                  <a:schemeClr val="accent2"/>
                </a:solidFill>
              </a:rPr>
              <a:t>PDF, download or send</a:t>
            </a:r>
          </a:p>
        </p:txBody>
      </p:sp>
      <p:cxnSp>
        <p:nvCxnSpPr>
          <p:cNvPr id="55" name="Connector 54"/>
          <p:cNvCxnSpPr/>
          <p:nvPr/>
        </p:nvCxnSpPr>
        <p:spPr>
          <a:xfrm>
            <a:off x="2272284" y="1906524"/>
            <a:ext cx="630936" cy="0"/>
          </a:xfrm>
          <a:prstGeom prst="line">
            <a:avLst/>
          </a:prstGeom>
          <a:ln w="15875" cap="rnd">
            <a:solidFill>
              <a:schemeClr val="accent2"/>
            </a:solidFill>
          </a:ln>
        </p:spPr>
      </p:cxnSp>
      <p:cxnSp>
        <p:nvCxnSpPr>
          <p:cNvPr id="56" name="Connector 55"/>
          <p:cNvCxnSpPr/>
          <p:nvPr/>
        </p:nvCxnSpPr>
        <p:spPr>
          <a:xfrm>
            <a:off x="2903220" y="1906524"/>
            <a:ext cx="0" cy="502920"/>
          </a:xfrm>
          <a:prstGeom prst="line">
            <a:avLst/>
          </a:prstGeom>
          <a:ln w="15875" cap="rnd">
            <a:solidFill>
              <a:schemeClr val="accent2"/>
            </a:solidFill>
            <a:tailEnd type="triangle" w="med" len="med"/>
          </a:ln>
        </p:spPr>
      </p:cxnSp>
      <p:cxnSp>
        <p:nvCxnSpPr>
          <p:cNvPr id="57" name="Connector 56"/>
          <p:cNvCxnSpPr/>
          <p:nvPr/>
        </p:nvCxnSpPr>
        <p:spPr>
          <a:xfrm>
            <a:off x="2272284" y="4238244"/>
            <a:ext cx="630936" cy="0"/>
          </a:xfrm>
          <a:prstGeom prst="line">
            <a:avLst/>
          </a:prstGeom>
          <a:ln w="15875" cap="rnd">
            <a:solidFill>
              <a:schemeClr val="accent2"/>
            </a:solidFill>
          </a:ln>
        </p:spPr>
      </p:cxnSp>
      <p:cxnSp>
        <p:nvCxnSpPr>
          <p:cNvPr id="58" name="Connector 57"/>
          <p:cNvCxnSpPr/>
          <p:nvPr/>
        </p:nvCxnSpPr>
        <p:spPr>
          <a:xfrm flipV="1">
            <a:off x="2903220" y="2958084"/>
            <a:ext cx="0" cy="1280160"/>
          </a:xfrm>
          <a:prstGeom prst="line">
            <a:avLst/>
          </a:prstGeom>
          <a:ln w="15875" cap="rnd">
            <a:solidFill>
              <a:schemeClr val="accent2"/>
            </a:solidFill>
            <a:tailEnd type="triangle" w="med" len="med"/>
          </a:ln>
        </p:spPr>
      </p:cxnSp>
      <p:cxnSp>
        <p:nvCxnSpPr>
          <p:cNvPr id="59" name="Connector 58"/>
          <p:cNvCxnSpPr/>
          <p:nvPr/>
        </p:nvCxnSpPr>
        <p:spPr>
          <a:xfrm>
            <a:off x="3323844" y="2683764"/>
            <a:ext cx="210312" cy="0"/>
          </a:xfrm>
          <a:prstGeom prst="line">
            <a:avLst/>
          </a:prstGeom>
          <a:ln w="15875" cap="rnd">
            <a:solidFill>
              <a:schemeClr val="accent2"/>
            </a:solidFill>
            <a:tailEnd type="triangle" w="med" len="med"/>
          </a:ln>
        </p:spPr>
      </p:cxnSp>
      <p:cxnSp>
        <p:nvCxnSpPr>
          <p:cNvPr id="60" name="Connector 59"/>
          <p:cNvCxnSpPr/>
          <p:nvPr/>
        </p:nvCxnSpPr>
        <p:spPr>
          <a:xfrm flipV="1">
            <a:off x="3954780" y="2180844"/>
            <a:ext cx="0" cy="228600"/>
          </a:xfrm>
          <a:prstGeom prst="line">
            <a:avLst/>
          </a:prstGeom>
          <a:ln w="15875" cap="rnd">
            <a:solidFill>
              <a:schemeClr val="accent2"/>
            </a:solidFill>
            <a:prstDash val="dash"/>
            <a:tailEnd type="triangle" w="med" len="med"/>
          </a:ln>
        </p:spPr>
      </p:cxnSp>
      <p:cxnSp>
        <p:nvCxnSpPr>
          <p:cNvPr id="61" name="Connector 60"/>
          <p:cNvCxnSpPr/>
          <p:nvPr/>
        </p:nvCxnSpPr>
        <p:spPr>
          <a:xfrm>
            <a:off x="4375404" y="2683764"/>
            <a:ext cx="210312" cy="0"/>
          </a:xfrm>
          <a:prstGeom prst="line">
            <a:avLst/>
          </a:prstGeom>
          <a:ln w="15875" cap="rnd">
            <a:solidFill>
              <a:schemeClr val="accent2"/>
            </a:solidFill>
            <a:tailEnd type="triangle" w="med" len="med"/>
          </a:ln>
        </p:spPr>
      </p:cxnSp>
      <p:cxnSp>
        <p:nvCxnSpPr>
          <p:cNvPr id="62" name="Connector 61"/>
          <p:cNvCxnSpPr/>
          <p:nvPr/>
        </p:nvCxnSpPr>
        <p:spPr>
          <a:xfrm>
            <a:off x="5006340" y="2958084"/>
            <a:ext cx="0" cy="1005840"/>
          </a:xfrm>
          <a:prstGeom prst="line">
            <a:avLst/>
          </a:prstGeom>
          <a:ln w="15875" cap="rnd">
            <a:solidFill>
              <a:schemeClr val="accent2"/>
            </a:solidFill>
            <a:tailEnd type="triangle" w="med" len="med"/>
          </a:ln>
        </p:spPr>
      </p:cxnSp>
      <p:cxnSp>
        <p:nvCxnSpPr>
          <p:cNvPr id="63" name="Connector 62"/>
          <p:cNvCxnSpPr/>
          <p:nvPr/>
        </p:nvCxnSpPr>
        <p:spPr>
          <a:xfrm>
            <a:off x="5426964" y="2683764"/>
            <a:ext cx="429768" cy="0"/>
          </a:xfrm>
          <a:prstGeom prst="line">
            <a:avLst/>
          </a:prstGeom>
          <a:ln w="15875" cap="rnd">
            <a:solidFill>
              <a:schemeClr val="accent2"/>
            </a:solidFill>
          </a:ln>
        </p:spPr>
      </p:cxnSp>
      <p:cxnSp>
        <p:nvCxnSpPr>
          <p:cNvPr id="64" name="Connector 63"/>
          <p:cNvCxnSpPr/>
          <p:nvPr/>
        </p:nvCxnSpPr>
        <p:spPr>
          <a:xfrm>
            <a:off x="5856732" y="2683764"/>
            <a:ext cx="0" cy="502920"/>
          </a:xfrm>
          <a:prstGeom prst="line">
            <a:avLst/>
          </a:prstGeom>
          <a:ln w="15875" cap="rnd">
            <a:solidFill>
              <a:schemeClr val="accent2"/>
            </a:solidFill>
            <a:tailEnd type="triangle" w="med" len="med"/>
          </a:ln>
        </p:spPr>
      </p:cxnSp>
      <p:cxnSp>
        <p:nvCxnSpPr>
          <p:cNvPr id="65" name="Connector 64"/>
          <p:cNvCxnSpPr/>
          <p:nvPr/>
        </p:nvCxnSpPr>
        <p:spPr>
          <a:xfrm>
            <a:off x="6478524" y="3461004"/>
            <a:ext cx="210312" cy="0"/>
          </a:xfrm>
          <a:prstGeom prst="line">
            <a:avLst/>
          </a:prstGeom>
          <a:ln w="15875" cap="rnd">
            <a:solidFill>
              <a:schemeClr val="accent2"/>
            </a:solidFill>
            <a:tailEnd type="triangle" w="med" len="med"/>
          </a:ln>
        </p:spPr>
      </p:cxnSp>
      <p:cxnSp>
        <p:nvCxnSpPr>
          <p:cNvPr id="66" name="Connector 65"/>
          <p:cNvCxnSpPr/>
          <p:nvPr/>
        </p:nvCxnSpPr>
        <p:spPr>
          <a:xfrm flipV="1">
            <a:off x="7109460" y="2958084"/>
            <a:ext cx="0" cy="228600"/>
          </a:xfrm>
          <a:prstGeom prst="line">
            <a:avLst/>
          </a:prstGeom>
          <a:ln w="15875" cap="rnd">
            <a:solidFill>
              <a:schemeClr val="accent2"/>
            </a:solidFill>
            <a:tailEnd type="triangle" w="med" len="med"/>
          </a:ln>
        </p:spPr>
      </p:cxnSp>
      <p:cxnSp>
        <p:nvCxnSpPr>
          <p:cNvPr id="67" name="Connector 66"/>
          <p:cNvCxnSpPr/>
          <p:nvPr/>
        </p:nvCxnSpPr>
        <p:spPr>
          <a:xfrm>
            <a:off x="7109460" y="3735324"/>
            <a:ext cx="0" cy="228600"/>
          </a:xfrm>
          <a:prstGeom prst="line">
            <a:avLst/>
          </a:prstGeom>
          <a:ln w="15875" cap="rnd">
            <a:solidFill>
              <a:schemeClr val="accent2"/>
            </a:solidFill>
            <a:tailEnd type="triangle" w="med" len="med"/>
          </a:ln>
        </p:spPr>
      </p:cxnSp>
      <p:cxnSp>
        <p:nvCxnSpPr>
          <p:cNvPr id="68" name="Connector 67"/>
          <p:cNvCxnSpPr/>
          <p:nvPr/>
        </p:nvCxnSpPr>
        <p:spPr>
          <a:xfrm flipH="1">
            <a:off x="6259068" y="2683764"/>
            <a:ext cx="429768" cy="0"/>
          </a:xfrm>
          <a:prstGeom prst="line">
            <a:avLst/>
          </a:prstGeom>
          <a:ln w="15875" cap="rnd">
            <a:solidFill>
              <a:schemeClr val="accent2"/>
            </a:solidFill>
            <a:prstDash val="dash"/>
          </a:ln>
        </p:spPr>
      </p:cxnSp>
      <p:cxnSp>
        <p:nvCxnSpPr>
          <p:cNvPr id="69" name="Connector 68"/>
          <p:cNvCxnSpPr/>
          <p:nvPr/>
        </p:nvCxnSpPr>
        <p:spPr>
          <a:xfrm>
            <a:off x="6259068" y="2683764"/>
            <a:ext cx="0" cy="502920"/>
          </a:xfrm>
          <a:prstGeom prst="line">
            <a:avLst/>
          </a:prstGeom>
          <a:ln w="15875" cap="rnd">
            <a:solidFill>
              <a:schemeClr val="accent2"/>
            </a:solidFill>
            <a:prstDash val="dash"/>
            <a:tailEnd type="triangle" w="med" len="med"/>
          </a:ln>
        </p:spPr>
      </p:cxnSp>
      <p:cxnSp>
        <p:nvCxnSpPr>
          <p:cNvPr id="70" name="Connector 69"/>
          <p:cNvCxnSpPr/>
          <p:nvPr/>
        </p:nvCxnSpPr>
        <p:spPr>
          <a:xfrm>
            <a:off x="7530084" y="2683764"/>
            <a:ext cx="210312" cy="0"/>
          </a:xfrm>
          <a:prstGeom prst="line">
            <a:avLst/>
          </a:prstGeom>
          <a:ln w="15875" cap="rnd">
            <a:solidFill>
              <a:schemeClr val="accent2"/>
            </a:solidFill>
            <a:tailEnd type="triangle" w="med" len="med"/>
          </a:ln>
        </p:spPr>
      </p:cxnSp>
      <p:cxnSp>
        <p:nvCxnSpPr>
          <p:cNvPr id="71" name="Connector 70"/>
          <p:cNvCxnSpPr/>
          <p:nvPr/>
        </p:nvCxnSpPr>
        <p:spPr>
          <a:xfrm flipV="1">
            <a:off x="8161020" y="2180844"/>
            <a:ext cx="0" cy="228600"/>
          </a:xfrm>
          <a:prstGeom prst="line">
            <a:avLst/>
          </a:prstGeom>
          <a:ln w="15875" cap="rnd">
            <a:solidFill>
              <a:schemeClr val="accent2"/>
            </a:solidFill>
            <a:tailEnd type="triangle" w="med" len="med"/>
          </a:ln>
        </p:spPr>
      </p:cxnSp>
      <p:cxnSp>
        <p:nvCxnSpPr>
          <p:cNvPr id="72" name="Connector 71"/>
          <p:cNvCxnSpPr/>
          <p:nvPr/>
        </p:nvCxnSpPr>
        <p:spPr>
          <a:xfrm>
            <a:off x="8161020" y="2958084"/>
            <a:ext cx="0" cy="1005840"/>
          </a:xfrm>
          <a:prstGeom prst="line">
            <a:avLst/>
          </a:prstGeom>
          <a:ln w="15875" cap="rnd">
            <a:solidFill>
              <a:schemeClr val="accent2"/>
            </a:solidFill>
            <a:tailEnd type="triangle" w="med" len="med"/>
          </a:ln>
        </p:spPr>
      </p:cxnSp>
      <p:sp>
        <p:nvSpPr>
          <p:cNvPr id="73" name="Label No"/>
          <p:cNvSpPr txBox="1"/>
          <p:nvPr/>
        </p:nvSpPr>
        <p:spPr>
          <a:xfrm>
            <a:off x="4000500" y="2244852"/>
            <a:ext cx="228600" cy="128016"/>
          </a:xfrm>
          <a:prstGeom prst="rect">
            <a:avLst/>
          </a:prstGeom>
          <a:noFill/>
        </p:spPr>
        <p:txBody>
          <a:bodyPr wrap="square" lIns="0" rIns="0" tIns="0" bIns="0" anchor="t">
            <a:noAutofit/>
          </a:bodyPr>
          <a:lstStyle/>
          <a:p>
            <a:pPr algn="ctr"/>
            <a:r>
              <a:rPr sz="750" b="1" i="0">
                <a:solidFill>
                  <a:schemeClr val="tx2"/>
                </a:solidFill>
              </a:rPr>
              <a:t>No</a:t>
            </a:r>
          </a:p>
        </p:txBody>
      </p:sp>
      <p:sp>
        <p:nvSpPr>
          <p:cNvPr id="74" name="Label Yes"/>
          <p:cNvSpPr txBox="1"/>
          <p:nvPr/>
        </p:nvSpPr>
        <p:spPr>
          <a:xfrm>
            <a:off x="4357116" y="2510028"/>
            <a:ext cx="237744" cy="128016"/>
          </a:xfrm>
          <a:prstGeom prst="rect">
            <a:avLst/>
          </a:prstGeom>
          <a:noFill/>
        </p:spPr>
        <p:txBody>
          <a:bodyPr wrap="square" lIns="0" rIns="0" tIns="0" bIns="0" anchor="t">
            <a:noAutofit/>
          </a:bodyPr>
          <a:lstStyle/>
          <a:p>
            <a:pPr algn="ctr"/>
            <a:r>
              <a:rPr sz="750" b="1" i="0">
                <a:solidFill>
                  <a:schemeClr val="tx2"/>
                </a:solidFill>
              </a:rPr>
              <a:t>Yes</a:t>
            </a:r>
          </a:p>
        </p:txBody>
      </p:sp>
      <p:sp>
        <p:nvSpPr>
          <p:cNvPr id="75" name="Label No"/>
          <p:cNvSpPr txBox="1"/>
          <p:nvPr/>
        </p:nvSpPr>
        <p:spPr>
          <a:xfrm>
            <a:off x="6396228" y="2510028"/>
            <a:ext cx="228600" cy="128016"/>
          </a:xfrm>
          <a:prstGeom prst="rect">
            <a:avLst/>
          </a:prstGeom>
          <a:noFill/>
        </p:spPr>
        <p:txBody>
          <a:bodyPr wrap="square" lIns="0" rIns="0" tIns="0" bIns="0" anchor="t">
            <a:noAutofit/>
          </a:bodyPr>
          <a:lstStyle/>
          <a:p>
            <a:pPr algn="ctr"/>
            <a:r>
              <a:rPr sz="750" b="1" i="0">
                <a:solidFill>
                  <a:schemeClr val="tx2"/>
                </a:solidFill>
              </a:rPr>
              <a:t>No</a:t>
            </a:r>
          </a:p>
        </p:txBody>
      </p:sp>
      <p:sp>
        <p:nvSpPr>
          <p:cNvPr id="76" name="Label Yes"/>
          <p:cNvSpPr txBox="1"/>
          <p:nvPr/>
        </p:nvSpPr>
        <p:spPr>
          <a:xfrm>
            <a:off x="7511796" y="2510028"/>
            <a:ext cx="237744" cy="128016"/>
          </a:xfrm>
          <a:prstGeom prst="rect">
            <a:avLst/>
          </a:prstGeom>
          <a:noFill/>
        </p:spPr>
        <p:txBody>
          <a:bodyPr wrap="square" lIns="0" rIns="0" tIns="0" bIns="0" anchor="t">
            <a:noAutofit/>
          </a:bodyPr>
          <a:lstStyle/>
          <a:p>
            <a:pPr algn="ctr"/>
            <a:r>
              <a:rPr sz="750" b="1" i="0">
                <a:solidFill>
                  <a:schemeClr val="tx2"/>
                </a:solidFill>
              </a:rPr>
              <a:t>Yes</a:t>
            </a:r>
          </a:p>
        </p:txBody>
      </p:sp>
      <p:sp>
        <p:nvSpPr>
          <p:cNvPr id="77" name="Key Main step"/>
          <p:cNvSpPr/>
          <p:nvPr/>
        </p:nvSpPr>
        <p:spPr>
          <a:xfrm>
            <a:off x="457200" y="4709160"/>
            <a:ext cx="237744" cy="128016"/>
          </a:xfrm>
          <a:prstGeom prst="roundRect">
            <a:avLst>
              <a:gd name="adj" fmla="val 20000"/>
            </a:avLst>
          </a:prstGeom>
          <a:solidFill>
            <a:schemeClr val="bg1"/>
          </a:solidFill>
          <a:ln w="15875">
            <a:solidFill>
              <a:schemeClr val="accent1"/>
            </a:solidFill>
          </a:ln>
          <a:effectLst/>
        </p:spPr>
        <p:txBody>
          <a:bodyPr rtlCol="0" anchor="ctr"/>
          <a:lstStyle/>
          <a:p>
            <a:pPr algn="ctr"/>
          </a:p>
        </p:txBody>
      </p:sp>
      <p:sp>
        <p:nvSpPr>
          <p:cNvPr id="78" name="Key label Main step"/>
          <p:cNvSpPr txBox="1"/>
          <p:nvPr/>
        </p:nvSpPr>
        <p:spPr>
          <a:xfrm>
            <a:off x="758952" y="4690872"/>
            <a:ext cx="914400" cy="164592"/>
          </a:xfrm>
          <a:prstGeom prst="rect">
            <a:avLst/>
          </a:prstGeom>
          <a:noFill/>
        </p:spPr>
        <p:txBody>
          <a:bodyPr wrap="square" lIns="0" rIns="0" tIns="0" bIns="0" anchor="ctr">
            <a:noAutofit/>
          </a:bodyPr>
          <a:lstStyle/>
          <a:p>
            <a:r>
              <a:rPr sz="800" b="0" i="0">
                <a:solidFill>
                  <a:schemeClr val="accent2"/>
                </a:solidFill>
              </a:rPr>
              <a:t>Main step</a:t>
            </a:r>
          </a:p>
        </p:txBody>
      </p:sp>
      <p:sp>
        <p:nvSpPr>
          <p:cNvPr id="79" name="Key Decision"/>
          <p:cNvSpPr/>
          <p:nvPr/>
        </p:nvSpPr>
        <p:spPr>
          <a:xfrm>
            <a:off x="1764792" y="4709160"/>
            <a:ext cx="237744" cy="128016"/>
          </a:xfrm>
          <a:prstGeom prst="roundRect">
            <a:avLst>
              <a:gd name="adj" fmla="val 20000"/>
            </a:avLst>
          </a:prstGeom>
          <a:solidFill>
            <a:srgbClr val="ECEFEF"/>
          </a:solidFill>
          <a:ln w="12700">
            <a:solidFill>
              <a:schemeClr val="accent3"/>
            </a:solidFill>
          </a:ln>
          <a:effectLst/>
        </p:spPr>
        <p:txBody>
          <a:bodyPr rtlCol="0" anchor="ctr"/>
          <a:lstStyle/>
          <a:p>
            <a:pPr algn="ctr"/>
          </a:p>
        </p:txBody>
      </p:sp>
      <p:sp>
        <p:nvSpPr>
          <p:cNvPr id="80" name="Key label Decision"/>
          <p:cNvSpPr txBox="1"/>
          <p:nvPr/>
        </p:nvSpPr>
        <p:spPr>
          <a:xfrm>
            <a:off x="2066544" y="4690872"/>
            <a:ext cx="822960" cy="164592"/>
          </a:xfrm>
          <a:prstGeom prst="rect">
            <a:avLst/>
          </a:prstGeom>
          <a:noFill/>
        </p:spPr>
        <p:txBody>
          <a:bodyPr wrap="square" lIns="0" rIns="0" tIns="0" bIns="0" anchor="ctr">
            <a:noAutofit/>
          </a:bodyPr>
          <a:lstStyle/>
          <a:p>
            <a:r>
              <a:rPr sz="800" b="0" i="0">
                <a:solidFill>
                  <a:schemeClr val="accent2"/>
                </a:solidFill>
              </a:rPr>
              <a:t>Decision</a:t>
            </a:r>
          </a:p>
        </p:txBody>
      </p:sp>
      <p:sp>
        <p:nvSpPr>
          <p:cNvPr id="81" name="Key Automatic (TerraLink)"/>
          <p:cNvSpPr/>
          <p:nvPr/>
        </p:nvSpPr>
        <p:spPr>
          <a:xfrm>
            <a:off x="2980944" y="4709160"/>
            <a:ext cx="237744" cy="128016"/>
          </a:xfrm>
          <a:prstGeom prst="roundRect">
            <a:avLst>
              <a:gd name="adj" fmla="val 20000"/>
            </a:avLst>
          </a:prstGeom>
          <a:solidFill>
            <a:schemeClr val="bg2"/>
          </a:solidFill>
          <a:ln w="12700">
            <a:solidFill>
              <a:schemeClr val="accent3"/>
            </a:solidFill>
          </a:ln>
          <a:effectLst/>
        </p:spPr>
        <p:txBody>
          <a:bodyPr rtlCol="0" anchor="ctr"/>
          <a:lstStyle/>
          <a:p>
            <a:pPr algn="ctr"/>
          </a:p>
        </p:txBody>
      </p:sp>
      <p:sp>
        <p:nvSpPr>
          <p:cNvPr id="82" name="Key label Automatic (TerraLink)"/>
          <p:cNvSpPr txBox="1"/>
          <p:nvPr/>
        </p:nvSpPr>
        <p:spPr>
          <a:xfrm>
            <a:off x="3282696" y="4690872"/>
            <a:ext cx="1417320" cy="164592"/>
          </a:xfrm>
          <a:prstGeom prst="rect">
            <a:avLst/>
          </a:prstGeom>
          <a:noFill/>
        </p:spPr>
        <p:txBody>
          <a:bodyPr wrap="square" lIns="0" rIns="0" tIns="0" bIns="0" anchor="ctr">
            <a:noAutofit/>
          </a:bodyPr>
          <a:lstStyle/>
          <a:p>
            <a:r>
              <a:rPr sz="800" b="0" i="0">
                <a:solidFill>
                  <a:schemeClr val="accent2"/>
                </a:solidFill>
              </a:rPr>
              <a:t>Automatic (TerraLink)</a:t>
            </a:r>
          </a:p>
        </p:txBody>
      </p:sp>
      <p:sp>
        <p:nvSpPr>
          <p:cNvPr id="83" name="Key Side path or return"/>
          <p:cNvSpPr/>
          <p:nvPr/>
        </p:nvSpPr>
        <p:spPr>
          <a:xfrm>
            <a:off x="4791456" y="4709160"/>
            <a:ext cx="237744" cy="128016"/>
          </a:xfrm>
          <a:prstGeom prst="roundRect">
            <a:avLst>
              <a:gd name="adj" fmla="val 20000"/>
            </a:avLst>
          </a:prstGeom>
          <a:solidFill>
            <a:schemeClr val="bg1"/>
          </a:solidFill>
          <a:ln w="12700">
            <a:solidFill>
              <a:schemeClr val="accent3"/>
            </a:solidFill>
            <a:prstDash val="dash"/>
          </a:ln>
          <a:effectLst/>
        </p:spPr>
        <p:txBody>
          <a:bodyPr rtlCol="0" anchor="ctr"/>
          <a:lstStyle/>
          <a:p>
            <a:pPr algn="ctr"/>
          </a:p>
        </p:txBody>
      </p:sp>
      <p:sp>
        <p:nvSpPr>
          <p:cNvPr id="84" name="Key label Side path or return"/>
          <p:cNvSpPr txBox="1"/>
          <p:nvPr/>
        </p:nvSpPr>
        <p:spPr>
          <a:xfrm>
            <a:off x="5093208" y="4690872"/>
            <a:ext cx="1325880" cy="164592"/>
          </a:xfrm>
          <a:prstGeom prst="rect">
            <a:avLst/>
          </a:prstGeom>
          <a:noFill/>
        </p:spPr>
        <p:txBody>
          <a:bodyPr wrap="square" lIns="0" rIns="0" tIns="0" bIns="0" anchor="ctr">
            <a:noAutofit/>
          </a:bodyPr>
          <a:lstStyle/>
          <a:p>
            <a:r>
              <a:rPr sz="800" b="0" i="0">
                <a:solidFill>
                  <a:schemeClr val="accent2"/>
                </a:solidFill>
              </a:rPr>
              <a:t>Side path or return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Map, Review &amp; Tasks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See the change on real imagery, then turn it into accountable work.</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pic>
        <p:nvPicPr>
          <p:cNvPr id="26" name="Map &amp; Change Analysis screenshot" descr="Satellite comparison with the measured water mask"/>
          <p:cNvPicPr>
            <a:picLocks noChangeAspect="1"/>
          </p:cNvPicPr>
          <p:nvPr/>
        </p:nvPicPr>
        <p:blipFill>
          <a:blip r:embed="rId3"/>
          <a:stretch>
            <a:fillRect/>
          </a:stretch>
        </p:blipFill>
        <p:spPr>
          <a:xfrm>
            <a:off x="457200" y="1280160"/>
            <a:ext cx="3291840" cy="1554480"/>
          </a:xfrm>
          <a:prstGeom prst="rect">
            <a:avLst/>
          </a:prstGeom>
        </p:spPr>
      </p:pic>
      <p:sp>
        <p:nvSpPr>
          <p:cNvPr id="27" name="Map &amp; Change Analysis screenshot frame"/>
          <p:cNvSpPr/>
          <p:nvPr/>
        </p:nvSpPr>
        <p:spPr>
          <a:xfrm>
            <a:off x="457200" y="1280160"/>
            <a:ext cx="3291840" cy="1554480"/>
          </a:xfrm>
          <a:prstGeom prst="rect">
            <a:avLst/>
          </a:prstGeom>
          <a:noFill/>
          <a:ln w="9525">
            <a:solidFill>
              <a:schemeClr val="accent4"/>
            </a:solidFill>
          </a:ln>
        </p:spPr>
        <p:txBody>
          <a:bodyPr rtlCol="0" anchor="ctr"/>
          <a:lstStyle/>
          <a:p>
            <a:pPr algn="ctr"/>
          </a:p>
        </p:txBody>
      </p:sp>
      <p:pic>
        <p:nvPicPr>
          <p:cNvPr id="28" name="Map &amp; Change Analysis detail" descr="The wetland map with the five water bodies"/>
          <p:cNvPicPr>
            <a:picLocks noChangeAspect="1"/>
          </p:cNvPicPr>
          <p:nvPr/>
        </p:nvPicPr>
        <p:blipFill>
          <a:blip r:embed="rId4"/>
          <a:stretch>
            <a:fillRect/>
          </a:stretch>
        </p:blipFill>
        <p:spPr>
          <a:xfrm>
            <a:off x="2441448" y="2075688"/>
            <a:ext cx="1417320" cy="868680"/>
          </a:xfrm>
          <a:prstGeom prst="rect">
            <a:avLst/>
          </a:prstGeom>
          <a:ln w="28575">
            <a:solidFill>
              <a:srgbClr val="FFFFFF"/>
            </a:solidFill>
          </a:ln>
          <a:effectLst>
            <a:outerShdw blurRad="76200" dist="25400" dir="2700000" algn="tl" rotWithShape="0">
              <a:srgbClr val="1F2A2E">
                <a:alpha val="28000"/>
              </a:srgbClr>
            </a:outerShdw>
          </a:effectLst>
        </p:spPr>
      </p:pic>
      <p:sp>
        <p:nvSpPr>
          <p:cNvPr id="29" name="Map &amp; Change Analysis label"/>
          <p:cNvSpPr txBox="1"/>
          <p:nvPr/>
        </p:nvSpPr>
        <p:spPr>
          <a:xfrm>
            <a:off x="4114800" y="1280160"/>
            <a:ext cx="4572000" cy="146304"/>
          </a:xfrm>
          <a:prstGeom prst="rect">
            <a:avLst/>
          </a:prstGeom>
          <a:noFill/>
        </p:spPr>
        <p:txBody>
          <a:bodyPr wrap="square" lIns="0" rIns="0" tIns="0" bIns="0" anchor="t">
            <a:noAutofit/>
          </a:bodyPr>
          <a:lstStyle/>
          <a:p>
            <a:r>
              <a:rPr sz="800" b="1" i="0" spc="120">
                <a:solidFill>
                  <a:schemeClr val="tx2"/>
                </a:solidFill>
              </a:rPr>
              <a:t>FEATURE 1</a:t>
            </a:r>
          </a:p>
        </p:txBody>
      </p:sp>
      <p:sp>
        <p:nvSpPr>
          <p:cNvPr id="30" name="Map &amp; Change Analysis heading"/>
          <p:cNvSpPr txBox="1"/>
          <p:nvPr/>
        </p:nvSpPr>
        <p:spPr>
          <a:xfrm>
            <a:off x="4114800" y="1435608"/>
            <a:ext cx="4572000" cy="292608"/>
          </a:xfrm>
          <a:prstGeom prst="rect">
            <a:avLst/>
          </a:prstGeom>
          <a:noFill/>
        </p:spPr>
        <p:txBody>
          <a:bodyPr wrap="square" lIns="0" rIns="0" tIns="0" bIns="0" anchor="ctr">
            <a:noAutofit/>
          </a:bodyPr>
          <a:lstStyle/>
          <a:p>
            <a:r>
              <a:rPr sz="1500" b="1" i="0">
                <a:solidFill>
                  <a:schemeClr val="tx1"/>
                </a:solidFill>
              </a:rPr>
              <a:t>Map &amp; Change Analysis</a:t>
            </a:r>
          </a:p>
        </p:txBody>
      </p:sp>
      <p:sp>
        <p:nvSpPr>
          <p:cNvPr id="31" name="Map &amp; Change Analysis description"/>
          <p:cNvSpPr txBox="1"/>
          <p:nvPr/>
        </p:nvSpPr>
        <p:spPr>
          <a:xfrm>
            <a:off x="4114800" y="1792224"/>
            <a:ext cx="4572000" cy="365760"/>
          </a:xfrm>
          <a:prstGeom prst="rect">
            <a:avLst/>
          </a:prstGeom>
          <a:noFill/>
        </p:spPr>
        <p:txBody>
          <a:bodyPr wrap="square" lIns="0" rIns="0" tIns="0" bIns="0" anchor="t">
            <a:noAutofit/>
          </a:bodyPr>
          <a:lstStyle/>
          <a:p>
            <a:r>
              <a:rPr sz="1100" b="0" i="0">
                <a:solidFill>
                  <a:schemeClr val="accent2"/>
                </a:solidFill>
              </a:rPr>
              <a:t>See every site on one map and measure the change between two real images.</a:t>
            </a:r>
          </a:p>
        </p:txBody>
      </p:sp>
      <p:sp>
        <p:nvSpPr>
          <p:cNvPr id="32" name="Map &amp; Change Analysis points"/>
          <p:cNvSpPr txBox="1"/>
          <p:nvPr/>
        </p:nvSpPr>
        <p:spPr>
          <a:xfrm>
            <a:off x="4114800" y="2176272"/>
            <a:ext cx="4572000" cy="658368"/>
          </a:xfrm>
          <a:prstGeom prst="rect">
            <a:avLst/>
          </a:prstGeom>
          <a:noFill/>
        </p:spPr>
        <p:txBody>
          <a:bodyPr wrap="square" lIns="0" rIns="0" tIns="0" bIns="0" anchor="t">
            <a:noAutofit/>
          </a:bodyPr>
          <a:lstStyle/>
          <a:p>
            <a:pPr marL="127000" indent="-127000">
              <a:spcAft>
                <a:spcPts val="200"/>
              </a:spcAft>
              <a:buSzPct val="100000"/>
              <a:buChar char="•"/>
            </a:pPr>
            <a:r>
              <a:rPr sz="1000" b="0" i="0">
                <a:solidFill>
                  <a:schemeClr val="tx1"/>
                </a:solidFill>
              </a:rPr>
              <a:t>Real Sentinel-2 scenes, a water mask and the uncertainty stated</a:t>
            </a:r>
          </a:p>
          <a:p>
            <a:pPr marL="127000" indent="-127000">
              <a:spcAft>
                <a:spcPts val="200"/>
              </a:spcAft>
              <a:buSzPct val="100000"/>
              <a:buChar char="•"/>
            </a:pPr>
            <a:r>
              <a:rPr sz="1000" b="0" i="0">
                <a:solidFill>
                  <a:schemeClr val="tx1"/>
                </a:solidFill>
              </a:rPr>
              <a:t>Insufficient data when clouds block the view</a:t>
            </a:r>
          </a:p>
          <a:p>
            <a:pPr marL="127000" indent="-127000">
              <a:spcAft>
                <a:spcPts val="200"/>
              </a:spcAft>
              <a:buSzPct val="100000"/>
              <a:buChar char="•"/>
            </a:pPr>
            <a:r>
              <a:rPr sz="1000" b="0" i="0">
                <a:solidFill>
                  <a:schemeClr val="tx1"/>
                </a:solidFill>
              </a:rPr>
              <a:t>A drop in water is a signal to check, not proof</a:t>
            </a:r>
          </a:p>
        </p:txBody>
      </p:sp>
      <p:pic>
        <p:nvPicPr>
          <p:cNvPr id="33" name="Review &amp; Tasks screenshot" descr="Task board with each task in its stage"/>
          <p:cNvPicPr>
            <a:picLocks noChangeAspect="1"/>
          </p:cNvPicPr>
          <p:nvPr/>
        </p:nvPicPr>
        <p:blipFill>
          <a:blip r:embed="rId5"/>
          <a:stretch>
            <a:fillRect/>
          </a:stretch>
        </p:blipFill>
        <p:spPr>
          <a:xfrm>
            <a:off x="5394960" y="3063240"/>
            <a:ext cx="3291840" cy="1554480"/>
          </a:xfrm>
          <a:prstGeom prst="rect">
            <a:avLst/>
          </a:prstGeom>
        </p:spPr>
      </p:pic>
      <p:sp>
        <p:nvSpPr>
          <p:cNvPr id="34" name="Review &amp; Tasks screenshot frame"/>
          <p:cNvSpPr/>
          <p:nvPr/>
        </p:nvSpPr>
        <p:spPr>
          <a:xfrm>
            <a:off x="5394960" y="3063240"/>
            <a:ext cx="3291840" cy="1554480"/>
          </a:xfrm>
          <a:prstGeom prst="rect">
            <a:avLst/>
          </a:prstGeom>
          <a:noFill/>
          <a:ln w="9525">
            <a:solidFill>
              <a:schemeClr val="accent4"/>
            </a:solidFill>
          </a:ln>
        </p:spPr>
        <p:txBody>
          <a:bodyPr rtlCol="0" anchor="ctr"/>
          <a:lstStyle/>
          <a:p>
            <a:pPr algn="ctr"/>
          </a:p>
        </p:txBody>
      </p:sp>
      <p:pic>
        <p:nvPicPr>
          <p:cNvPr id="35" name="Review &amp; Tasks detail" descr="A task with its four stages, evidence and costs"/>
          <p:cNvPicPr>
            <a:picLocks noChangeAspect="1"/>
          </p:cNvPicPr>
          <p:nvPr/>
        </p:nvPicPr>
        <p:blipFill>
          <a:blip r:embed="rId6"/>
          <a:stretch>
            <a:fillRect/>
          </a:stretch>
        </p:blipFill>
        <p:spPr>
          <a:xfrm>
            <a:off x="5285232" y="3419856"/>
            <a:ext cx="914400" cy="1307592"/>
          </a:xfrm>
          <a:prstGeom prst="rect">
            <a:avLst/>
          </a:prstGeom>
          <a:ln w="28575">
            <a:solidFill>
              <a:srgbClr val="FFFFFF"/>
            </a:solidFill>
          </a:ln>
          <a:effectLst>
            <a:outerShdw blurRad="76200" dist="25400" dir="2700000" algn="tl" rotWithShape="0">
              <a:srgbClr val="1F2A2E">
                <a:alpha val="28000"/>
              </a:srgbClr>
            </a:outerShdw>
          </a:effectLst>
        </p:spPr>
      </p:pic>
      <p:sp>
        <p:nvSpPr>
          <p:cNvPr id="36" name="Review &amp; Tasks label"/>
          <p:cNvSpPr txBox="1"/>
          <p:nvPr/>
        </p:nvSpPr>
        <p:spPr>
          <a:xfrm>
            <a:off x="457200" y="3063240"/>
            <a:ext cx="4572000" cy="146304"/>
          </a:xfrm>
          <a:prstGeom prst="rect">
            <a:avLst/>
          </a:prstGeom>
          <a:noFill/>
        </p:spPr>
        <p:txBody>
          <a:bodyPr wrap="square" lIns="0" rIns="0" tIns="0" bIns="0" anchor="t">
            <a:noAutofit/>
          </a:bodyPr>
          <a:lstStyle/>
          <a:p>
            <a:r>
              <a:rPr sz="800" b="1" i="0" spc="120">
                <a:solidFill>
                  <a:schemeClr val="tx2"/>
                </a:solidFill>
              </a:rPr>
              <a:t>FEATURE 2</a:t>
            </a:r>
          </a:p>
        </p:txBody>
      </p:sp>
      <p:sp>
        <p:nvSpPr>
          <p:cNvPr id="37" name="Review &amp; Tasks heading"/>
          <p:cNvSpPr txBox="1"/>
          <p:nvPr/>
        </p:nvSpPr>
        <p:spPr>
          <a:xfrm>
            <a:off x="457200" y="3218688"/>
            <a:ext cx="4572000" cy="292608"/>
          </a:xfrm>
          <a:prstGeom prst="rect">
            <a:avLst/>
          </a:prstGeom>
          <a:noFill/>
        </p:spPr>
        <p:txBody>
          <a:bodyPr wrap="square" lIns="0" rIns="0" tIns="0" bIns="0" anchor="ctr">
            <a:noAutofit/>
          </a:bodyPr>
          <a:lstStyle/>
          <a:p>
            <a:r>
              <a:rPr sz="1500" b="1" i="0">
                <a:solidFill>
                  <a:schemeClr val="tx1"/>
                </a:solidFill>
              </a:rPr>
              <a:t>Review &amp; Tasks</a:t>
            </a:r>
          </a:p>
        </p:txBody>
      </p:sp>
      <p:sp>
        <p:nvSpPr>
          <p:cNvPr id="38" name="Review &amp; Tasks description"/>
          <p:cNvSpPr txBox="1"/>
          <p:nvPr/>
        </p:nvSpPr>
        <p:spPr>
          <a:xfrm>
            <a:off x="457200" y="3575304"/>
            <a:ext cx="4572000" cy="365760"/>
          </a:xfrm>
          <a:prstGeom prst="rect">
            <a:avLst/>
          </a:prstGeom>
          <a:noFill/>
        </p:spPr>
        <p:txBody>
          <a:bodyPr wrap="square" lIns="0" rIns="0" tIns="0" bIns="0" anchor="t">
            <a:noAutofit/>
          </a:bodyPr>
          <a:lstStyle/>
          <a:p>
            <a:r>
              <a:rPr sz="1100" b="0" i="0">
                <a:solidFill>
                  <a:schemeClr val="accent2"/>
                </a:solidFill>
              </a:rPr>
              <a:t>Turn a verified finding into accountable field work.</a:t>
            </a:r>
          </a:p>
        </p:txBody>
      </p:sp>
      <p:sp>
        <p:nvSpPr>
          <p:cNvPr id="39" name="Review &amp; Tasks points"/>
          <p:cNvSpPr txBox="1"/>
          <p:nvPr/>
        </p:nvSpPr>
        <p:spPr>
          <a:xfrm>
            <a:off x="457200" y="3959352"/>
            <a:ext cx="4572000" cy="658368"/>
          </a:xfrm>
          <a:prstGeom prst="rect">
            <a:avLst/>
          </a:prstGeom>
          <a:noFill/>
        </p:spPr>
        <p:txBody>
          <a:bodyPr wrap="square" lIns="0" rIns="0" tIns="0" bIns="0" anchor="t">
            <a:noAutofit/>
          </a:bodyPr>
          <a:lstStyle/>
          <a:p>
            <a:pPr marL="127000" indent="-127000">
              <a:spcAft>
                <a:spcPts val="200"/>
              </a:spcAft>
              <a:buSzPct val="100000"/>
              <a:buChar char="•"/>
            </a:pPr>
            <a:r>
              <a:rPr sz="1000" b="0" i="0">
                <a:solidFill>
                  <a:schemeClr val="tx1"/>
                </a:solidFill>
              </a:rPr>
              <a:t>Verify resident photo reports and satellite findings</a:t>
            </a:r>
          </a:p>
          <a:p>
            <a:pPr marL="127000" indent="-127000">
              <a:spcAft>
                <a:spcPts val="200"/>
              </a:spcAft>
              <a:buSzPct val="100000"/>
              <a:buChar char="•"/>
            </a:pPr>
            <a:r>
              <a:rPr sz="1000" b="0" i="0">
                <a:solidFill>
                  <a:schemeClr val="tx1"/>
                </a:solidFill>
              </a:rPr>
              <a:t>Assign a field coordinator, deadline and estimated cost</a:t>
            </a:r>
          </a:p>
          <a:p>
            <a:pPr marL="127000" indent="-127000">
              <a:spcAft>
                <a:spcPts val="200"/>
              </a:spcAft>
              <a:buSzPct val="100000"/>
              <a:buChar char="•"/>
            </a:pPr>
            <a:r>
              <a:rPr sz="1000" b="0" i="0">
                <a:solidFill>
                  <a:schemeClr val="tx1"/>
                </a:solidFill>
              </a:rPr>
              <a:t>The coordinator works and submits photos; the manager approves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Reports, Calendar &amp; Costs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Reports and events reach the right people without leaving the page where the work happens.</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pic>
        <p:nvPicPr>
          <p:cNvPr id="26" name="Send report dialog" descr="Send report dialog listing people, each with a Send button"/>
          <p:cNvPicPr>
            <a:picLocks noChangeAspect="1"/>
          </p:cNvPicPr>
          <p:nvPr/>
        </p:nvPicPr>
        <p:blipFill>
          <a:blip r:embed="rId3"/>
          <a:stretch>
            <a:fillRect/>
          </a:stretch>
        </p:blipFill>
        <p:spPr>
          <a:xfrm>
            <a:off x="457200" y="1280160"/>
            <a:ext cx="2377440" cy="2432914"/>
          </a:xfrm>
          <a:prstGeom prst="rect">
            <a:avLst/>
          </a:prstGeom>
        </p:spPr>
      </p:pic>
      <p:sp>
        <p:nvSpPr>
          <p:cNvPr id="27" name="Send report dialog frame"/>
          <p:cNvSpPr/>
          <p:nvPr/>
        </p:nvSpPr>
        <p:spPr>
          <a:xfrm>
            <a:off x="457200" y="1280160"/>
            <a:ext cx="2377440" cy="2432914"/>
          </a:xfrm>
          <a:prstGeom prst="rect">
            <a:avLst/>
          </a:prstGeom>
          <a:noFill/>
          <a:ln w="9525">
            <a:solidFill>
              <a:schemeClr val="accent4"/>
            </a:solidFill>
          </a:ln>
        </p:spPr>
        <p:txBody>
          <a:bodyPr rtlCol="0" anchor="ctr"/>
          <a:lstStyle/>
          <a:p>
            <a:pPr algn="ctr"/>
          </a:p>
        </p:txBody>
      </p:sp>
      <p:sp>
        <p:nvSpPr>
          <p:cNvPr id="28" name="Dialog caption"/>
          <p:cNvSpPr txBox="1"/>
          <p:nvPr/>
        </p:nvSpPr>
        <p:spPr>
          <a:xfrm>
            <a:off x="457200" y="3804514"/>
            <a:ext cx="2377440" cy="457200"/>
          </a:xfrm>
          <a:prstGeom prst="rect">
            <a:avLst/>
          </a:prstGeom>
          <a:noFill/>
        </p:spPr>
        <p:txBody>
          <a:bodyPr wrap="square" lIns="0" rIns="0" tIns="0" bIns="0" anchor="t">
            <a:noAutofit/>
          </a:bodyPr>
          <a:lstStyle/>
          <a:p>
            <a:r>
              <a:rPr sz="950" b="0" i="0">
                <a:solidFill>
                  <a:schemeClr val="accent2"/>
                </a:solidFill>
              </a:rPr>
              <a:t>One Send button per person. A tick shows who already has the report.</a:t>
            </a:r>
          </a:p>
        </p:txBody>
      </p:sp>
      <p:sp>
        <p:nvSpPr>
          <p:cNvPr id="29" name="Reports label"/>
          <p:cNvSpPr txBox="1"/>
          <p:nvPr/>
        </p:nvSpPr>
        <p:spPr>
          <a:xfrm>
            <a:off x="3017520" y="1280160"/>
            <a:ext cx="1783080" cy="146304"/>
          </a:xfrm>
          <a:prstGeom prst="rect">
            <a:avLst/>
          </a:prstGeom>
          <a:noFill/>
        </p:spPr>
        <p:txBody>
          <a:bodyPr wrap="square" lIns="0" rIns="0" tIns="0" bIns="0" anchor="t">
            <a:noAutofit/>
          </a:bodyPr>
          <a:lstStyle/>
          <a:p>
            <a:r>
              <a:rPr sz="800" b="1" i="0" spc="120">
                <a:solidFill>
                  <a:schemeClr val="tx2"/>
                </a:solidFill>
              </a:rPr>
              <a:t>FEATURE 3</a:t>
            </a:r>
          </a:p>
        </p:txBody>
      </p:sp>
      <p:sp>
        <p:nvSpPr>
          <p:cNvPr id="30" name="Reports heading"/>
          <p:cNvSpPr txBox="1"/>
          <p:nvPr/>
        </p:nvSpPr>
        <p:spPr>
          <a:xfrm>
            <a:off x="3017520" y="1435608"/>
            <a:ext cx="1783080" cy="292608"/>
          </a:xfrm>
          <a:prstGeom prst="rect">
            <a:avLst/>
          </a:prstGeom>
          <a:noFill/>
        </p:spPr>
        <p:txBody>
          <a:bodyPr wrap="square" lIns="0" rIns="0" tIns="0" bIns="0" anchor="ctr">
            <a:noAutofit/>
          </a:bodyPr>
          <a:lstStyle/>
          <a:p>
            <a:r>
              <a:rPr sz="1150" b="1" i="0">
                <a:solidFill>
                  <a:schemeClr val="tx1"/>
                </a:solidFill>
              </a:rPr>
              <a:t>Reports</a:t>
            </a:r>
          </a:p>
        </p:txBody>
      </p:sp>
      <p:sp>
        <p:nvSpPr>
          <p:cNvPr id="31" name="Reports description"/>
          <p:cNvSpPr txBox="1"/>
          <p:nvPr/>
        </p:nvSpPr>
        <p:spPr>
          <a:xfrm>
            <a:off x="3017520" y="1764792"/>
            <a:ext cx="1783080" cy="566928"/>
          </a:xfrm>
          <a:prstGeom prst="rect">
            <a:avLst/>
          </a:prstGeom>
          <a:noFill/>
        </p:spPr>
        <p:txBody>
          <a:bodyPr wrap="square" lIns="0" rIns="0" tIns="0" bIns="0" anchor="t">
            <a:noAutofit/>
          </a:bodyPr>
          <a:lstStyle/>
          <a:p>
            <a:r>
              <a:rPr sz="950" b="0" i="0">
                <a:solidFill>
                  <a:schemeClr val="accent2"/>
                </a:solidFill>
              </a:rPr>
              <a:t>Download a PDF, or Send: each person gets a subject, a summary table and the PDF attached.</a:t>
            </a:r>
          </a:p>
        </p:txBody>
      </p:sp>
      <p:sp>
        <p:nvSpPr>
          <p:cNvPr id="32" name="Reports points"/>
          <p:cNvSpPr txBox="1"/>
          <p:nvPr/>
        </p:nvSpPr>
        <p:spPr>
          <a:xfrm>
            <a:off x="3017520" y="2395728"/>
            <a:ext cx="1783080" cy="640080"/>
          </a:xfrm>
          <a:prstGeom prst="rect">
            <a:avLst/>
          </a:prstGeom>
          <a:noFill/>
        </p:spPr>
        <p:txBody>
          <a:bodyPr wrap="square" lIns="0" rIns="0" tIns="0" bIns="0" anchor="t">
            <a:noAutofit/>
          </a:bodyPr>
          <a:lstStyle/>
          <a:p>
            <a:pPr marL="127000" indent="-127000">
              <a:spcAft>
                <a:spcPts val="150"/>
              </a:spcAft>
              <a:buSzPct val="100000"/>
              <a:buChar char="•"/>
            </a:pPr>
            <a:r>
              <a:rPr sz="950" b="0" i="0">
                <a:solidFill>
                  <a:schemeClr val="tx1"/>
                </a:solidFill>
              </a:rPr>
              <a:t>Images, decisions and costs</a:t>
            </a:r>
          </a:p>
          <a:p>
            <a:pPr marL="127000" indent="-127000">
              <a:spcAft>
                <a:spcPts val="150"/>
              </a:spcAft>
              <a:buSzPct val="100000"/>
              <a:buChar char="•"/>
            </a:pPr>
            <a:r>
              <a:rPr sz="950" b="0" i="0">
                <a:solidFill>
                  <a:schemeClr val="tx1"/>
                </a:solidFill>
              </a:rPr>
              <a:t>Sources and limits included</a:t>
            </a:r>
          </a:p>
          <a:p>
            <a:pPr marL="127000" indent="-127000">
              <a:spcAft>
                <a:spcPts val="150"/>
              </a:spcAft>
              <a:buSzPct val="100000"/>
              <a:buChar char="•"/>
            </a:pPr>
            <a:r>
              <a:rPr sz="950" b="0" i="0">
                <a:solidFill>
                  <a:schemeClr val="tx1"/>
                </a:solidFill>
              </a:rPr>
              <a:t>PDF download or email</a:t>
            </a:r>
          </a:p>
        </p:txBody>
      </p:sp>
      <p:sp>
        <p:nvSpPr>
          <p:cNvPr id="33" name="Schedule &amp; Notifications label"/>
          <p:cNvSpPr txBox="1"/>
          <p:nvPr/>
        </p:nvSpPr>
        <p:spPr>
          <a:xfrm>
            <a:off x="4960620" y="1280160"/>
            <a:ext cx="1783080" cy="146304"/>
          </a:xfrm>
          <a:prstGeom prst="rect">
            <a:avLst/>
          </a:prstGeom>
          <a:noFill/>
        </p:spPr>
        <p:txBody>
          <a:bodyPr wrap="square" lIns="0" rIns="0" tIns="0" bIns="0" anchor="t">
            <a:noAutofit/>
          </a:bodyPr>
          <a:lstStyle/>
          <a:p>
            <a:r>
              <a:rPr sz="800" b="1" i="0" spc="120">
                <a:solidFill>
                  <a:schemeClr val="tx2"/>
                </a:solidFill>
              </a:rPr>
              <a:t>FEATURE 4</a:t>
            </a:r>
          </a:p>
        </p:txBody>
      </p:sp>
      <p:sp>
        <p:nvSpPr>
          <p:cNvPr id="34" name="Schedule &amp; Notifications heading"/>
          <p:cNvSpPr txBox="1"/>
          <p:nvPr/>
        </p:nvSpPr>
        <p:spPr>
          <a:xfrm>
            <a:off x="4960620" y="1435608"/>
            <a:ext cx="1783080" cy="292608"/>
          </a:xfrm>
          <a:prstGeom prst="rect">
            <a:avLst/>
          </a:prstGeom>
          <a:noFill/>
        </p:spPr>
        <p:txBody>
          <a:bodyPr wrap="square" lIns="0" rIns="0" tIns="0" bIns="0" anchor="ctr">
            <a:noAutofit/>
          </a:bodyPr>
          <a:lstStyle/>
          <a:p>
            <a:r>
              <a:rPr sz="1150" b="1" i="0">
                <a:solidFill>
                  <a:schemeClr val="tx1"/>
                </a:solidFill>
              </a:rPr>
              <a:t>Schedule &amp; Notifications</a:t>
            </a:r>
          </a:p>
        </p:txBody>
      </p:sp>
      <p:sp>
        <p:nvSpPr>
          <p:cNvPr id="35" name="Schedule &amp; Notifications description"/>
          <p:cNvSpPr txBox="1"/>
          <p:nvPr/>
        </p:nvSpPr>
        <p:spPr>
          <a:xfrm>
            <a:off x="4960620" y="1764792"/>
            <a:ext cx="1783080" cy="566928"/>
          </a:xfrm>
          <a:prstGeom prst="rect">
            <a:avLst/>
          </a:prstGeom>
          <a:noFill/>
        </p:spPr>
        <p:txBody>
          <a:bodyPr wrap="square" lIns="0" rIns="0" tIns="0" bIns="0" anchor="t">
            <a:noAutofit/>
          </a:bodyPr>
          <a:lstStyle/>
          <a:p>
            <a:r>
              <a:rPr sz="950" b="0" i="0">
                <a:solidFill>
                  <a:schemeClr val="accent2"/>
                </a:solidFill>
              </a:rPr>
              <a:t>Tasks and events go on the schedule and Google Calendar, with email invitations and alerts.</a:t>
            </a:r>
          </a:p>
        </p:txBody>
      </p:sp>
      <p:sp>
        <p:nvSpPr>
          <p:cNvPr id="36" name="Schedule &amp; Notifications points"/>
          <p:cNvSpPr txBox="1"/>
          <p:nvPr/>
        </p:nvSpPr>
        <p:spPr>
          <a:xfrm>
            <a:off x="4960620" y="2395728"/>
            <a:ext cx="1783080" cy="640080"/>
          </a:xfrm>
          <a:prstGeom prst="rect">
            <a:avLst/>
          </a:prstGeom>
          <a:noFill/>
        </p:spPr>
        <p:txBody>
          <a:bodyPr wrap="square" lIns="0" rIns="0" tIns="0" bIns="0" anchor="t">
            <a:noAutofit/>
          </a:bodyPr>
          <a:lstStyle/>
          <a:p>
            <a:pPr marL="127000" indent="-127000">
              <a:spcAft>
                <a:spcPts val="150"/>
              </a:spcAft>
              <a:buSzPct val="100000"/>
              <a:buChar char="•"/>
            </a:pPr>
            <a:r>
              <a:rPr sz="950" b="0" i="0">
                <a:solidFill>
                  <a:schemeClr val="tx1"/>
                </a:solidFill>
              </a:rPr>
              <a:t>Events on Google Calendar</a:t>
            </a:r>
          </a:p>
          <a:p>
            <a:pPr marL="127000" indent="-127000">
              <a:spcAft>
                <a:spcPts val="150"/>
              </a:spcAft>
              <a:buSzPct val="100000"/>
              <a:buChar char="•"/>
            </a:pPr>
            <a:r>
              <a:rPr sz="950" b="0" i="0">
                <a:solidFill>
                  <a:schemeClr val="tx1"/>
                </a:solidFill>
              </a:rPr>
              <a:t>Email invitations, alerts</a:t>
            </a:r>
          </a:p>
          <a:p>
            <a:pPr marL="127000" indent="-127000">
              <a:spcAft>
                <a:spcPts val="150"/>
              </a:spcAft>
              <a:buSzPct val="100000"/>
              <a:buChar char="•"/>
            </a:pPr>
            <a:r>
              <a:rPr sz="950" b="0" i="0">
                <a:solidFill>
                  <a:schemeClr val="tx1"/>
                </a:solidFill>
              </a:rPr>
              <a:t>Visits next to deadlines</a:t>
            </a:r>
          </a:p>
        </p:txBody>
      </p:sp>
      <p:sp>
        <p:nvSpPr>
          <p:cNvPr id="37" name="Team &amp; Costs label"/>
          <p:cNvSpPr txBox="1"/>
          <p:nvPr/>
        </p:nvSpPr>
        <p:spPr>
          <a:xfrm>
            <a:off x="6903720" y="1280160"/>
            <a:ext cx="1783080" cy="146304"/>
          </a:xfrm>
          <a:prstGeom prst="rect">
            <a:avLst/>
          </a:prstGeom>
          <a:noFill/>
        </p:spPr>
        <p:txBody>
          <a:bodyPr wrap="square" lIns="0" rIns="0" tIns="0" bIns="0" anchor="t">
            <a:noAutofit/>
          </a:bodyPr>
          <a:lstStyle/>
          <a:p>
            <a:r>
              <a:rPr sz="800" b="1" i="0" spc="120">
                <a:solidFill>
                  <a:schemeClr val="tx2"/>
                </a:solidFill>
              </a:rPr>
              <a:t>FEATURE 5</a:t>
            </a:r>
          </a:p>
        </p:txBody>
      </p:sp>
      <p:sp>
        <p:nvSpPr>
          <p:cNvPr id="38" name="Team &amp; Costs heading"/>
          <p:cNvSpPr txBox="1"/>
          <p:nvPr/>
        </p:nvSpPr>
        <p:spPr>
          <a:xfrm>
            <a:off x="6903720" y="1435608"/>
            <a:ext cx="1783080" cy="292608"/>
          </a:xfrm>
          <a:prstGeom prst="rect">
            <a:avLst/>
          </a:prstGeom>
          <a:noFill/>
        </p:spPr>
        <p:txBody>
          <a:bodyPr wrap="square" lIns="0" rIns="0" tIns="0" bIns="0" anchor="ctr">
            <a:noAutofit/>
          </a:bodyPr>
          <a:lstStyle/>
          <a:p>
            <a:r>
              <a:rPr sz="1150" b="1" i="0">
                <a:solidFill>
                  <a:schemeClr val="tx1"/>
                </a:solidFill>
              </a:rPr>
              <a:t>Team &amp; Costs</a:t>
            </a:r>
          </a:p>
        </p:txBody>
      </p:sp>
      <p:sp>
        <p:nvSpPr>
          <p:cNvPr id="39" name="Team &amp; Costs description"/>
          <p:cNvSpPr txBox="1"/>
          <p:nvPr/>
        </p:nvSpPr>
        <p:spPr>
          <a:xfrm>
            <a:off x="6903720" y="1764792"/>
            <a:ext cx="1783080" cy="566928"/>
          </a:xfrm>
          <a:prstGeom prst="rect">
            <a:avLst/>
          </a:prstGeom>
          <a:noFill/>
        </p:spPr>
        <p:txBody>
          <a:bodyPr wrap="square" lIns="0" rIns="0" tIns="0" bIns="0" anchor="t">
            <a:noAutofit/>
          </a:bodyPr>
          <a:lstStyle/>
          <a:p>
            <a:r>
              <a:rPr sz="950" b="0" i="0">
                <a:solidFill>
                  <a:schemeClr val="accent2"/>
                </a:solidFill>
              </a:rPr>
              <a:t>Planned against actual cost per site; an expense counts once approved, with a budget warning.</a:t>
            </a:r>
          </a:p>
        </p:txBody>
      </p:sp>
      <p:sp>
        <p:nvSpPr>
          <p:cNvPr id="40" name="Team &amp; Costs points"/>
          <p:cNvSpPr txBox="1"/>
          <p:nvPr/>
        </p:nvSpPr>
        <p:spPr>
          <a:xfrm>
            <a:off x="6903720" y="2395728"/>
            <a:ext cx="1783080" cy="640080"/>
          </a:xfrm>
          <a:prstGeom prst="rect">
            <a:avLst/>
          </a:prstGeom>
          <a:noFill/>
        </p:spPr>
        <p:txBody>
          <a:bodyPr wrap="square" lIns="0" rIns="0" tIns="0" bIns="0" anchor="t">
            <a:noAutofit/>
          </a:bodyPr>
          <a:lstStyle/>
          <a:p>
            <a:pPr marL="127000" indent="-127000">
              <a:spcAft>
                <a:spcPts val="150"/>
              </a:spcAft>
              <a:buSzPct val="100000"/>
              <a:buChar char="•"/>
            </a:pPr>
            <a:r>
              <a:rPr sz="950" b="0" i="0">
                <a:solidFill>
                  <a:schemeClr val="tx1"/>
                </a:solidFill>
              </a:rPr>
              <a:t>Planned vs actual per site</a:t>
            </a:r>
          </a:p>
          <a:p>
            <a:pPr marL="127000" indent="-127000">
              <a:spcAft>
                <a:spcPts val="150"/>
              </a:spcAft>
              <a:buSzPct val="100000"/>
              <a:buChar char="•"/>
            </a:pPr>
            <a:r>
              <a:rPr sz="950" b="0" i="0">
                <a:solidFill>
                  <a:schemeClr val="tx1"/>
                </a:solidFill>
              </a:rPr>
              <a:t>Approved expenses only</a:t>
            </a:r>
          </a:p>
          <a:p>
            <a:pPr marL="127000" indent="-127000">
              <a:spcAft>
                <a:spcPts val="150"/>
              </a:spcAft>
              <a:buSzPct val="100000"/>
              <a:buChar char="•"/>
            </a:pPr>
            <a:r>
              <a:rPr sz="950" b="0" i="0">
                <a:solidFill>
                  <a:schemeClr val="tx1"/>
                </a:solidFill>
              </a:rPr>
              <a:t>Over-budget email warning</a:t>
            </a:r>
          </a:p>
        </p:txBody>
      </p:sp>
      <p:pic>
        <p:nvPicPr>
          <p:cNvPr id="41" name="PDF report page" descr="The report PDF"/>
          <p:cNvPicPr>
            <a:picLocks noChangeAspect="1"/>
          </p:cNvPicPr>
          <p:nvPr/>
        </p:nvPicPr>
        <p:blipFill>
          <a:blip r:embed="rId4"/>
          <a:stretch>
            <a:fillRect/>
          </a:stretch>
        </p:blipFill>
        <p:spPr>
          <a:xfrm>
            <a:off x="3017520" y="3291840"/>
            <a:ext cx="2697480" cy="1234440"/>
          </a:xfrm>
          <a:prstGeom prst="rect">
            <a:avLst/>
          </a:prstGeom>
        </p:spPr>
      </p:pic>
      <p:sp>
        <p:nvSpPr>
          <p:cNvPr id="42" name="PDF report page frame"/>
          <p:cNvSpPr/>
          <p:nvPr/>
        </p:nvSpPr>
        <p:spPr>
          <a:xfrm>
            <a:off x="3017520" y="3291840"/>
            <a:ext cx="2697480" cy="1234440"/>
          </a:xfrm>
          <a:prstGeom prst="rect">
            <a:avLst/>
          </a:prstGeom>
          <a:noFill/>
          <a:ln w="9525">
            <a:solidFill>
              <a:schemeClr val="accent4"/>
            </a:solidFill>
          </a:ln>
        </p:spPr>
        <p:txBody>
          <a:bodyPr rtlCol="0" anchor="ctr"/>
          <a:lstStyle/>
          <a:p>
            <a:pPr algn="ctr"/>
          </a:p>
        </p:txBody>
      </p:sp>
      <p:sp>
        <p:nvSpPr>
          <p:cNvPr id="43" name="PDF caption"/>
          <p:cNvSpPr txBox="1"/>
          <p:nvPr/>
        </p:nvSpPr>
        <p:spPr>
          <a:xfrm>
            <a:off x="3017520" y="4590288"/>
            <a:ext cx="2697480" cy="201168"/>
          </a:xfrm>
          <a:prstGeom prst="rect">
            <a:avLst/>
          </a:prstGeom>
          <a:noFill/>
        </p:spPr>
        <p:txBody>
          <a:bodyPr wrap="square" lIns="0" rIns="0" tIns="0" bIns="0" anchor="t">
            <a:noAutofit/>
          </a:bodyPr>
          <a:lstStyle/>
          <a:p>
            <a:r>
              <a:rPr sz="950" b="0" i="0">
                <a:solidFill>
                  <a:schemeClr val="accent2"/>
                </a:solidFill>
              </a:rPr>
              <a:t>The PDF the person downloads</a:t>
            </a:r>
          </a:p>
        </p:txBody>
      </p:sp>
      <p:pic>
        <p:nvPicPr>
          <p:cNvPr id="44" name="Budgets page" descr="The budgets page: planned against actual cost per water body"/>
          <p:cNvPicPr>
            <a:picLocks noChangeAspect="1"/>
          </p:cNvPicPr>
          <p:nvPr/>
        </p:nvPicPr>
        <p:blipFill>
          <a:blip r:embed="rId5"/>
          <a:stretch>
            <a:fillRect/>
          </a:stretch>
        </p:blipFill>
        <p:spPr>
          <a:xfrm>
            <a:off x="5989320" y="3291840"/>
            <a:ext cx="2697480" cy="1234440"/>
          </a:xfrm>
          <a:prstGeom prst="rect">
            <a:avLst/>
          </a:prstGeom>
        </p:spPr>
      </p:pic>
      <p:sp>
        <p:nvSpPr>
          <p:cNvPr id="45" name="Budgets page frame"/>
          <p:cNvSpPr/>
          <p:nvPr/>
        </p:nvSpPr>
        <p:spPr>
          <a:xfrm>
            <a:off x="5989320" y="3291840"/>
            <a:ext cx="2697480" cy="1234440"/>
          </a:xfrm>
          <a:prstGeom prst="rect">
            <a:avLst/>
          </a:prstGeom>
          <a:noFill/>
          <a:ln w="9525">
            <a:solidFill>
              <a:schemeClr val="accent4"/>
            </a:solidFill>
          </a:ln>
        </p:spPr>
        <p:txBody>
          <a:bodyPr rtlCol="0" anchor="ctr"/>
          <a:lstStyle/>
          <a:p>
            <a:pPr algn="ctr"/>
          </a:p>
        </p:txBody>
      </p:sp>
      <p:sp>
        <p:nvSpPr>
          <p:cNvPr id="46" name="Budget caption"/>
          <p:cNvSpPr txBox="1"/>
          <p:nvPr/>
        </p:nvSpPr>
        <p:spPr>
          <a:xfrm>
            <a:off x="5989320" y="4590288"/>
            <a:ext cx="2697480" cy="201168"/>
          </a:xfrm>
          <a:prstGeom prst="rect">
            <a:avLst/>
          </a:prstGeom>
          <a:noFill/>
        </p:spPr>
        <p:txBody>
          <a:bodyPr wrap="square" lIns="0" rIns="0" tIns="0" bIns="0" anchor="t">
            <a:noAutofit/>
          </a:bodyPr>
          <a:lstStyle/>
          <a:p>
            <a:r>
              <a:rPr sz="950" b="0" i="0">
                <a:solidFill>
                  <a:schemeClr val="accent2"/>
                </a:solidFill>
              </a:rPr>
              <a:t>Budgets: planned against actual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Bangla AI Assistant</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Ask in Bangla and get answers from the organisation’s own data, so no one has to dig through the database.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
        <p:nvSpPr>
          <p:cNvPr id="26" name="Data 1"/>
          <p:cNvSpPr/>
          <p:nvPr/>
        </p:nvSpPr>
        <p:spPr>
          <a:xfrm>
            <a:off x="457200" y="160020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Site and satellite records</a:t>
            </a:r>
          </a:p>
        </p:txBody>
      </p:sp>
      <p:sp>
        <p:nvSpPr>
          <p:cNvPr id="27" name="Data 2"/>
          <p:cNvSpPr/>
          <p:nvPr/>
        </p:nvSpPr>
        <p:spPr>
          <a:xfrm>
            <a:off x="457200" y="187452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Community reports</a:t>
            </a:r>
          </a:p>
        </p:txBody>
      </p:sp>
      <p:sp>
        <p:nvSpPr>
          <p:cNvPr id="28" name="Data 3"/>
          <p:cNvSpPr/>
          <p:nvPr/>
        </p:nvSpPr>
        <p:spPr>
          <a:xfrm>
            <a:off x="457200" y="214884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Tasks and costs</a:t>
            </a:r>
          </a:p>
        </p:txBody>
      </p:sp>
      <p:sp>
        <p:nvSpPr>
          <p:cNvPr id="29" name="Data 4"/>
          <p:cNvSpPr/>
          <p:nvPr/>
        </p:nvSpPr>
        <p:spPr>
          <a:xfrm>
            <a:off x="457200" y="242316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Field notes and photos</a:t>
            </a:r>
          </a:p>
        </p:txBody>
      </p:sp>
      <p:sp>
        <p:nvSpPr>
          <p:cNvPr id="30" name="Assistant"/>
          <p:cNvSpPr/>
          <p:nvPr/>
        </p:nvSpPr>
        <p:spPr>
          <a:xfrm>
            <a:off x="2331720" y="1801368"/>
            <a:ext cx="1280160" cy="749808"/>
          </a:xfrm>
          <a:prstGeom prst="roundRect">
            <a:avLst>
              <a:gd name="adj" fmla="val 10000"/>
            </a:avLst>
          </a:prstGeom>
          <a:solidFill>
            <a:schemeClr val="accent1"/>
          </a:solidFill>
          <a:ln>
            <a:noFill/>
          </a:ln>
          <a:effectLst/>
        </p:spPr>
        <p:txBody>
          <a:bodyPr rtlCol="0" anchor="ctr" wrap="square" lIns="45720" rIns="45720"/>
          <a:lstStyle/>
          <a:p>
            <a:pPr algn="ctr"/>
            <a:r>
              <a:rPr sz="1000" b="1" i="0">
                <a:solidFill>
                  <a:schemeClr val="bg1"/>
                </a:solidFill>
              </a:rPr>
              <a:t>Bangla AI assistant</a:t>
            </a:r>
          </a:p>
          <a:p>
            <a:pPr algn="ctr"/>
            <a:r>
              <a:rPr sz="850" b="0" i="0">
                <a:solidFill>
                  <a:schemeClr val="bg1"/>
                </a:solidFill>
              </a:rPr>
              <a:t>trained on company data</a:t>
            </a:r>
          </a:p>
        </p:txBody>
      </p:sp>
      <p:sp>
        <p:nvSpPr>
          <p:cNvPr id="31" name="Answer"/>
          <p:cNvSpPr/>
          <p:nvPr/>
        </p:nvSpPr>
        <p:spPr>
          <a:xfrm>
            <a:off x="4023360" y="1801368"/>
            <a:ext cx="1188720" cy="749808"/>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Answer in Bangla</a:t>
            </a:r>
          </a:p>
          <a:p>
            <a:pPr algn="ctr"/>
            <a:r>
              <a:rPr sz="750" b="0" i="0">
                <a:solidFill>
                  <a:schemeClr val="accent2"/>
                </a:solidFill>
              </a:rPr>
              <a:t>with its source record</a:t>
            </a:r>
          </a:p>
        </p:txBody>
      </p:sp>
      <p:sp>
        <p:nvSpPr>
          <p:cNvPr id="32" name="Asker"/>
          <p:cNvSpPr txBox="1"/>
          <p:nvPr/>
        </p:nvSpPr>
        <p:spPr>
          <a:xfrm>
            <a:off x="2148840" y="1472184"/>
            <a:ext cx="1645920" cy="182880"/>
          </a:xfrm>
          <a:prstGeom prst="rect">
            <a:avLst/>
          </a:prstGeom>
          <a:noFill/>
        </p:spPr>
        <p:txBody>
          <a:bodyPr wrap="square" lIns="0" rIns="0" tIns="0" bIns="0" anchor="t">
            <a:noAutofit/>
          </a:bodyPr>
          <a:lstStyle/>
          <a:p>
            <a:pPr algn="ctr"/>
            <a:r>
              <a:rPr sz="850" b="1" i="0">
                <a:solidFill>
                  <a:schemeClr val="tx2"/>
                </a:solidFill>
              </a:rPr>
              <a:t>A team member asks in Bangla</a:t>
            </a:r>
          </a:p>
        </p:txBody>
      </p:sp>
      <p:cxnSp>
        <p:nvCxnSpPr>
          <p:cNvPr id="33" name="Connector 32"/>
          <p:cNvCxnSpPr/>
          <p:nvPr/>
        </p:nvCxnSpPr>
        <p:spPr>
          <a:xfrm>
            <a:off x="2971800" y="1664208"/>
            <a:ext cx="0" cy="137160"/>
          </a:xfrm>
          <a:prstGeom prst="line">
            <a:avLst/>
          </a:prstGeom>
          <a:ln w="15875" cap="rnd">
            <a:solidFill>
              <a:schemeClr val="accent2"/>
            </a:solidFill>
            <a:tailEnd type="triangle" w="med" len="med"/>
          </a:ln>
        </p:spPr>
      </p:cxnSp>
      <p:cxnSp>
        <p:nvCxnSpPr>
          <p:cNvPr id="34" name="Connector 33"/>
          <p:cNvCxnSpPr/>
          <p:nvPr/>
        </p:nvCxnSpPr>
        <p:spPr>
          <a:xfrm>
            <a:off x="1920240" y="2176272"/>
            <a:ext cx="411480" cy="0"/>
          </a:xfrm>
          <a:prstGeom prst="line">
            <a:avLst/>
          </a:prstGeom>
          <a:ln w="15875" cap="rnd">
            <a:solidFill>
              <a:schemeClr val="accent2"/>
            </a:solidFill>
            <a:tailEnd type="triangle" w="med" len="med"/>
          </a:ln>
        </p:spPr>
      </p:cxnSp>
      <p:cxnSp>
        <p:nvCxnSpPr>
          <p:cNvPr id="35" name="Connector 34"/>
          <p:cNvCxnSpPr/>
          <p:nvPr/>
        </p:nvCxnSpPr>
        <p:spPr>
          <a:xfrm>
            <a:off x="3611880" y="2176272"/>
            <a:ext cx="411480" cy="0"/>
          </a:xfrm>
          <a:prstGeom prst="line">
            <a:avLst/>
          </a:prstGeom>
          <a:ln w="15875" cap="rnd">
            <a:solidFill>
              <a:schemeClr val="accent2"/>
            </a:solidFill>
            <a:tailEnd type="triangle" w="med" len="med"/>
          </a:ln>
        </p:spPr>
      </p:cxnSp>
      <p:sp>
        <p:nvSpPr>
          <p:cNvPr id="36" name="Today heading"/>
          <p:cNvSpPr txBox="1"/>
          <p:nvPr/>
        </p:nvSpPr>
        <p:spPr>
          <a:xfrm>
            <a:off x="457200" y="2834640"/>
            <a:ext cx="2377440" cy="274320"/>
          </a:xfrm>
          <a:prstGeom prst="rect">
            <a:avLst/>
          </a:prstGeom>
          <a:noFill/>
        </p:spPr>
        <p:txBody>
          <a:bodyPr wrap="square" lIns="0" rIns="0" tIns="0" bIns="0" anchor="ctr">
            <a:noAutofit/>
          </a:bodyPr>
          <a:lstStyle/>
          <a:p>
            <a:r>
              <a:rPr sz="1200" b="1" i="0">
                <a:solidFill>
                  <a:schemeClr val="tx1"/>
                </a:solidFill>
              </a:rPr>
              <a:t>Today: guided answers</a:t>
            </a:r>
          </a:p>
        </p:txBody>
      </p:sp>
      <p:sp>
        <p:nvSpPr>
          <p:cNvPr id="37" name="Today points"/>
          <p:cNvSpPr txBox="1"/>
          <p:nvPr/>
        </p:nvSpPr>
        <p:spPr>
          <a:xfrm>
            <a:off x="457200" y="3127248"/>
            <a:ext cx="2377440" cy="1280160"/>
          </a:xfrm>
          <a:prstGeom prst="rect">
            <a:avLst/>
          </a:prstGeom>
          <a:noFill/>
        </p:spPr>
        <p:txBody>
          <a:bodyPr wrap="square" lIns="0" rIns="0" tIns="0" bIns="0" anchor="t">
            <a:noAutofit/>
          </a:bodyPr>
          <a:lstStyle/>
          <a:p>
            <a:pPr marL="127000" indent="-127000">
              <a:spcAft>
                <a:spcPts val="300"/>
              </a:spcAft>
              <a:buSzPct val="100000"/>
              <a:buChar char="•"/>
            </a:pPr>
            <a:r>
              <a:rPr sz="1000" b="0" i="0">
                <a:solidFill>
                  <a:schemeClr val="tx1"/>
                </a:solidFill>
              </a:rPr>
              <a:t>Answers a set list of questions from live project records</a:t>
            </a:r>
          </a:p>
          <a:p>
            <a:pPr marL="127000" indent="-127000">
              <a:spcAft>
                <a:spcPts val="300"/>
              </a:spcAft>
              <a:buSzPct val="100000"/>
              <a:buChar char="•"/>
            </a:pPr>
            <a:r>
              <a:rPr sz="1000" b="0" i="0">
                <a:solidFill>
                  <a:schemeClr val="tx1"/>
                </a:solidFill>
              </a:rPr>
              <a:t>Shows the source record for each answer</a:t>
            </a:r>
          </a:p>
          <a:p>
            <a:pPr marL="127000" indent="-127000">
              <a:spcAft>
                <a:spcPts val="300"/>
              </a:spcAft>
              <a:buSzPct val="100000"/>
              <a:buChar char="•"/>
            </a:pPr>
            <a:r>
              <a:rPr sz="1000" b="0" i="0">
                <a:solidFill>
                  <a:schemeClr val="tx1"/>
                </a:solidFill>
              </a:rPr>
              <a:t>Says clearly when data is missing</a:t>
            </a:r>
          </a:p>
        </p:txBody>
      </p:sp>
      <p:sp>
        <p:nvSpPr>
          <p:cNvPr id="38" name="Next heading"/>
          <p:cNvSpPr txBox="1"/>
          <p:nvPr/>
        </p:nvSpPr>
        <p:spPr>
          <a:xfrm>
            <a:off x="3017520" y="2834640"/>
            <a:ext cx="2377440" cy="274320"/>
          </a:xfrm>
          <a:prstGeom prst="rect">
            <a:avLst/>
          </a:prstGeom>
          <a:noFill/>
        </p:spPr>
        <p:txBody>
          <a:bodyPr wrap="square" lIns="0" rIns="0" tIns="0" bIns="0" anchor="ctr">
            <a:noAutofit/>
          </a:bodyPr>
          <a:lstStyle/>
          <a:p>
            <a:r>
              <a:rPr sz="1200" b="1" i="0">
                <a:solidFill>
                  <a:schemeClr val="tx1"/>
                </a:solidFill>
              </a:rPr>
              <a:t>Next step: train it on our data</a:t>
            </a:r>
          </a:p>
        </p:txBody>
      </p:sp>
      <p:sp>
        <p:nvSpPr>
          <p:cNvPr id="39" name="Next points"/>
          <p:cNvSpPr txBox="1"/>
          <p:nvPr/>
        </p:nvSpPr>
        <p:spPr>
          <a:xfrm>
            <a:off x="3017520" y="3127248"/>
            <a:ext cx="2286000" cy="1554480"/>
          </a:xfrm>
          <a:prstGeom prst="rect">
            <a:avLst/>
          </a:prstGeom>
          <a:noFill/>
        </p:spPr>
        <p:txBody>
          <a:bodyPr wrap="square" lIns="0" rIns="0" tIns="0" bIns="0" anchor="t">
            <a:noAutofit/>
          </a:bodyPr>
          <a:lstStyle/>
          <a:p>
            <a:pPr marL="127000" indent="-127000">
              <a:spcAft>
                <a:spcPts val="300"/>
              </a:spcAft>
              <a:buSzPct val="100000"/>
              <a:buChar char="•"/>
            </a:pPr>
            <a:r>
              <a:rPr sz="1000" b="0" i="0">
                <a:solidFill>
                  <a:schemeClr val="tx1"/>
                </a:solidFill>
              </a:rPr>
              <a:t>Train it on the organisation’s own data: past reports, site records, costs and field notes</a:t>
            </a:r>
          </a:p>
          <a:p>
            <a:pPr marL="127000" indent="-127000">
              <a:spcAft>
                <a:spcPts val="300"/>
              </a:spcAft>
              <a:buSzPct val="100000"/>
              <a:buChar char="•"/>
            </a:pPr>
            <a:r>
              <a:rPr sz="1000" b="0" i="0">
                <a:solidFill>
                  <a:schemeClr val="tx1"/>
                </a:solidFill>
              </a:rPr>
              <a:t>Anyone can ask in Bangla, without asking colleagues or searching the database</a:t>
            </a:r>
          </a:p>
          <a:p>
            <a:pPr marL="127000" indent="-127000">
              <a:spcAft>
                <a:spcPts val="300"/>
              </a:spcAft>
              <a:buSzPct val="100000"/>
              <a:buChar char="•"/>
            </a:pPr>
            <a:r>
              <a:rPr sz="1000" b="0" i="0">
                <a:solidFill>
                  <a:schemeClr val="tx1"/>
                </a:solidFill>
              </a:rPr>
              <a:t>Answers stay within what each role may see</a:t>
            </a:r>
          </a:p>
        </p:txBody>
      </p:sp>
      <p:pic>
        <p:nvPicPr>
          <p:cNvPr id="40" name="Bangla assistant screenshot" descr="Bangla assistant answering a question about reports to verify"/>
          <p:cNvPicPr>
            <a:picLocks noChangeAspect="1"/>
          </p:cNvPicPr>
          <p:nvPr/>
        </p:nvPicPr>
        <p:blipFill>
          <a:blip r:embed="rId2"/>
          <a:stretch>
            <a:fillRect/>
          </a:stretch>
        </p:blipFill>
        <p:spPr>
          <a:xfrm>
            <a:off x="5486400" y="1325880"/>
            <a:ext cx="3200400" cy="1920240"/>
          </a:xfrm>
          <a:prstGeom prst="rect">
            <a:avLst/>
          </a:prstGeom>
        </p:spPr>
      </p:pic>
      <p:sp>
        <p:nvSpPr>
          <p:cNvPr id="41" name="Bangla assistant screenshot frame"/>
          <p:cNvSpPr/>
          <p:nvPr/>
        </p:nvSpPr>
        <p:spPr>
          <a:xfrm>
            <a:off x="5486400" y="1325880"/>
            <a:ext cx="3200400" cy="1920240"/>
          </a:xfrm>
          <a:prstGeom prst="rect">
            <a:avLst/>
          </a:prstGeom>
          <a:noFill/>
          <a:ln w="9525">
            <a:solidFill>
              <a:schemeClr val="accent4"/>
            </a:solidFill>
          </a:ln>
        </p:spPr>
        <p:txBody>
          <a:bodyPr rtlCol="0" anchor="ctr"/>
          <a:lstStyle/>
          <a:p>
            <a:pPr algn="ctr"/>
          </a:p>
        </p:txBody>
      </p:sp>
      <p:sp>
        <p:nvSpPr>
          <p:cNvPr id="42" name="Screenshot caption"/>
          <p:cNvSpPr txBox="1"/>
          <p:nvPr/>
        </p:nvSpPr>
        <p:spPr>
          <a:xfrm>
            <a:off x="5486400" y="3310128"/>
            <a:ext cx="3200400" cy="365760"/>
          </a:xfrm>
          <a:prstGeom prst="rect">
            <a:avLst/>
          </a:prstGeom>
          <a:noFill/>
        </p:spPr>
        <p:txBody>
          <a:bodyPr wrap="square" lIns="0" rIns="0" tIns="0" bIns="0" anchor="t">
            <a:noAutofit/>
          </a:bodyPr>
          <a:lstStyle/>
          <a:p>
            <a:r>
              <a:rPr sz="950" b="0" i="0">
                <a:solidFill>
                  <a:schemeClr val="accent2"/>
                </a:solidFill>
              </a:rPr>
              <a:t>Live prototype: a guided assistant that answers from the current records and names its source.</a:t>
            </a:r>
          </a:p>
        </p:txBody>
      </p:sp>
      <p:sp>
        <p:nvSpPr>
          <p:cNvPr id="43" name="Goal"/>
          <p:cNvSpPr/>
          <p:nvPr/>
        </p:nvSpPr>
        <p:spPr>
          <a:xfrm>
            <a:off x="5486400" y="3840480"/>
            <a:ext cx="3200400" cy="640080"/>
          </a:xfrm>
          <a:prstGeom prst="roundRect">
            <a:avLst>
              <a:gd name="adj" fmla="val 8000"/>
            </a:avLst>
          </a:prstGeom>
          <a:solidFill>
            <a:schemeClr val="bg2"/>
          </a:solidFill>
          <a:ln>
            <a:noFill/>
          </a:ln>
          <a:effectLst/>
        </p:spPr>
        <p:txBody>
          <a:bodyPr rtlCol="0" anchor="ctr" wrap="square" lIns="109728" rIns="109728"/>
          <a:lstStyle/>
          <a:p>
            <a:pPr algn="l"/>
            <a:r>
              <a:rPr sz="1050" b="1" i="0">
                <a:solidFill>
                  <a:schemeClr val="tx2"/>
                </a:solidFill>
              </a:rPr>
              <a:t>The goal: less time spent searching for information, and fewer people needed to find it.</a:t>
            </a:r>
          </a:p>
        </p:txBody>
      </p:sp>
      <p:sp>
        <p:nvSpPr>
          <p:cNvPr id="44" name="Feature label"/>
          <p:cNvSpPr txBox="1"/>
          <p:nvPr/>
        </p:nvSpPr>
        <p:spPr>
          <a:xfrm>
            <a:off x="457200" y="1261872"/>
            <a:ext cx="2743200" cy="146304"/>
          </a:xfrm>
          <a:prstGeom prst="rect">
            <a:avLst/>
          </a:prstGeom>
          <a:noFill/>
        </p:spPr>
        <p:txBody>
          <a:bodyPr wrap="square" lIns="0" rIns="0" tIns="0" bIns="0" anchor="t">
            <a:noAutofit/>
          </a:bodyPr>
          <a:lstStyle/>
          <a:p>
            <a:r>
              <a:rPr sz="800" b="1" i="0" spc="120">
                <a:solidFill>
                  <a:schemeClr val="tx2"/>
                </a:solidFill>
              </a:rPr>
              <a:t>FEATURE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Expected Impact &amp; Vision</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Built for small NGO teams that protect wetlands. Local communities are the ones who benefit.</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
        <p:nvSpPr>
          <p:cNvPr id="26" name="Impact label"/>
          <p:cNvSpPr txBox="1"/>
          <p:nvPr/>
        </p:nvSpPr>
        <p:spPr>
          <a:xfrm>
            <a:off x="457200" y="1280160"/>
            <a:ext cx="4572000" cy="146304"/>
          </a:xfrm>
          <a:prstGeom prst="rect">
            <a:avLst/>
          </a:prstGeom>
          <a:noFill/>
        </p:spPr>
        <p:txBody>
          <a:bodyPr wrap="square" lIns="0" rIns="0" tIns="0" bIns="0" anchor="t">
            <a:noAutofit/>
          </a:bodyPr>
          <a:lstStyle/>
          <a:p>
            <a:r>
              <a:rPr sz="800" b="1" i="0" spc="120">
                <a:solidFill>
                  <a:schemeClr val="tx2"/>
                </a:solidFill>
              </a:rPr>
              <a:t>EXPECTED IMPACT</a:t>
            </a:r>
          </a:p>
        </p:txBody>
      </p:sp>
      <p:sp>
        <p:nvSpPr>
          <p:cNvPr id="27" name="Help heading"/>
          <p:cNvSpPr txBox="1"/>
          <p:nvPr/>
        </p:nvSpPr>
        <p:spPr>
          <a:xfrm>
            <a:off x="457200" y="1435608"/>
            <a:ext cx="4572000" cy="310896"/>
          </a:xfrm>
          <a:prstGeom prst="rect">
            <a:avLst/>
          </a:prstGeom>
          <a:noFill/>
        </p:spPr>
        <p:txBody>
          <a:bodyPr wrap="square" lIns="0" rIns="0" tIns="0" bIns="0" anchor="ctr">
            <a:noAutofit/>
          </a:bodyPr>
          <a:lstStyle/>
          <a:p>
            <a:r>
              <a:rPr sz="1600" b="1" i="0">
                <a:solidFill>
                  <a:schemeClr val="tx1"/>
                </a:solidFill>
              </a:rPr>
              <a:t>How will TerraLink help?</a:t>
            </a:r>
          </a:p>
        </p:txBody>
      </p:sp>
      <p:sp>
        <p:nvSpPr>
          <p:cNvPr id="28" name="Help description"/>
          <p:cNvSpPr txBox="1"/>
          <p:nvPr/>
        </p:nvSpPr>
        <p:spPr>
          <a:xfrm>
            <a:off x="457200" y="1792224"/>
            <a:ext cx="4114800" cy="411480"/>
          </a:xfrm>
          <a:prstGeom prst="rect">
            <a:avLst/>
          </a:prstGeom>
          <a:noFill/>
        </p:spPr>
        <p:txBody>
          <a:bodyPr wrap="square" lIns="0" rIns="0" tIns="0" bIns="0" anchor="t">
            <a:noAutofit/>
          </a:bodyPr>
          <a:lstStyle/>
          <a:p>
            <a:r>
              <a:rPr sz="1200" b="0" i="0">
                <a:solidFill>
                  <a:schemeClr val="accent2"/>
                </a:solidFill>
              </a:rPr>
              <a:t>One shared record connects residents’ reports, satellite evidence, field work and expenses.</a:t>
            </a:r>
          </a:p>
        </p:txBody>
      </p:sp>
      <p:sp>
        <p:nvSpPr>
          <p:cNvPr id="29" name="Help points"/>
          <p:cNvSpPr txBox="1"/>
          <p:nvPr/>
        </p:nvSpPr>
        <p:spPr>
          <a:xfrm>
            <a:off x="457200" y="2286000"/>
            <a:ext cx="4572000" cy="1005840"/>
          </a:xfrm>
          <a:prstGeom prst="rect">
            <a:avLst/>
          </a:prstGeom>
          <a:noFill/>
        </p:spPr>
        <p:txBody>
          <a:bodyPr wrap="square" lIns="0" rIns="0" tIns="0" bIns="0" anchor="t">
            <a:noAutofit/>
          </a:bodyPr>
          <a:lstStyle/>
          <a:p>
            <a:pPr marL="127000" indent="-127000">
              <a:spcAft>
                <a:spcPts val="450"/>
              </a:spcAft>
              <a:buSzPct val="100000"/>
              <a:buChar char="•"/>
            </a:pPr>
            <a:r>
              <a:rPr sz="1200" b="0" i="0">
                <a:solidFill>
                  <a:schemeClr val="tx1"/>
                </a:solidFill>
              </a:rPr>
              <a:t>Managers see findings and pending work in one place.</a:t>
            </a:r>
          </a:p>
          <a:p>
            <a:pPr marL="127000" indent="-127000">
              <a:spcAft>
                <a:spcPts val="450"/>
              </a:spcAft>
              <a:buSzPct val="100000"/>
              <a:buChar char="•"/>
            </a:pPr>
            <a:r>
              <a:rPr sz="1200" b="0" i="0">
                <a:solidFill>
                  <a:schemeClr val="tx1"/>
                </a:solidFill>
              </a:rPr>
              <a:t>Report and upload problems with a photo, and follow the result.</a:t>
            </a:r>
          </a:p>
          <a:p>
            <a:pPr marL="127000" indent="-127000">
              <a:spcAft>
                <a:spcPts val="450"/>
              </a:spcAft>
              <a:buSzPct val="100000"/>
              <a:buChar char="•"/>
            </a:pPr>
            <a:r>
              <a:rPr sz="1200" b="0" i="0">
                <a:solidFill>
                  <a:schemeClr val="tx1"/>
                </a:solidFill>
              </a:rPr>
              <a:t>Responsibilities, deadlines and expenses are easy to track.</a:t>
            </a:r>
          </a:p>
          <a:p>
            <a:pPr marL="127000" indent="-127000">
              <a:spcAft>
                <a:spcPts val="450"/>
              </a:spcAft>
              <a:buSzPct val="100000"/>
              <a:buChar char="•"/>
            </a:pPr>
            <a:r>
              <a:rPr sz="1200" b="0" i="0">
                <a:solidFill>
                  <a:schemeClr val="tx1"/>
                </a:solidFill>
              </a:rPr>
              <a:t>Reports go out by email as a PDF.</a:t>
            </a:r>
          </a:p>
        </p:txBody>
      </p:sp>
      <p:sp>
        <p:nvSpPr>
          <p:cNvPr id="30" name="Impact note"/>
          <p:cNvSpPr txBox="1"/>
          <p:nvPr/>
        </p:nvSpPr>
        <p:spPr>
          <a:xfrm>
            <a:off x="457200" y="3401568"/>
            <a:ext cx="4572000" cy="201168"/>
          </a:xfrm>
          <a:prstGeom prst="rect">
            <a:avLst/>
          </a:prstGeom>
          <a:noFill/>
        </p:spPr>
        <p:txBody>
          <a:bodyPr wrap="square" lIns="0" rIns="0" tIns="0" bIns="0" anchor="t">
            <a:noAutofit/>
          </a:bodyPr>
          <a:lstStyle/>
          <a:p>
            <a:r>
              <a:rPr sz="900" b="0" i="1">
                <a:solidFill>
                  <a:schemeClr val="accent2"/>
                </a:solidFill>
              </a:rPr>
              <a:t>Actual impact will be evaluated through user feedback and project results.</a:t>
            </a:r>
          </a:p>
        </p:txBody>
      </p:sp>
      <p:sp>
        <p:nvSpPr>
          <p:cNvPr id="31" name="First step and vision card"/>
          <p:cNvSpPr/>
          <p:nvPr/>
        </p:nvSpPr>
        <p:spPr>
          <a:xfrm>
            <a:off x="457200" y="3657600"/>
            <a:ext cx="4572000" cy="1051560"/>
          </a:xfrm>
          <a:prstGeom prst="roundRect">
            <a:avLst>
              <a:gd name="adj" fmla="val 7000"/>
            </a:avLst>
          </a:prstGeom>
          <a:solidFill>
            <a:schemeClr val="bg2"/>
          </a:solidFill>
          <a:ln>
            <a:noFill/>
          </a:ln>
          <a:effectLst/>
        </p:spPr>
        <p:txBody>
          <a:bodyPr rtlCol="0" anchor="ctr"/>
          <a:lstStyle/>
          <a:p>
            <a:pPr algn="ctr"/>
          </a:p>
        </p:txBody>
      </p:sp>
      <p:cxnSp>
        <p:nvCxnSpPr>
          <p:cNvPr id="32" name="Card divider"/>
          <p:cNvCxnSpPr/>
          <p:nvPr/>
        </p:nvCxnSpPr>
        <p:spPr>
          <a:xfrm>
            <a:off x="2697480" y="3776472"/>
            <a:ext cx="0" cy="813816"/>
          </a:xfrm>
          <a:prstGeom prst="line">
            <a:avLst/>
          </a:prstGeom>
          <a:ln w="9525">
            <a:solidFill>
              <a:schemeClr val="accent4"/>
            </a:solidFill>
          </a:ln>
        </p:spPr>
      </p:cxnSp>
      <p:sp>
        <p:nvSpPr>
          <p:cNvPr id="33" name="A focused first step heading"/>
          <p:cNvSpPr txBox="1"/>
          <p:nvPr/>
        </p:nvSpPr>
        <p:spPr>
          <a:xfrm>
            <a:off x="658368" y="3749040"/>
            <a:ext cx="1828800" cy="201168"/>
          </a:xfrm>
          <a:prstGeom prst="rect">
            <a:avLst/>
          </a:prstGeom>
          <a:noFill/>
        </p:spPr>
        <p:txBody>
          <a:bodyPr wrap="square" lIns="0" rIns="0" tIns="0" bIns="0" anchor="t">
            <a:noAutofit/>
          </a:bodyPr>
          <a:lstStyle/>
          <a:p>
            <a:r>
              <a:rPr sz="1100" b="1" i="0">
                <a:solidFill>
                  <a:schemeClr val="tx2"/>
                </a:solidFill>
              </a:rPr>
              <a:t>A focused first step</a:t>
            </a:r>
          </a:p>
        </p:txBody>
      </p:sp>
      <p:sp>
        <p:nvSpPr>
          <p:cNvPr id="34" name="A focused first step text"/>
          <p:cNvSpPr txBox="1"/>
          <p:nvPr/>
        </p:nvSpPr>
        <p:spPr>
          <a:xfrm>
            <a:off x="658368" y="3968496"/>
            <a:ext cx="1828800" cy="713232"/>
          </a:xfrm>
          <a:prstGeom prst="rect">
            <a:avLst/>
          </a:prstGeom>
          <a:noFill/>
        </p:spPr>
        <p:txBody>
          <a:bodyPr wrap="square" lIns="0" rIns="0" tIns="0" bIns="0" anchor="t">
            <a:noAutofit/>
          </a:bodyPr>
          <a:lstStyle/>
          <a:p>
            <a:r>
              <a:rPr sz="900" b="0" i="0">
                <a:solidFill>
                  <a:schemeClr val="tx1"/>
                </a:solidFill>
              </a:rPr>
              <a:t>Five selected Dhaka ponds and wetlands, built on existing satellite data and free tools, with sample records where real data is not available.</a:t>
            </a:r>
          </a:p>
        </p:txBody>
      </p:sp>
      <p:sp>
        <p:nvSpPr>
          <p:cNvPr id="35" name="Our vision heading"/>
          <p:cNvSpPr txBox="1"/>
          <p:nvPr/>
        </p:nvSpPr>
        <p:spPr>
          <a:xfrm>
            <a:off x="2880360" y="3749040"/>
            <a:ext cx="2011680" cy="201168"/>
          </a:xfrm>
          <a:prstGeom prst="rect">
            <a:avLst/>
          </a:prstGeom>
          <a:noFill/>
        </p:spPr>
        <p:txBody>
          <a:bodyPr wrap="square" lIns="0" rIns="0" tIns="0" bIns="0" anchor="t">
            <a:noAutofit/>
          </a:bodyPr>
          <a:lstStyle/>
          <a:p>
            <a:r>
              <a:rPr sz="1100" b="1" i="0">
                <a:solidFill>
                  <a:schemeClr val="tx2"/>
                </a:solidFill>
              </a:rPr>
              <a:t>Our vision</a:t>
            </a:r>
          </a:p>
        </p:txBody>
      </p:sp>
      <p:sp>
        <p:nvSpPr>
          <p:cNvPr id="36" name="Our vision text"/>
          <p:cNvSpPr txBox="1"/>
          <p:nvPr/>
        </p:nvSpPr>
        <p:spPr>
          <a:xfrm>
            <a:off x="2880360" y="3968496"/>
            <a:ext cx="2011680" cy="713232"/>
          </a:xfrm>
          <a:prstGeom prst="rect">
            <a:avLst/>
          </a:prstGeom>
          <a:noFill/>
        </p:spPr>
        <p:txBody>
          <a:bodyPr wrap="square" lIns="0" rIns="0" tIns="0" bIns="0" anchor="t">
            <a:noAutofit/>
          </a:bodyPr>
          <a:lstStyle/>
          <a:p>
            <a:r>
              <a:rPr sz="900" b="0" i="0">
                <a:solidFill>
                  <a:schemeClr val="tx1"/>
                </a:solidFill>
              </a:rPr>
              <a:t>A practical tool that turns satellite observations into organised, accountable wetland protection work.</a:t>
            </a:r>
          </a:p>
        </p:txBody>
      </p:sp>
      <p:pic>
        <p:nvPicPr>
          <p:cNvPr id="37" name="Team" descr="A project team reviewing satellite imagery"/>
          <p:cNvPicPr>
            <a:picLocks noChangeAspect="1"/>
          </p:cNvPicPr>
          <p:nvPr/>
        </p:nvPicPr>
        <p:blipFill>
          <a:blip r:embed="rId7"/>
          <a:stretch>
            <a:fillRect/>
          </a:stretch>
        </p:blipFill>
        <p:spPr>
          <a:xfrm>
            <a:off x="5303520" y="1280160"/>
            <a:ext cx="3383280" cy="2194560"/>
          </a:xfrm>
          <a:prstGeom prst="rect">
            <a:avLst/>
          </a:prstGeom>
        </p:spPr>
      </p:pic>
      <p:sp>
        <p:nvSpPr>
          <p:cNvPr id="38" name="Team frame"/>
          <p:cNvSpPr/>
          <p:nvPr/>
        </p:nvSpPr>
        <p:spPr>
          <a:xfrm>
            <a:off x="5303520" y="1280160"/>
            <a:ext cx="3383280" cy="2194560"/>
          </a:xfrm>
          <a:prstGeom prst="rect">
            <a:avLst/>
          </a:prstGeom>
          <a:noFill/>
          <a:ln w="9525">
            <a:solidFill>
              <a:schemeClr val="accent4"/>
            </a:solidFill>
          </a:ln>
        </p:spPr>
        <p:txBody>
          <a:bodyPr rtlCol="0" anchor="ctr"/>
          <a:lstStyle/>
          <a:p>
            <a:pPr algn="ctr"/>
          </a:p>
        </p:txBody>
      </p:sp>
      <p:pic>
        <p:nvPicPr>
          <p:cNvPr id="39" name="Wetland" descr="Aerial view of a wetland"/>
          <p:cNvPicPr>
            <a:picLocks noChangeAspect="1"/>
          </p:cNvPicPr>
          <p:nvPr/>
        </p:nvPicPr>
        <p:blipFill>
          <a:blip r:embed="rId8"/>
          <a:stretch>
            <a:fillRect/>
          </a:stretch>
        </p:blipFill>
        <p:spPr>
          <a:xfrm>
            <a:off x="5303520" y="3657600"/>
            <a:ext cx="3383280" cy="1051560"/>
          </a:xfrm>
          <a:prstGeom prst="rect">
            <a:avLst/>
          </a:prstGeom>
        </p:spPr>
      </p:pic>
      <p:sp>
        <p:nvSpPr>
          <p:cNvPr id="40" name="Wetland frame"/>
          <p:cNvSpPr/>
          <p:nvPr/>
        </p:nvSpPr>
        <p:spPr>
          <a:xfrm>
            <a:off x="5303520" y="3657600"/>
            <a:ext cx="3383280" cy="1051560"/>
          </a:xfrm>
          <a:prstGeom prst="rect">
            <a:avLst/>
          </a:prstGeom>
          <a:noFill/>
          <a:ln w="9525">
            <a:solidFill>
              <a:schemeClr val="accent4"/>
            </a:solidFill>
          </a:ln>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etland strip" descr="Aerial view of a wetland"/>
          <p:cNvPicPr>
            <a:picLocks noChangeAspect="1"/>
          </p:cNvPicPr>
          <p:nvPr/>
        </p:nvPicPr>
        <p:blipFill>
          <a:blip r:embed="rId3"/>
          <a:stretch>
            <a:fillRect/>
          </a:stretch>
        </p:blipFill>
        <p:spPr>
          <a:xfrm>
            <a:off x="0" y="0"/>
            <a:ext cx="9144000" cy="640080"/>
          </a:xfrm>
          <a:prstGeom prst="rect">
            <a:avLst/>
          </a:prstGeom>
        </p:spPr>
      </p:pic>
      <p:pic>
        <p:nvPicPr>
          <p:cNvPr id="6" name="Demo QR code" descr="QR code for the live demo"/>
          <p:cNvPicPr>
            <a:picLocks noChangeAspect="1"/>
          </p:cNvPicPr>
          <p:nvPr/>
        </p:nvPicPr>
        <p:blipFill>
          <a:blip r:embed="rId4"/>
          <a:stretch>
            <a:fillRect/>
          </a:stretch>
        </p:blipFill>
        <p:spPr>
          <a:xfrm>
            <a:off x="4046220" y="3017520"/>
            <a:ext cx="1051560" cy="1051560"/>
          </a:xfrm>
          <a:prstGeom prst="rect">
            <a:avLst/>
          </a:prstGeom>
        </p:spPr>
      </p:pic>
      <p:sp>
        <p:nvSpPr>
          <p:cNvPr id="7" name="Thank you"/>
          <p:cNvSpPr txBox="1"/>
          <p:nvPr/>
        </p:nvSpPr>
        <p:spPr>
          <a:xfrm>
            <a:off x="1371600" y="960120"/>
            <a:ext cx="6400800" cy="822960"/>
          </a:xfrm>
          <a:prstGeom prst="rect">
            <a:avLst/>
          </a:prstGeom>
          <a:noFill/>
        </p:spPr>
        <p:txBody>
          <a:bodyPr wrap="square" lIns="0" rIns="0" tIns="0" bIns="0" anchor="ctr">
            <a:noAutofit/>
          </a:bodyPr>
          <a:lstStyle/>
          <a:p>
            <a:pPr algn="ctr"/>
            <a:r>
              <a:rPr sz="4400" b="1" i="0">
                <a:solidFill>
                  <a:schemeClr val="tx2"/>
                </a:solidFill>
              </a:rPr>
              <a:t>Thank You</a:t>
            </a:r>
          </a:p>
        </p:txBody>
      </p:sp>
      <p:sp>
        <p:nvSpPr>
          <p:cNvPr id="8" name="Questions"/>
          <p:cNvSpPr txBox="1"/>
          <p:nvPr/>
        </p:nvSpPr>
        <p:spPr>
          <a:xfrm>
            <a:off x="1371600" y="1783080"/>
            <a:ext cx="6400800" cy="365760"/>
          </a:xfrm>
          <a:prstGeom prst="rect">
            <a:avLst/>
          </a:prstGeom>
          <a:noFill/>
        </p:spPr>
        <p:txBody>
          <a:bodyPr wrap="square" lIns="0" rIns="0" tIns="0" bIns="0" anchor="ctr">
            <a:noAutofit/>
          </a:bodyPr>
          <a:lstStyle/>
          <a:p>
            <a:pPr algn="ctr"/>
            <a:r>
              <a:rPr sz="1800" b="0" i="0">
                <a:solidFill>
                  <a:schemeClr val="accent2"/>
                </a:solidFill>
              </a:rPr>
              <a:t>Questions are welcome.</a:t>
            </a:r>
          </a:p>
        </p:txBody>
      </p:sp>
      <p:sp>
        <p:nvSpPr>
          <p:cNvPr id="9" name="Tagline"/>
          <p:cNvSpPr txBox="1"/>
          <p:nvPr/>
        </p:nvSpPr>
        <p:spPr>
          <a:xfrm>
            <a:off x="2194560" y="2286000"/>
            <a:ext cx="4754880" cy="548640"/>
          </a:xfrm>
          <a:prstGeom prst="rect">
            <a:avLst/>
          </a:prstGeom>
          <a:noFill/>
        </p:spPr>
        <p:txBody>
          <a:bodyPr wrap="square" lIns="0" rIns="0" tIns="0" bIns="0" anchor="ctr">
            <a:noAutofit/>
          </a:bodyPr>
          <a:lstStyle/>
          <a:p>
            <a:pPr algn="ctr"/>
            <a:r>
              <a:rPr sz="1200" b="0" i="1">
                <a:solidFill>
                  <a:schemeClr val="tx1"/>
                </a:solidFill>
              </a:rPr>
              <a:t>TerraLink helps NGOs protect wetlands with clear evidence, clear responsibility and clear records.</a:t>
            </a:r>
          </a:p>
        </p:txBody>
      </p:sp>
      <p:sp>
        <p:nvSpPr>
          <p:cNvPr id="10" name="Demo label"/>
          <p:cNvSpPr txBox="1"/>
          <p:nvPr/>
        </p:nvSpPr>
        <p:spPr>
          <a:xfrm>
            <a:off x="1371600" y="4160520"/>
            <a:ext cx="6400800" cy="219456"/>
          </a:xfrm>
          <a:prstGeom prst="rect">
            <a:avLst/>
          </a:prstGeom>
          <a:noFill/>
        </p:spPr>
        <p:txBody>
          <a:bodyPr wrap="square" lIns="0" rIns="0" tIns="0" bIns="0" anchor="ctr">
            <a:noAutofit/>
          </a:bodyPr>
          <a:lstStyle/>
          <a:p>
            <a:pPr algn="ctr"/>
            <a:r>
              <a:rPr sz="1150" b="1" i="0">
                <a:solidFill>
                  <a:schemeClr val="tx1"/>
                </a:solidFill>
              </a:rPr>
              <a:t>Live demo</a:t>
            </a:r>
          </a:p>
        </p:txBody>
      </p:sp>
      <p:sp>
        <p:nvSpPr>
          <p:cNvPr id="11" name="Demo link"/>
          <p:cNvSpPr txBox="1"/>
          <p:nvPr/>
        </p:nvSpPr>
        <p:spPr>
          <a:xfrm>
            <a:off x="1371600" y="4379976"/>
            <a:ext cx="6400800" cy="219456"/>
          </a:xfrm>
          <a:prstGeom prst="rect">
            <a:avLst/>
          </a:prstGeom>
          <a:noFill/>
        </p:spPr>
        <p:txBody>
          <a:bodyPr wrap="square" lIns="0" rIns="0" tIns="0" bIns="0" anchor="ctr">
            <a:noAutofit/>
          </a:bodyPr>
          <a:lstStyle/>
          <a:p>
            <a:pPr algn="ctr"/>
            <a:r>
              <a:rPr sz="1100" b="0" i="0">
                <a:solidFill>
                  <a:schemeClr val="accent2"/>
                </a:solidFill>
              </a:rPr>
              <a:t>terralink-probah.vercel.app</a:t>
            </a:r>
          </a:p>
        </p:txBody>
      </p:sp>
      <p:sp>
        <p:nvSpPr>
          <p:cNvPr id="12" name="Presenter"/>
          <p:cNvSpPr txBox="1"/>
          <p:nvPr/>
        </p:nvSpPr>
        <p:spPr>
          <a:xfrm>
            <a:off x="1371600" y="4599432"/>
            <a:ext cx="6400800" cy="219456"/>
          </a:xfrm>
          <a:prstGeom prst="rect">
            <a:avLst/>
          </a:prstGeom>
          <a:noFill/>
        </p:spPr>
        <p:txBody>
          <a:bodyPr wrap="square" lIns="0" rIns="0" tIns="0" bIns="0" anchor="ctr">
            <a:noAutofit/>
          </a:bodyPr>
          <a:lstStyle/>
          <a:p>
            <a:pPr algn="ctr"/>
            <a:r>
              <a:rPr sz="1050" b="0" i="0">
                <a:solidFill>
                  <a:schemeClr val="accent2"/>
                </a:solidFill>
              </a:rPr>
              <a:t>Afrin Jahan Era · IUT</a:t>
            </a:r>
          </a:p>
        </p:txBody>
      </p:sp>
    </p:spTree>
  </p:cSld>
  <p:clrMapOvr>
    <a:masterClrMapping/>
  </p:clrMapOvr>
</p:sld>
</file>

<file path=ppt/theme/theme1.xml><?xml version="1.0" encoding="utf-8"?>
<a:theme xmlns:a="http://schemas.openxmlformats.org/drawingml/2006/main" name="TerraLink Professional">
  <a:themeElements>
    <a:clrScheme name="TerraLink Professional">
      <a:dk1>
        <a:srgbClr val="1F2A2E"/>
      </a:dk1>
      <a:lt1>
        <a:srgbClr val="FFFFFF"/>
      </a:lt1>
      <a:dk2>
        <a:srgbClr val="1B6B63"/>
      </a:dk2>
      <a:lt2>
        <a:srgbClr val="E0F2F4"/>
      </a:lt2>
      <a:accent1>
        <a:srgbClr val="1B6B63"/>
      </a:accent1>
      <a:accent2>
        <a:srgbClr val="5F6B6D"/>
      </a:accent2>
      <a:accent3>
        <a:srgbClr val="8A9597"/>
      </a:accent3>
      <a:accent4>
        <a:srgbClr val="D9DEDF"/>
      </a:accent4>
      <a:accent5>
        <a:srgbClr val="B8C0C2"/>
      </a:accent5>
      <a:accent6>
        <a:srgbClr val="3A4548"/>
      </a:accent6>
      <a:hlink>
        <a:srgbClr val="1F2A2E"/>
      </a:hlink>
      <a:folHlink>
        <a:srgbClr val="5F6B6D"/>
      </a:folHlink>
    </a:clrScheme>
    <a:fontScheme name="TerraLink Professio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TerraLink — Smarter Wetland Monitoring &amp; Project Management</dc:title>
  <dc:subject>PptxGenJS Presentation</dc:subject>
  <dc:creator>Afrin Jahan Era</dc:creator>
  <cp:lastModifiedBy>Afrin Jahan Era</cp:lastModifiedBy>
  <cp:revision>1</cp:revision>
  <dcterms:created xsi:type="dcterms:W3CDTF">2026-10-10T07:10:15Z</dcterms:created>
  <dcterms:modified xsi:type="dcterms:W3CDTF">2026-10-10T07:10:15Z</dcterms:modified>
</cp:coreProperties>
</file>