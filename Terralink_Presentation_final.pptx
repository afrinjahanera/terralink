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a347c98-ff72-5924-6a97-c886bb895010}">
          <p14:sldIdLst>
            <p14:sldId id="256"/>
          </p14:sldIdLst>
        </p14:section>
        <p14:section name="Problem and solution" id="{a6572cb7-10d9-d36e-1f62-9d95329b3a56}">
          <p14:sldIdLst>
            <p14:sldId id="257"/>
            <p14:sldId id="258"/>
          </p14:sldIdLst>
        </p14:section>
        <p14:section name="Product" id="{b234fb78-1df1-8dc2-a538-f8bafddae804}">
          <p14:sldIdLst>
            <p14:sldId id="259"/>
            <p14:sldId id="260"/>
            <p14:sldId id="261"/>
          </p14:sldIdLst>
        </p14:section>
        <p14:section name="Impact and plan" id="{ae6668b6-2f4f-f772-885c-98a0a8ddc4f1}">
          <p14:sldIdLst>
            <p14:sldId id="262"/>
            <p14:sldId id="263"/>
          </p14:sldIdLst>
        </p14:section>
        <p14:section name="Close" id="{4187ccfb-9c98-8d74-f3d6-80e123a87b27}">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TerraLink is a web app for NGOs that protect ponds and wetlands in Bangladesh. It helps teams spot possible changes, check them on the ground, assign work, track costs, and make clear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Ponds, beels and wetlands store rainwater, reduce urban flooding and support fisheries and livelihoods. Around Dhaka many canals and water bodies have disappeared or become blocked. NGO teams face three challenges: monitoring is difficult because comparing satellite images takes skill and clouds or seasonal drying can mislead; records are scattered across files, phones and chat groups; and follow-up is limited because it is unclear who checks a site, by when and at what cost. The gap is a simple workflow that connects observations to the work and costs that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TerraLink keeps one shared record for each site, linking satellite evidence, decisions, tasks and costs. Teams compare images, review findings, assign tasks, track costs and prepare reports. It is built to be trusted: it uses free Sentinel-2 imagery and Dynamic World, shows Insufficient data when clouds hide a site, and treats a drop in water as a reason to check, not proof. Three roles use it: the project manager, the field coordinator and an office operator who keeps records so field workers do not need smartphones.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Pond A shows about 20% less visible water; the manager reviews it, Rahim checks the site, the 4,200 taka visit cost is recorded and the report is printed. A wetland change moves through clear steps. The satellite shows a possible change, such as Pond A having about 20% less visible water. The manager compares old and new images and decides whether follow-up is needed. If the image is unclear or there is no real change, the site is rechecked when the next clear image arrives, which loops back to observation. If follow-up is approved, a task is assigned with an owner, deadline and estimated cost; the field coordinator checks the site; the actual cost is recorded against the budget; and the manager prepares a report. Tasks move from Review pending to Approved, In progress and Reported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features. Map and Change Analysis shows every site and compares old and new satellite images, with an estimated change in visible water and an Insufficient data label when clouds block the view. Review and Tasks turns a reviewed finding into accountable work with an owner, deadline and cost. Team and Costs links every expense to a task and site and warns when a site goes over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Supporting features. Reports are generated in one click with images, decisions, tasks, costs, limitations and sources, and can be printed or saved as PDF. The Bangla assistant answers questions such as which work is pending, using only saved records, and shows its sources. Schedule and notifications let the team plan field visits and meetings, add them to Google Calendar, send reminders, and keep an audit trail of every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users are environmental NGOs and teams that protect ponds and wetlands in Bangladesh. TerraLink gives managers a clearer view of findings and pending work, reduces the effort of combining project information, makes responsibilities, deadlines and expenses easier to track, and supports decisions with documented evidence. Local communities are the intended beneficiaries; the actual impact will be evaluated through user feedback and project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prototype covers five selected ponds or wetlands around Dhaka, chosen by size and the availability of clear satellite imagery. We start small to focus on a manageable number of sites, use existing satellite data instead of training a new AI model, show the complete workflow from observation to report, and use clearly labelled sample records where real data is not available. Our vision is a practical tool that turns satellite observations into organised, accountable wetland protection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In the live demo we follow one full journey: dashboard, map, change analysis and decision, create a task, switch to the field coordinator to update progress and add a cost, ask the Bangla assistant what is pending, and print the report. Questions are welcome.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ph idx="101" type="body" hasCustomPrompt="1"/>
          </p:nvPr>
        </p:nvSpPr>
        <p:spPr>
          <a:xfrm>
            <a:off x="457200" y="841248"/>
            <a:ext cx="8229600" cy="365760"/>
          </a:xfrm>
          <a:prstGeom prst="rect">
            <a:avLst/>
          </a:prstGeom>
          <a:noFill/>
          <a:ln/>
        </p:spPr>
        <p:txBody>
          <a:bodyPr wrap="square" rtlCol="0"/>
          <a:lstStyle>
            <a:lvl1pPr algn="l" indent="0" marL="0">
              <a:buNone/>
              <a:defRPr lang="en-US" sz="1300" dirty="0">
                <a:solidFill>
                  <a:schemeClr val="accent2"/>
                </a:solidFill>
              </a:defRPr>
            </a:lvl1pPr>
          </a:lstStyle>
          <a:p>
            <a:pPr algn="l" indent="0" marL="0">
              <a:buNone/>
            </a:pP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chemeClr val="bg1"/>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_CYAN">
    <p:bg>
      <p:bgPr>
        <a:solidFill>
          <a:schemeClr val="bg1"/>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CYAN">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ph idx="101" type="body" hasCustomPrompt="1"/>
          </p:nvPr>
        </p:nvSpPr>
        <p:spPr>
          <a:xfrm>
            <a:off x="457200" y="841248"/>
            <a:ext cx="8229600" cy="365760"/>
          </a:xfrm>
          <a:prstGeom prst="rect">
            <a:avLst/>
          </a:prstGeom>
          <a:noFill/>
          <a:ln/>
        </p:spPr>
        <p:txBody>
          <a:bodyPr wrap="square" rtlCol="0"/>
          <a:lstStyle>
            <a:lvl1pPr algn="l" indent="0" marL="0">
              <a:buNone/>
              <a:defRPr lang="en-US" sz="1300" dirty="0">
                <a:solidFill>
                  <a:schemeClr val="accent2"/>
                </a:solidFill>
              </a:defRPr>
            </a:lvl1pPr>
          </a:lstStyle>
          <a:p>
            <a:pPr algn="l" indent="0" marL="0">
              <a:buNone/>
            </a:pP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terralink-probah.vercel.app" TargetMode="External"/><Relationship Id="rId1" Type="http://schemas.openxmlformats.org/officeDocument/2006/relationships/image" Target="../media/image-1-1.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5.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hyperlink" Target="https://terralink-probah.vercel.app" TargetMode="External"/><Relationship Id="rId1" Type="http://schemas.openxmlformats.org/officeDocument/2006/relationships/image" Target="../media/image-9-1.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er image" descr="Aerial view of a pond and fields in Bangladesh">    </p:cNvPr>
          <p:cNvPicPr>
            <a:picLocks noChangeAspect="1"/>
          </p:cNvPicPr>
          <p:nvPr/>
        </p:nvPicPr>
        <p:blipFill>
          <a:blip r:embed="rId1"/>
          <a:srcRect l="0" r="0" t="0" b="0"/>
          <a:stretch/>
        </p:blipFill>
        <p:spPr>
          <a:xfrm>
            <a:off x="4800600" y="0"/>
            <a:ext cx="4343400" cy="5143500"/>
          </a:xfrm>
          <a:prstGeom prst="rect">
            <a:avLst/>
          </a:prstGeom>
        </p:spPr>
      </p:pic>
      <p:sp>
        <p:nvSpPr>
          <p:cNvPr id="3" name="Text 0"/>
          <p:cNvSpPr txBox="1"/>
          <p:nvPr/>
        </p:nvSpPr>
        <p:spPr>
          <a:xfrm>
            <a:off x="502920" y="914400"/>
            <a:ext cx="4114800" cy="274320"/>
          </a:xfrm>
          <a:prstGeom prst="rect">
            <a:avLst/>
          </a:prstGeom>
          <a:noFill/>
          <a:ln/>
        </p:spPr>
        <p:txBody>
          <a:bodyPr wrap="square" lIns="0" tIns="0" rIns="0" bIns="0" rtlCol="0" anchor="ctr"/>
          <a:lstStyle/>
          <a:p>
            <a:pPr indent="0" marL="0">
              <a:buNone/>
            </a:pPr>
            <a:r>
              <a:rPr lang="en-US" sz="900" b="1" spc="150" kern="0" dirty="0">
                <a:solidFill>
                  <a:schemeClr val="accent2"/>
                </a:solidFill>
              </a:rPr>
              <a:t>CLIMATE RESILIENCE &amp; ENVIRONMENTAL SUSTAINABILITY</a:t>
            </a:r>
            <a:endParaRPr lang="en-US" sz="900" dirty="0"/>
          </a:p>
        </p:txBody>
      </p:sp>
      <p:sp>
        <p:nvSpPr>
          <p:cNvPr id="4" name="Text 1"/>
          <p:cNvSpPr txBox="1"/>
          <p:nvPr/>
        </p:nvSpPr>
        <p:spPr>
          <a:xfrm>
            <a:off x="502920" y="1234440"/>
            <a:ext cx="4114800" cy="777240"/>
          </a:xfrm>
          <a:prstGeom prst="rect">
            <a:avLst/>
          </a:prstGeom>
          <a:noFill/>
          <a:ln/>
        </p:spPr>
        <p:txBody>
          <a:bodyPr wrap="square" lIns="0" tIns="0" rIns="0" bIns="0" rtlCol="0" anchor="ctr"/>
          <a:lstStyle/>
          <a:p>
            <a:pPr indent="0" marL="0">
              <a:buNone/>
            </a:pPr>
            <a:r>
              <a:rPr lang="en-US" sz="4400" b="1" dirty="0">
                <a:solidFill>
                  <a:schemeClr val="tx2"/>
                </a:solidFill>
              </a:rPr>
              <a:t>TerraLink</a:t>
            </a:r>
            <a:endParaRPr lang="en-US" sz="4400" dirty="0"/>
          </a:p>
        </p:txBody>
      </p:sp>
      <p:sp>
        <p:nvSpPr>
          <p:cNvPr id="5" name="Text 2"/>
          <p:cNvSpPr txBox="1"/>
          <p:nvPr/>
        </p:nvSpPr>
        <p:spPr>
          <a:xfrm>
            <a:off x="502920" y="2011680"/>
            <a:ext cx="4023360" cy="731520"/>
          </a:xfrm>
          <a:prstGeom prst="rect">
            <a:avLst/>
          </a:prstGeom>
          <a:noFill/>
          <a:ln/>
        </p:spPr>
        <p:txBody>
          <a:bodyPr wrap="square" lIns="0" tIns="0" rIns="0" bIns="0" rtlCol="0" anchor="t"/>
          <a:lstStyle/>
          <a:p>
            <a:pPr indent="0" marL="0">
              <a:buNone/>
            </a:pPr>
            <a:r>
              <a:rPr lang="en-US" sz="2000" dirty="0">
                <a:solidFill>
                  <a:schemeClr val="tx1"/>
                </a:solidFill>
              </a:rPr>
              <a:t>Smarter Wetland Monitoring &amp; Project Management</a:t>
            </a:r>
            <a:endParaRPr lang="en-US" sz="2000" dirty="0"/>
          </a:p>
        </p:txBody>
      </p:sp>
      <p:sp>
        <p:nvSpPr>
          <p:cNvPr id="6" name="Text 3"/>
          <p:cNvSpPr txBox="1"/>
          <p:nvPr/>
        </p:nvSpPr>
        <p:spPr>
          <a:xfrm>
            <a:off x="502920" y="2788920"/>
            <a:ext cx="3931920" cy="502920"/>
          </a:xfrm>
          <a:prstGeom prst="rect">
            <a:avLst/>
          </a:prstGeom>
          <a:noFill/>
          <a:ln/>
        </p:spPr>
        <p:txBody>
          <a:bodyPr wrap="square" lIns="0" tIns="0" rIns="0" bIns="0" rtlCol="0" anchor="t"/>
          <a:lstStyle/>
          <a:p>
            <a:pPr indent="0" marL="0">
              <a:buNone/>
            </a:pPr>
            <a:r>
              <a:rPr lang="en-US" sz="1300" i="1" dirty="0">
                <a:solidFill>
                  <a:schemeClr val="accent2"/>
                </a:solidFill>
              </a:rPr>
              <a:t>From a satellite signal to a recorded field response, all in one place.</a:t>
            </a:r>
            <a:endParaRPr lang="en-US" sz="1300" dirty="0"/>
          </a:p>
        </p:txBody>
      </p:sp>
      <p:sp>
        <p:nvSpPr>
          <p:cNvPr id="7" name="Cover divider"/>
          <p:cNvSpPr/>
          <p:nvPr/>
        </p:nvSpPr>
        <p:spPr>
          <a:xfrm>
            <a:off x="502920" y="3794760"/>
            <a:ext cx="3931920" cy="0"/>
          </a:xfrm>
          <a:prstGeom prst="line">
            <a:avLst/>
          </a:prstGeom>
          <a:noFill/>
          <a:ln w="9525">
            <a:solidFill>
              <a:schemeClr val="accent4"/>
            </a:solidFill>
            <a:prstDash val="solid"/>
          </a:ln>
        </p:spPr>
      </p:sp>
      <p:sp>
        <p:nvSpPr>
          <p:cNvPr id="8" name="Text 5"/>
          <p:cNvSpPr txBox="1"/>
          <p:nvPr/>
        </p:nvSpPr>
        <p:spPr>
          <a:xfrm>
            <a:off x="502920" y="3931920"/>
            <a:ext cx="4023360" cy="777240"/>
          </a:xfrm>
          <a:prstGeom prst="rect">
            <a:avLst/>
          </a:prstGeom>
          <a:noFill/>
          <a:ln/>
        </p:spPr>
        <p:txBody>
          <a:bodyPr wrap="square" lIns="0" tIns="0" rIns="0" bIns="0" rtlCol="0" anchor="t"/>
          <a:lstStyle/>
          <a:p>
            <a:pPr indent="0" marL="0">
              <a:spcAft>
                <a:spcPts val="200"/>
              </a:spcAft>
              <a:buNone/>
            </a:pPr>
            <a:r>
              <a:rPr lang="en-US" sz="1100" b="1" dirty="0">
                <a:solidFill>
                  <a:schemeClr val="tx1"/>
                </a:solidFill>
              </a:rPr>
              <a:t>Afrin Jahan Era</a:t>
            </a:r>
            <a:endParaRPr lang="en-US" sz="1100" dirty="0"/>
          </a:p>
          <a:p>
            <a:pPr indent="0" marL="0">
              <a:spcAft>
                <a:spcPts val="200"/>
              </a:spcAft>
              <a:buNone/>
            </a:pPr>
            <a:r>
              <a:rPr lang="en-US" sz="1100" dirty="0">
                <a:solidFill>
                  <a:schemeClr val="accent2"/>
                </a:solidFill>
              </a:rPr>
              <a:t>Islamic University of Technology (IUT)</a:t>
            </a:r>
            <a:endParaRPr lang="en-US" sz="1100" dirty="0"/>
          </a:p>
          <a:p>
            <a:pPr indent="0" marL="0">
              <a:spcAft>
                <a:spcPts val="200"/>
              </a:spcAft>
              <a:buNone/>
            </a:pPr>
            <a:r>
              <a:rPr lang="en-US" sz="1100" u="sng" dirty="0">
                <a:solidFill>
                  <a:schemeClr val="accent2"/>
                </a:solidFill>
                <a:hlinkClick r:id="rId2" invalidUrl="" action="" tgtFrame="" tooltip="" history="1" highlightClick="0" endSnd="0">
                  <a:extLst>
                    <a:ext uri="{A12FA001-AC4F-418D-AE19-62706E023703}">
                      <ahyp:hlinkClr xmlns:ahyp="http://schemas.microsoft.com/office/drawing/2018/hyperlinkcolor" val="tx"/>
                    </a:ext>
                  </a:extLst>
                </a:hlinkClick>
              </a:rPr>
              <a:t>terralink-probah.vercel.app</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The Problem</a:t>
            </a:r>
            <a:endParaRPr lang="en-US" sz="2800" dirty="0"/>
          </a:p>
        </p:txBody>
      </p:sp>
      <p:sp>
        <p:nvSpPr>
          <p:cNvPr id="3" name="Text 0"/>
          <p:cNvSpPr/>
          <p:nvPr>
            <p:ph idx="101" type="body" hasCustomPrompt="1"/>
          </p:nvPr>
        </p:nvSpPr>
        <p:spPr>
          <a:xfrm>
            <a:off x="457200" y="841248"/>
            <a:ext cx="8229600" cy="365760"/>
          </a:xfrm>
          <a:prstGeom prst="rect">
            <a:avLst/>
          </a:prstGeom>
          <a:noFill/>
          <a:ln/>
        </p:spPr>
        <p:txBody>
          <a:bodyPr wrap="square" lIns="0" tIns="0" rIns="0" bIns="0" rtlCol="0" anchor="t"/>
          <a:lstStyle/>
          <a:p>
            <a:pPr algn="l" indent="0" marL="0">
              <a:buNone/>
            </a:pPr>
            <a:r>
              <a:rPr lang="en-US" sz="1300" dirty="0">
                <a:solidFill>
                  <a:schemeClr val="accent2"/>
                </a:solidFill>
              </a:rPr>
              <a:t>Wetland protection requires more than identifying environmental changes.</a:t>
            </a:r>
            <a:endParaRPr lang="en-US" sz="1300" dirty="0"/>
          </a:p>
        </p:txBody>
      </p:sp>
      <p:sp>
        <p:nvSpPr>
          <p:cNvPr id="4" name="Text 2"/>
          <p:cNvSpPr txBox="1"/>
          <p:nvPr/>
        </p:nvSpPr>
        <p:spPr>
          <a:xfrm>
            <a:off x="457200" y="1298448"/>
            <a:ext cx="4663440" cy="2697480"/>
          </a:xfrm>
          <a:prstGeom prst="rect">
            <a:avLst/>
          </a:prstGeom>
          <a:noFill/>
          <a:ln/>
        </p:spPr>
        <p:txBody>
          <a:bodyPr wrap="square" lIns="0" tIns="0" rIns="0" bIns="0" rtlCol="0" anchor="t"/>
          <a:lstStyle/>
          <a:p>
            <a:pPr indent="0" marL="0">
              <a:spcAft>
                <a:spcPts val="600"/>
              </a:spcAft>
              <a:buNone/>
            </a:pPr>
            <a:r>
              <a:rPr lang="en-US" sz="1150" dirty="0">
                <a:solidFill>
                  <a:schemeClr val="tx1"/>
                </a:solidFill>
              </a:rPr>
              <a:t>Ponds, beels and wetlands store rainwater, reduce urban flooding and support fisheries and livelihoods. Around Dhaka, many canals and water bodies have disappeared or become blocked as the city grows.</a:t>
            </a:r>
            <a:endParaRPr lang="en-US" sz="1150" dirty="0"/>
          </a:p>
          <a:p>
            <a:pPr indent="0" marL="0">
              <a:spcAft>
                <a:spcPts val="600"/>
              </a:spcAft>
              <a:buNone/>
            </a:pPr>
            <a:r>
              <a:rPr lang="en-US" sz="1150" b="1" dirty="0">
                <a:solidFill>
                  <a:schemeClr val="tx1"/>
                </a:solidFill>
              </a:rPr>
              <a:t>Environmental project managers and field coordinators face three key challenges:</a:t>
            </a:r>
            <a:endParaRPr lang="en-US" sz="1150" dirty="0"/>
          </a:p>
          <a:p>
            <a:pPr indent="0" marL="0">
              <a:spcAft>
                <a:spcPts val="600"/>
              </a:spcAft>
              <a:buNone/>
            </a:pPr>
            <a:r>
              <a:rPr lang="en-US" sz="1150" b="1" dirty="0">
                <a:solidFill>
                  <a:schemeClr val="tx1"/>
                </a:solidFill>
              </a:rPr>
              <a:t>Difficult monitoring: </a:t>
            </a:r>
            <a:pPr indent="0" marL="0">
              <a:spcAft>
                <a:spcPts val="600"/>
              </a:spcAft>
              <a:buNone/>
            </a:pPr>
            <a:r>
              <a:rPr lang="en-US" sz="1150" dirty="0">
                <a:solidFill>
                  <a:schemeClr val="tx1"/>
                </a:solidFill>
              </a:rPr>
              <a:t>Comparing satellite images takes time and skill. Clouds or seasonal drying can make a pond look smaller than it is.</a:t>
            </a:r>
            <a:endParaRPr lang="en-US" sz="1150" dirty="0"/>
          </a:p>
          <a:p>
            <a:pPr indent="0" marL="0">
              <a:spcAft>
                <a:spcPts val="600"/>
              </a:spcAft>
              <a:buNone/>
            </a:pPr>
            <a:r>
              <a:rPr lang="en-US" sz="1150" b="1" dirty="0">
                <a:solidFill>
                  <a:schemeClr val="tx1"/>
                </a:solidFill>
              </a:rPr>
              <a:t>Scattered records: </a:t>
            </a:r>
            <a:pPr indent="0" marL="0">
              <a:spcAft>
                <a:spcPts val="600"/>
              </a:spcAft>
              <a:buNone/>
            </a:pPr>
            <a:r>
              <a:rPr lang="en-US" sz="1150" dirty="0">
                <a:solidFill>
                  <a:schemeClr val="tx1"/>
                </a:solidFill>
              </a:rPr>
              <a:t>Findings, photos, tasks and costs sit in separate files, phones and chat groups.</a:t>
            </a:r>
            <a:endParaRPr lang="en-US" sz="1150" dirty="0"/>
          </a:p>
          <a:p>
            <a:pPr indent="0" marL="0">
              <a:spcAft>
                <a:spcPts val="600"/>
              </a:spcAft>
              <a:buNone/>
            </a:pPr>
            <a:r>
              <a:rPr lang="en-US" sz="1150" b="1" dirty="0">
                <a:solidFill>
                  <a:schemeClr val="tx1"/>
                </a:solidFill>
              </a:rPr>
              <a:t>Limited follow-up: </a:t>
            </a:r>
            <a:pPr indent="0" marL="0">
              <a:spcAft>
                <a:spcPts val="600"/>
              </a:spcAft>
              <a:buNone/>
            </a:pPr>
            <a:r>
              <a:rPr lang="en-US" sz="1150" dirty="0">
                <a:solidFill>
                  <a:schemeClr val="tx1"/>
                </a:solidFill>
              </a:rPr>
              <a:t>It is unclear who should check a site, by when, and at what cost, so reports take long to prepare.</a:t>
            </a:r>
            <a:endParaRPr lang="en-US" sz="1150" dirty="0"/>
          </a:p>
        </p:txBody>
      </p:sp>
      <p:sp>
        <p:nvSpPr>
          <p:cNvPr id="5" name="Gap divider"/>
          <p:cNvSpPr/>
          <p:nvPr/>
        </p:nvSpPr>
        <p:spPr>
          <a:xfrm>
            <a:off x="457200" y="4069080"/>
            <a:ext cx="4663440" cy="0"/>
          </a:xfrm>
          <a:prstGeom prst="line">
            <a:avLst/>
          </a:prstGeom>
          <a:noFill/>
          <a:ln w="9525">
            <a:solidFill>
              <a:schemeClr val="accent4"/>
            </a:solidFill>
            <a:prstDash val="solid"/>
          </a:ln>
        </p:spPr>
      </p:sp>
      <p:sp>
        <p:nvSpPr>
          <p:cNvPr id="6" name="Text 4"/>
          <p:cNvSpPr txBox="1"/>
          <p:nvPr/>
        </p:nvSpPr>
        <p:spPr>
          <a:xfrm>
            <a:off x="457200" y="4160520"/>
            <a:ext cx="4663440" cy="502920"/>
          </a:xfrm>
          <a:prstGeom prst="rect">
            <a:avLst/>
          </a:prstGeom>
          <a:noFill/>
          <a:ln/>
        </p:spPr>
        <p:txBody>
          <a:bodyPr wrap="square" lIns="0" tIns="0" rIns="0" bIns="0" rtlCol="0" anchor="t"/>
          <a:lstStyle/>
          <a:p>
            <a:pPr indent="0" marL="0">
              <a:buNone/>
            </a:pPr>
            <a:r>
              <a:rPr lang="en-US" sz="1150" b="1" dirty="0">
                <a:solidFill>
                  <a:schemeClr val="tx2"/>
                </a:solidFill>
              </a:rPr>
              <a:t>The gap  </a:t>
            </a:r>
            <a:pPr indent="0" marL="0">
              <a:buNone/>
            </a:pPr>
            <a:r>
              <a:rPr lang="en-US" sz="1150" dirty="0">
                <a:solidFill>
                  <a:schemeClr val="tx1"/>
                </a:solidFill>
              </a:rPr>
              <a:t>A simple workflow that connects environmental observations to the checks, work and costs that follow.</a:t>
            </a:r>
            <a:endParaRPr lang="en-US" sz="1150" dirty="0"/>
          </a:p>
        </p:txBody>
      </p:sp>
      <p:pic>
        <p:nvPicPr>
          <p:cNvPr id="7" name="Problem image" descr="A pond surrounded by dense city buildings">    </p:cNvPr>
          <p:cNvPicPr>
            <a:picLocks noChangeAspect="1"/>
          </p:cNvPicPr>
          <p:nvPr/>
        </p:nvPicPr>
        <p:blipFill>
          <a:blip r:embed="rId1"/>
          <a:srcRect l="0" r="0" t="0" b="0"/>
          <a:stretch/>
        </p:blipFill>
        <p:spPr>
          <a:xfrm>
            <a:off x="5394960" y="1325880"/>
            <a:ext cx="3291840" cy="2377440"/>
          </a:xfrm>
          <a:prstGeom prst="rect">
            <a:avLst/>
          </a:prstGeom>
        </p:spPr>
      </p:pic>
      <p:sp>
        <p:nvSpPr>
          <p:cNvPr id="8" name="Problem image frame"/>
          <p:cNvSpPr/>
          <p:nvPr/>
        </p:nvSpPr>
        <p:spPr>
          <a:xfrm>
            <a:off x="5394960" y="1325880"/>
            <a:ext cx="3291840" cy="2377440"/>
          </a:xfrm>
          <a:prstGeom prst="rect">
            <a:avLst/>
          </a:prstGeom>
          <a:ln w="9525">
            <a:solidFill>
              <a:schemeClr val="accent4"/>
            </a:solidFill>
            <a:prstDash val="solid"/>
          </a:ln>
        </p:spPr>
      </p:sp>
      <p:sp>
        <p:nvSpPr>
          <p:cNvPr id="9" name="Text 6"/>
          <p:cNvSpPr txBox="1"/>
          <p:nvPr/>
        </p:nvSpPr>
        <p:spPr>
          <a:xfrm>
            <a:off x="5394960" y="3767328"/>
            <a:ext cx="3291840" cy="365760"/>
          </a:xfrm>
          <a:prstGeom prst="rect">
            <a:avLst/>
          </a:prstGeom>
          <a:noFill/>
          <a:ln/>
        </p:spPr>
        <p:txBody>
          <a:bodyPr wrap="square" lIns="0" tIns="0" rIns="0" bIns="0" rtlCol="0" anchor="t"/>
          <a:lstStyle/>
          <a:p>
            <a:pPr indent="0" marL="0">
              <a:buNone/>
            </a:pPr>
            <a:r>
              <a:rPr lang="en-US" sz="900" dirty="0">
                <a:solidFill>
                  <a:schemeClr val="accent2"/>
                </a:solidFill>
              </a:rPr>
              <a:t>Urban growth puts steady pressure on ponds and wetlands in and around Dhaka.</a:t>
            </a:r>
            <a:endParaRPr lang="en-US" sz="9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Our Solution</a:t>
            </a:r>
            <a:endParaRPr lang="en-US" sz="2800" dirty="0"/>
          </a:p>
        </p:txBody>
      </p:sp>
      <p:sp>
        <p:nvSpPr>
          <p:cNvPr id="3" name="Text 0"/>
          <p:cNvSpPr/>
          <p:nvPr>
            <p:ph idx="101" type="body" hasCustomPrompt="1"/>
          </p:nvPr>
        </p:nvSpPr>
        <p:spPr>
          <a:xfrm>
            <a:off x="457200" y="841248"/>
            <a:ext cx="8229600" cy="365760"/>
          </a:xfrm>
          <a:prstGeom prst="rect">
            <a:avLst/>
          </a:prstGeom>
          <a:noFill/>
          <a:ln/>
        </p:spPr>
        <p:txBody>
          <a:bodyPr wrap="square" lIns="0" tIns="0" rIns="0" bIns="0" rtlCol="0" anchor="t"/>
          <a:lstStyle/>
          <a:p>
            <a:pPr algn="l" indent="0" marL="0">
              <a:buNone/>
            </a:pPr>
            <a:r>
              <a:rPr lang="en-US" sz="1300" dirty="0">
                <a:solidFill>
                  <a:schemeClr val="accent2"/>
                </a:solidFill>
              </a:rPr>
              <a:t>One platform to monitor, review and manage wetland protection projects.</a:t>
            </a:r>
            <a:endParaRPr lang="en-US" sz="1300" dirty="0"/>
          </a:p>
        </p:txBody>
      </p:sp>
      <p:sp>
        <p:nvSpPr>
          <p:cNvPr id="4" name="Text 2"/>
          <p:cNvSpPr txBox="1"/>
          <p:nvPr/>
        </p:nvSpPr>
        <p:spPr>
          <a:xfrm>
            <a:off x="457200" y="1298448"/>
            <a:ext cx="4206240" cy="1828800"/>
          </a:xfrm>
          <a:prstGeom prst="rect">
            <a:avLst/>
          </a:prstGeom>
          <a:noFill/>
          <a:ln/>
        </p:spPr>
        <p:txBody>
          <a:bodyPr wrap="square" lIns="0" tIns="0" rIns="0" bIns="0" rtlCol="0" anchor="t"/>
          <a:lstStyle/>
          <a:p>
            <a:pPr indent="0" marL="0">
              <a:spcAft>
                <a:spcPts val="400"/>
              </a:spcAft>
              <a:buNone/>
            </a:pPr>
            <a:r>
              <a:rPr lang="en-US" sz="1150" dirty="0">
                <a:solidFill>
                  <a:schemeClr val="tx1"/>
                </a:solidFill>
              </a:rPr>
              <a:t>TerraLink keeps one shared record for each site, linking satellite evidence, decisions, tasks and costs.</a:t>
            </a:r>
            <a:endParaRPr lang="en-US" sz="1150" dirty="0"/>
          </a:p>
          <a:p>
            <a:pPr marL="152400" indent="-152400">
              <a:spcAft>
                <a:spcPts val="400"/>
              </a:spcAft>
              <a:buSzPct val="100000"/>
              <a:buChar char="•"/>
            </a:pPr>
            <a:r>
              <a:rPr lang="en-US" sz="1150" dirty="0">
                <a:solidFill>
                  <a:schemeClr val="tx1"/>
                </a:solidFill>
              </a:rPr>
              <a:t>Compare satellite images to spot possible changes in visible water area</a:t>
            </a:r>
            <a:endParaRPr lang="en-US" sz="1150" dirty="0"/>
          </a:p>
          <a:p>
            <a:pPr marL="152400" indent="-152400">
              <a:spcAft>
                <a:spcPts val="400"/>
              </a:spcAft>
              <a:buSzPct val="100000"/>
              <a:buChar char="•"/>
            </a:pPr>
            <a:r>
              <a:rPr lang="en-US" sz="1150" dirty="0">
                <a:solidFill>
                  <a:schemeClr val="tx1"/>
                </a:solidFill>
              </a:rPr>
              <a:t>Review findings before deciding on follow-up action</a:t>
            </a:r>
            <a:endParaRPr lang="en-US" sz="1150" dirty="0"/>
          </a:p>
          <a:p>
            <a:pPr marL="152400" indent="-152400">
              <a:spcAft>
                <a:spcPts val="400"/>
              </a:spcAft>
              <a:buSzPct val="100000"/>
              <a:buChar char="•"/>
            </a:pPr>
            <a:r>
              <a:rPr lang="en-US" sz="1150" dirty="0">
                <a:solidFill>
                  <a:schemeClr val="tx1"/>
                </a:solidFill>
              </a:rPr>
              <a:t>Assign tasks, deadlines and responsibilities</a:t>
            </a:r>
            <a:endParaRPr lang="en-US" sz="1150" dirty="0"/>
          </a:p>
          <a:p>
            <a:pPr marL="152400" indent="-152400">
              <a:spcAft>
                <a:spcPts val="400"/>
              </a:spcAft>
              <a:buSzPct val="100000"/>
              <a:buChar char="•"/>
            </a:pPr>
            <a:r>
              <a:rPr lang="en-US" sz="1150" dirty="0">
                <a:solidFill>
                  <a:schemeClr val="tx1"/>
                </a:solidFill>
              </a:rPr>
              <a:t>Track planned and actual project costs</a:t>
            </a:r>
            <a:endParaRPr lang="en-US" sz="1150" dirty="0"/>
          </a:p>
          <a:p>
            <a:pPr marL="152400" indent="-152400">
              <a:spcAft>
                <a:spcPts val="400"/>
              </a:spcAft>
              <a:buSzPct val="100000"/>
              <a:buChar char="•"/>
            </a:pPr>
            <a:r>
              <a:rPr lang="en-US" sz="1150" dirty="0">
                <a:solidFill>
                  <a:schemeClr val="tx1"/>
                </a:solidFill>
              </a:rPr>
              <a:t>Prepare reports with evidence, decisions and progress</a:t>
            </a:r>
            <a:endParaRPr lang="en-US" sz="1150" dirty="0"/>
          </a:p>
        </p:txBody>
      </p:sp>
      <p:sp>
        <p:nvSpPr>
          <p:cNvPr id="5" name="Text 3"/>
          <p:cNvSpPr txBox="1"/>
          <p:nvPr/>
        </p:nvSpPr>
        <p:spPr>
          <a:xfrm>
            <a:off x="457200" y="3200400"/>
            <a:ext cx="4206240" cy="868680"/>
          </a:xfrm>
          <a:prstGeom prst="rect">
            <a:avLst/>
          </a:prstGeom>
          <a:noFill/>
          <a:ln/>
        </p:spPr>
        <p:txBody>
          <a:bodyPr wrap="square" lIns="0" tIns="0" rIns="0" bIns="0" rtlCol="0" anchor="t"/>
          <a:lstStyle/>
          <a:p>
            <a:pPr indent="0" marL="0">
              <a:spcAft>
                <a:spcPts val="200"/>
              </a:spcAft>
              <a:buNone/>
            </a:pPr>
            <a:r>
              <a:rPr lang="en-US" sz="1100" b="1" dirty="0">
                <a:solidFill>
                  <a:schemeClr val="tx1"/>
                </a:solidFill>
              </a:rPr>
              <a:t>Built to be trusted</a:t>
            </a:r>
            <a:endParaRPr lang="en-US" sz="1100" dirty="0"/>
          </a:p>
          <a:p>
            <a:pPr indent="0" marL="0">
              <a:spcAft>
                <a:spcPts val="200"/>
              </a:spcAft>
              <a:buNone/>
            </a:pPr>
            <a:r>
              <a:rPr lang="en-US" sz="1100" dirty="0">
                <a:solidFill>
                  <a:schemeClr val="accent2"/>
                </a:solidFill>
              </a:rPr>
              <a:t>Uses free Sentinel-2 imagery and Dynamic World water data. When clouds hide a site, it shows "Insufficient data" instead of guessing, and a drop in water is treated as a reason to check, not as proof.</a:t>
            </a:r>
            <a:endParaRPr lang="en-US" sz="1100" dirty="0"/>
          </a:p>
        </p:txBody>
      </p:sp>
      <p:sp>
        <p:nvSpPr>
          <p:cNvPr id="6" name="Approach divider"/>
          <p:cNvSpPr/>
          <p:nvPr/>
        </p:nvSpPr>
        <p:spPr>
          <a:xfrm>
            <a:off x="457200" y="4114800"/>
            <a:ext cx="4206240" cy="0"/>
          </a:xfrm>
          <a:prstGeom prst="line">
            <a:avLst/>
          </a:prstGeom>
          <a:noFill/>
          <a:ln w="9525">
            <a:solidFill>
              <a:schemeClr val="accent4"/>
            </a:solidFill>
            <a:prstDash val="solid"/>
          </a:ln>
        </p:spPr>
      </p:sp>
      <p:sp>
        <p:nvSpPr>
          <p:cNvPr id="7" name="Text 5"/>
          <p:cNvSpPr txBox="1"/>
          <p:nvPr/>
        </p:nvSpPr>
        <p:spPr>
          <a:xfrm>
            <a:off x="457200" y="4206240"/>
            <a:ext cx="4206240" cy="457200"/>
          </a:xfrm>
          <a:prstGeom prst="rect">
            <a:avLst/>
          </a:prstGeom>
          <a:noFill/>
          <a:ln/>
        </p:spPr>
        <p:txBody>
          <a:bodyPr wrap="square" lIns="0" tIns="0" rIns="0" bIns="0" rtlCol="0" anchor="t"/>
          <a:lstStyle/>
          <a:p>
            <a:pPr indent="0" marL="0">
              <a:buNone/>
            </a:pPr>
            <a:r>
              <a:rPr lang="en-US" sz="1150" b="1" dirty="0">
                <a:solidFill>
                  <a:schemeClr val="tx2"/>
                </a:solidFill>
              </a:rPr>
              <a:t>Our approach  </a:t>
            </a:r>
            <a:pPr indent="0" marL="0">
              <a:buNone/>
            </a:pPr>
            <a:r>
              <a:rPr lang="en-US" sz="1150" dirty="0">
                <a:solidFill>
                  <a:schemeClr val="tx1"/>
                </a:solidFill>
              </a:rPr>
              <a:t>Turn a possible environmental change into a documented, trackable action.</a:t>
            </a:r>
            <a:endParaRPr lang="en-US" sz="1150" dirty="0"/>
          </a:p>
        </p:txBody>
      </p:sp>
      <p:pic>
        <p:nvPicPr>
          <p:cNvPr id="8" name="Dashboard screenshot" descr="TerraLink manager dashboard">    </p:cNvPr>
          <p:cNvPicPr>
            <a:picLocks noChangeAspect="1"/>
          </p:cNvPicPr>
          <p:nvPr/>
        </p:nvPicPr>
        <p:blipFill>
          <a:blip r:embed="rId1"/>
          <a:srcRect l="0" r="0" t="0" b="0"/>
          <a:stretch/>
        </p:blipFill>
        <p:spPr>
          <a:xfrm>
            <a:off x="4846320" y="1325880"/>
            <a:ext cx="3840480" cy="1717109"/>
          </a:xfrm>
          <a:prstGeom prst="rect">
            <a:avLst/>
          </a:prstGeom>
        </p:spPr>
      </p:pic>
      <p:sp>
        <p:nvSpPr>
          <p:cNvPr id="9" name="Dashboard screenshot frame"/>
          <p:cNvSpPr/>
          <p:nvPr/>
        </p:nvSpPr>
        <p:spPr>
          <a:xfrm>
            <a:off x="4846320" y="1325880"/>
            <a:ext cx="3840480" cy="1717109"/>
          </a:xfrm>
          <a:prstGeom prst="rect">
            <a:avLst/>
          </a:prstGeom>
          <a:ln w="9525">
            <a:solidFill>
              <a:schemeClr val="accent4"/>
            </a:solidFill>
            <a:prstDash val="solid"/>
          </a:ln>
        </p:spPr>
      </p:sp>
      <p:sp>
        <p:nvSpPr>
          <p:cNvPr id="10" name="Text 7"/>
          <p:cNvSpPr txBox="1"/>
          <p:nvPr/>
        </p:nvSpPr>
        <p:spPr>
          <a:xfrm>
            <a:off x="4846320" y="3097853"/>
            <a:ext cx="3840480" cy="228600"/>
          </a:xfrm>
          <a:prstGeom prst="rect">
            <a:avLst/>
          </a:prstGeom>
          <a:noFill/>
          <a:ln/>
        </p:spPr>
        <p:txBody>
          <a:bodyPr wrap="square" lIns="0" tIns="0" rIns="0" bIns="0" rtlCol="0" anchor="ctr"/>
          <a:lstStyle/>
          <a:p>
            <a:pPr indent="0" marL="0">
              <a:buNone/>
            </a:pPr>
            <a:r>
              <a:rPr lang="en-US" sz="900" dirty="0">
                <a:solidFill>
                  <a:schemeClr val="accent2"/>
                </a:solidFill>
              </a:rPr>
              <a:t>Live prototype: the manager dashboard</a:t>
            </a:r>
            <a:endParaRPr lang="en-US" sz="900" dirty="0"/>
          </a:p>
        </p:txBody>
      </p:sp>
      <p:sp>
        <p:nvSpPr>
          <p:cNvPr id="11" name="Text 8"/>
          <p:cNvSpPr txBox="1"/>
          <p:nvPr/>
        </p:nvSpPr>
        <p:spPr>
          <a:xfrm>
            <a:off x="4846320" y="3520440"/>
            <a:ext cx="3840480" cy="256032"/>
          </a:xfrm>
          <a:prstGeom prst="rect">
            <a:avLst/>
          </a:prstGeom>
          <a:noFill/>
          <a:ln/>
        </p:spPr>
        <p:txBody>
          <a:bodyPr wrap="square" lIns="0" tIns="0" rIns="0" bIns="0" rtlCol="0" anchor="ctr"/>
          <a:lstStyle/>
          <a:p>
            <a:pPr indent="0" marL="0">
              <a:buNone/>
            </a:pPr>
            <a:r>
              <a:rPr lang="en-US" sz="1150" b="1" dirty="0">
                <a:solidFill>
                  <a:schemeClr val="tx1"/>
                </a:solidFill>
              </a:rPr>
              <a:t>Who uses it</a:t>
            </a:r>
            <a:endParaRPr lang="en-US" sz="1150" dirty="0"/>
          </a:p>
        </p:txBody>
      </p:sp>
      <p:sp>
        <p:nvSpPr>
          <p:cNvPr id="12" name="Text 9"/>
          <p:cNvSpPr txBox="1"/>
          <p:nvPr/>
        </p:nvSpPr>
        <p:spPr>
          <a:xfrm>
            <a:off x="4846320" y="3803904"/>
            <a:ext cx="3840480" cy="246888"/>
          </a:xfrm>
          <a:prstGeom prst="rect">
            <a:avLst/>
          </a:prstGeom>
          <a:noFill/>
          <a:ln/>
        </p:spPr>
        <p:txBody>
          <a:bodyPr wrap="square" lIns="0" tIns="0" rIns="0" bIns="0" rtlCol="0" anchor="ctr"/>
          <a:lstStyle/>
          <a:p>
            <a:pPr indent="0" marL="0">
              <a:buNone/>
            </a:pPr>
            <a:r>
              <a:rPr lang="en-US" sz="1050" b="1" dirty="0">
                <a:solidFill>
                  <a:schemeClr val="tx1"/>
                </a:solidFill>
              </a:rPr>
              <a:t>Project Manager  </a:t>
            </a:r>
            <a:pPr indent="0" marL="0">
              <a:buNone/>
            </a:pPr>
            <a:r>
              <a:rPr lang="en-US" sz="1050" dirty="0">
                <a:solidFill>
                  <a:schemeClr val="accent2"/>
                </a:solidFill>
              </a:rPr>
              <a:t>reviews findings, approves work, controls budget</a:t>
            </a:r>
            <a:endParaRPr lang="en-US" sz="1050" dirty="0"/>
          </a:p>
        </p:txBody>
      </p:sp>
      <p:sp>
        <p:nvSpPr>
          <p:cNvPr id="13" name="Text 10"/>
          <p:cNvSpPr txBox="1"/>
          <p:nvPr/>
        </p:nvSpPr>
        <p:spPr>
          <a:xfrm>
            <a:off x="4846320" y="4078224"/>
            <a:ext cx="3840480" cy="246888"/>
          </a:xfrm>
          <a:prstGeom prst="rect">
            <a:avLst/>
          </a:prstGeom>
          <a:noFill/>
          <a:ln/>
        </p:spPr>
        <p:txBody>
          <a:bodyPr wrap="square" lIns="0" tIns="0" rIns="0" bIns="0" rtlCol="0" anchor="ctr"/>
          <a:lstStyle/>
          <a:p>
            <a:pPr indent="0" marL="0">
              <a:buNone/>
            </a:pPr>
            <a:r>
              <a:rPr lang="en-US" sz="1050" b="1" dirty="0">
                <a:solidFill>
                  <a:schemeClr val="tx1"/>
                </a:solidFill>
              </a:rPr>
              <a:t>Field Coordinator  </a:t>
            </a:r>
            <a:pPr indent="0" marL="0">
              <a:buNone/>
            </a:pPr>
            <a:r>
              <a:rPr lang="en-US" sz="1050" dirty="0">
                <a:solidFill>
                  <a:schemeClr val="accent2"/>
                </a:solidFill>
              </a:rPr>
              <a:t>updates assigned tasks and records costs</a:t>
            </a:r>
            <a:endParaRPr lang="en-US" sz="1050" dirty="0"/>
          </a:p>
        </p:txBody>
      </p:sp>
      <p:sp>
        <p:nvSpPr>
          <p:cNvPr id="14" name="Text 11"/>
          <p:cNvSpPr txBox="1"/>
          <p:nvPr/>
        </p:nvSpPr>
        <p:spPr>
          <a:xfrm>
            <a:off x="4846320" y="4352544"/>
            <a:ext cx="3840480" cy="246888"/>
          </a:xfrm>
          <a:prstGeom prst="rect">
            <a:avLst/>
          </a:prstGeom>
          <a:noFill/>
          <a:ln/>
        </p:spPr>
        <p:txBody>
          <a:bodyPr wrap="square" lIns="0" tIns="0" rIns="0" bIns="0" rtlCol="0" anchor="ctr"/>
          <a:lstStyle/>
          <a:p>
            <a:pPr indent="0" marL="0">
              <a:buNone/>
            </a:pPr>
            <a:r>
              <a:rPr lang="en-US" sz="1050" b="1" dirty="0">
                <a:solidFill>
                  <a:schemeClr val="tx1"/>
                </a:solidFill>
              </a:rPr>
              <a:t>Office Operator  </a:t>
            </a:r>
            <a:pPr indent="0" marL="0">
              <a:buNone/>
            </a:pPr>
            <a:r>
              <a:rPr lang="en-US" sz="1050" dirty="0">
                <a:solidFill>
                  <a:schemeClr val="accent2"/>
                </a:solidFill>
              </a:rPr>
              <a:t>keeps records, so workers need no smartphone</a:t>
            </a:r>
            <a:endParaRPr lang="en-US" sz="105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How It Works</a:t>
            </a:r>
            <a:endParaRPr lang="en-US" sz="2800" dirty="0"/>
          </a:p>
        </p:txBody>
      </p:sp>
      <p:sp>
        <p:nvSpPr>
          <p:cNvPr id="3" name="Text 0"/>
          <p:cNvSpPr/>
          <p:nvPr>
            <p:ph idx="101" type="body" hasCustomPrompt="1"/>
          </p:nvPr>
        </p:nvSpPr>
        <p:spPr>
          <a:xfrm>
            <a:off x="457200" y="841248"/>
            <a:ext cx="8229600" cy="365760"/>
          </a:xfrm>
          <a:prstGeom prst="rect">
            <a:avLst/>
          </a:prstGeom>
          <a:noFill/>
          <a:ln/>
        </p:spPr>
        <p:txBody>
          <a:bodyPr wrap="square" lIns="0" tIns="0" rIns="0" bIns="0" rtlCol="0" anchor="t"/>
          <a:lstStyle/>
          <a:p>
            <a:pPr algn="l" indent="0" marL="0">
              <a:buNone/>
            </a:pPr>
            <a:r>
              <a:rPr lang="en-US" sz="1300" dirty="0">
                <a:solidFill>
                  <a:schemeClr val="accent2"/>
                </a:solidFill>
              </a:rPr>
              <a:t>A satellite change becomes work only after a person reviews it.</a:t>
            </a:r>
            <a:endParaRPr lang="en-US" sz="1300" dirty="0"/>
          </a:p>
        </p:txBody>
      </p:sp>
      <p:sp>
        <p:nvSpPr>
          <p:cNvPr id="4" name="Stage 1 badge"/>
          <p:cNvSpPr txBox="1"/>
          <p:nvPr/>
        </p:nvSpPr>
        <p:spPr>
          <a:xfrm>
            <a:off x="457200" y="1252728"/>
            <a:ext cx="237744" cy="237744"/>
          </a:xfrm>
          <a:prstGeom prst="ellipse">
            <a:avLst/>
          </a:prstGeom>
          <a:solidFill>
            <a:schemeClr val="tx2"/>
          </a:solidFill>
          <a:ln/>
        </p:spPr>
        <p:txBody>
          <a:bodyPr wrap="square" lIns="0" tIns="0" rIns="0" bIns="0" rtlCol="0" anchor="ctr"/>
          <a:lstStyle/>
          <a:p>
            <a:pPr algn="ctr" indent="0" marL="0">
              <a:buNone/>
            </a:pPr>
            <a:r>
              <a:rPr lang="en-US" sz="1000" b="1" dirty="0">
                <a:solidFill>
                  <a:schemeClr val="bg1"/>
                </a:solidFill>
              </a:rPr>
              <a:t>1</a:t>
            </a:r>
            <a:endParaRPr lang="en-US" sz="1000" dirty="0"/>
          </a:p>
        </p:txBody>
      </p:sp>
      <p:sp>
        <p:nvSpPr>
          <p:cNvPr id="5" name="Stage 1 name"/>
          <p:cNvSpPr txBox="1"/>
          <p:nvPr/>
        </p:nvSpPr>
        <p:spPr>
          <a:xfrm>
            <a:off x="786384" y="1252728"/>
            <a:ext cx="1522476" cy="237744"/>
          </a:xfrm>
          <a:prstGeom prst="rect">
            <a:avLst/>
          </a:prstGeom>
          <a:noFill/>
          <a:ln/>
        </p:spPr>
        <p:txBody>
          <a:bodyPr wrap="square" lIns="0" tIns="0" rIns="0" bIns="0" rtlCol="0" anchor="ctr"/>
          <a:lstStyle/>
          <a:p>
            <a:pPr indent="0" marL="0">
              <a:buNone/>
            </a:pPr>
            <a:r>
              <a:rPr lang="en-US" sz="850" b="1" spc="100" kern="0" dirty="0">
                <a:solidFill>
                  <a:schemeClr val="tx1"/>
                </a:solidFill>
              </a:rPr>
              <a:t>SATELLITE MONITORING</a:t>
            </a:r>
            <a:endParaRPr lang="en-US" sz="850" dirty="0"/>
          </a:p>
        </p:txBody>
      </p:sp>
      <p:sp>
        <p:nvSpPr>
          <p:cNvPr id="6" name="Stage 1 rule"/>
          <p:cNvSpPr/>
          <p:nvPr/>
        </p:nvSpPr>
        <p:spPr>
          <a:xfrm>
            <a:off x="457200" y="1527048"/>
            <a:ext cx="1851660" cy="0"/>
          </a:xfrm>
          <a:prstGeom prst="line">
            <a:avLst/>
          </a:prstGeom>
          <a:noFill/>
          <a:ln w="9525">
            <a:solidFill>
              <a:schemeClr val="accent4"/>
            </a:solidFill>
            <a:prstDash val="solid"/>
          </a:ln>
        </p:spPr>
      </p:sp>
      <p:sp>
        <p:nvSpPr>
          <p:cNvPr id="7" name="Stage 1 step 1"/>
          <p:cNvSpPr txBox="1"/>
          <p:nvPr/>
        </p:nvSpPr>
        <p:spPr>
          <a:xfrm>
            <a:off x="457200" y="1572768"/>
            <a:ext cx="1851660" cy="365760"/>
          </a:xfrm>
          <a:prstGeom prst="roundRect">
            <a:avLst>
              <a:gd name="adj" fmla="val 15000"/>
            </a:avLst>
          </a:prstGeom>
          <a:solidFill>
            <a:srgbClr val="FFFFFF"/>
          </a:solidFill>
          <a:ln w="12700">
            <a:solidFill>
              <a:srgbClr val="B8C0C2"/>
            </a:solidFill>
            <a:prstDash val="solid"/>
          </a:ln>
        </p:spPr>
        <p:txBody>
          <a:bodyPr wrap="square" lIns="63500" tIns="63500" rIns="63500" bIns="63500" rtlCol="0" anchor="ctr"/>
          <a:lstStyle/>
          <a:p>
            <a:pPr algn="l" indent="0" marL="0">
              <a:buNone/>
            </a:pPr>
            <a:r>
              <a:rPr lang="en-US" sz="1000" b="1" dirty="0">
                <a:solidFill>
                  <a:schemeClr val="tx1"/>
                </a:solidFill>
              </a:rPr>
              <a:t>Sentinel-2 images</a:t>
            </a:r>
            <a:endParaRPr lang="en-US" sz="1000" dirty="0"/>
          </a:p>
          <a:p>
            <a:pPr algn="l" indent="0" marL="0">
              <a:buNone/>
            </a:pPr>
            <a:r>
              <a:rPr lang="en-US" sz="850" dirty="0">
                <a:solidFill>
                  <a:schemeClr val="accent2"/>
                </a:solidFill>
              </a:rPr>
              <a:t>same season, 2–3 years</a:t>
            </a:r>
            <a:endParaRPr lang="en-US" sz="1000" dirty="0"/>
          </a:p>
        </p:txBody>
      </p:sp>
      <p:sp>
        <p:nvSpPr>
          <p:cNvPr id="8" name="Stage 1 link 1"/>
          <p:cNvSpPr/>
          <p:nvPr/>
        </p:nvSpPr>
        <p:spPr>
          <a:xfrm>
            <a:off x="1383030" y="1938528"/>
            <a:ext cx="0" cy="128016"/>
          </a:xfrm>
          <a:prstGeom prst="line">
            <a:avLst/>
          </a:prstGeom>
          <a:noFill/>
          <a:ln w="15875">
            <a:solidFill>
              <a:schemeClr val="accent3"/>
            </a:solidFill>
            <a:prstDash val="solid"/>
            <a:tailEnd type="triangle"/>
          </a:ln>
        </p:spPr>
      </p:sp>
      <p:sp>
        <p:nvSpPr>
          <p:cNvPr id="9" name="Stage 1 step 2"/>
          <p:cNvSpPr txBox="1"/>
          <p:nvPr/>
        </p:nvSpPr>
        <p:spPr>
          <a:xfrm>
            <a:off x="457200" y="2066544"/>
            <a:ext cx="1851660" cy="365760"/>
          </a:xfrm>
          <a:prstGeom prst="roundRect">
            <a:avLst>
              <a:gd name="adj" fmla="val 15000"/>
            </a:avLst>
          </a:prstGeom>
          <a:solidFill>
            <a:srgbClr val="FFFFFF"/>
          </a:solidFill>
          <a:ln w="12700">
            <a:solidFill>
              <a:srgbClr val="B8C0C2"/>
            </a:solidFill>
            <a:prstDash val="solid"/>
          </a:ln>
        </p:spPr>
        <p:txBody>
          <a:bodyPr wrap="square" lIns="63500" tIns="63500" rIns="63500" bIns="63500" rtlCol="0" anchor="ctr"/>
          <a:lstStyle/>
          <a:p>
            <a:pPr algn="l" indent="0" marL="0">
              <a:buNone/>
            </a:pPr>
            <a:r>
              <a:rPr lang="en-US" sz="1000" b="1" dirty="0">
                <a:solidFill>
                  <a:schemeClr val="tx1"/>
                </a:solidFill>
              </a:rPr>
              <a:t>Mask clouds</a:t>
            </a:r>
            <a:endParaRPr lang="en-US" sz="1000" dirty="0"/>
          </a:p>
          <a:p>
            <a:pPr algn="l" indent="0" marL="0">
              <a:buNone/>
            </a:pPr>
            <a:r>
              <a:rPr lang="en-US" sz="850" dirty="0">
                <a:solidFill>
                  <a:schemeClr val="accent2"/>
                </a:solidFill>
              </a:rPr>
              <a:t>and shadows</a:t>
            </a:r>
            <a:endParaRPr lang="en-US" sz="1000" dirty="0"/>
          </a:p>
        </p:txBody>
      </p:sp>
      <p:sp>
        <p:nvSpPr>
          <p:cNvPr id="10" name="Stage 1 decision"/>
          <p:cNvSpPr txBox="1"/>
          <p:nvPr/>
        </p:nvSpPr>
        <p:spPr>
          <a:xfrm>
            <a:off x="457200" y="2560320"/>
            <a:ext cx="1851660" cy="365760"/>
          </a:xfrm>
          <a:prstGeom prst="roundRect">
            <a:avLst>
              <a:gd name="adj" fmla="val 15000"/>
            </a:avLst>
          </a:prstGeom>
          <a:solidFill>
            <a:srgbClr val="F3F5F5"/>
          </a:solidFill>
          <a:ln w="12700">
            <a:solidFill>
              <a:srgbClr val="B8C0C2"/>
            </a:solidFill>
            <a:prstDash val="solid"/>
          </a:ln>
        </p:spPr>
        <p:txBody>
          <a:bodyPr wrap="square" lIns="63500" tIns="63500" rIns="63500" bIns="63500" rtlCol="0" anchor="ctr"/>
          <a:lstStyle/>
          <a:p>
            <a:pPr algn="ctr" indent="0" marL="0">
              <a:buNone/>
            </a:pPr>
            <a:r>
              <a:rPr lang="en-US" sz="1000" b="1" dirty="0">
                <a:solidFill>
                  <a:schemeClr val="tx1"/>
                </a:solidFill>
              </a:rPr>
              <a:t>Clear enough?</a:t>
            </a:r>
            <a:endParaRPr lang="en-US" sz="1000" dirty="0"/>
          </a:p>
        </p:txBody>
      </p:sp>
      <p:sp>
        <p:nvSpPr>
          <p:cNvPr id="11" name="Stage 1 link to decision"/>
          <p:cNvSpPr/>
          <p:nvPr/>
        </p:nvSpPr>
        <p:spPr>
          <a:xfrm>
            <a:off x="1383030" y="2432304"/>
            <a:ext cx="0" cy="128016"/>
          </a:xfrm>
          <a:prstGeom prst="line">
            <a:avLst/>
          </a:prstGeom>
          <a:noFill/>
          <a:ln w="15875">
            <a:solidFill>
              <a:schemeClr val="accent3"/>
            </a:solidFill>
            <a:prstDash val="solid"/>
            <a:tailEnd type="triangle"/>
          </a:ln>
        </p:spPr>
      </p:sp>
      <p:sp>
        <p:nvSpPr>
          <p:cNvPr id="12" name="Stage 1 branch stem"/>
          <p:cNvSpPr/>
          <p:nvPr/>
        </p:nvSpPr>
        <p:spPr>
          <a:xfrm>
            <a:off x="585216" y="2926080"/>
            <a:ext cx="0" cy="987552"/>
          </a:xfrm>
          <a:prstGeom prst="line">
            <a:avLst/>
          </a:prstGeom>
          <a:noFill/>
          <a:ln w="15875">
            <a:solidFill>
              <a:schemeClr val="accent3"/>
            </a:solidFill>
            <a:prstDash val="solid"/>
          </a:ln>
        </p:spPr>
      </p:sp>
      <p:sp>
        <p:nvSpPr>
          <p:cNvPr id="13" name="Stage 1 branch 1"/>
          <p:cNvSpPr/>
          <p:nvPr/>
        </p:nvSpPr>
        <p:spPr>
          <a:xfrm>
            <a:off x="585216" y="3419856"/>
            <a:ext cx="201168" cy="0"/>
          </a:xfrm>
          <a:prstGeom prst="line">
            <a:avLst/>
          </a:prstGeom>
          <a:noFill/>
          <a:ln w="15875">
            <a:solidFill>
              <a:schemeClr val="accent3"/>
            </a:solidFill>
            <a:prstDash val="solid"/>
            <a:tailEnd type="triangle"/>
          </a:ln>
        </p:spPr>
      </p:sp>
      <p:sp>
        <p:nvSpPr>
          <p:cNvPr id="14" name="Stage 1 outcome Yes"/>
          <p:cNvSpPr txBox="1"/>
          <p:nvPr/>
        </p:nvSpPr>
        <p:spPr>
          <a:xfrm>
            <a:off x="786384" y="3236976"/>
            <a:ext cx="1522476" cy="365760"/>
          </a:xfrm>
          <a:prstGeom prst="roundRect">
            <a:avLst>
              <a:gd name="adj" fmla="val 15000"/>
            </a:avLst>
          </a:prstGeom>
          <a:solidFill>
            <a:srgbClr val="FFFFFF"/>
          </a:solidFill>
          <a:ln w="19050">
            <a:solidFill>
              <a:schemeClr val="tx2"/>
            </a:solidFill>
            <a:prstDash val="solid"/>
          </a:ln>
        </p:spPr>
        <p:txBody>
          <a:bodyPr wrap="square" lIns="63500" tIns="63500" rIns="63500" bIns="63500" rtlCol="0" anchor="ctr"/>
          <a:lstStyle/>
          <a:p>
            <a:pPr algn="l" indent="0" marL="0">
              <a:buNone/>
            </a:pPr>
            <a:r>
              <a:rPr lang="en-US" sz="1000" b="1" dirty="0">
                <a:solidFill>
                  <a:schemeClr val="tx1"/>
                </a:solidFill>
              </a:rPr>
              <a:t>Yes</a:t>
            </a:r>
            <a:endParaRPr lang="en-US" sz="1000" dirty="0"/>
          </a:p>
          <a:p>
            <a:pPr algn="l" indent="0" marL="0">
              <a:buNone/>
            </a:pPr>
            <a:r>
              <a:rPr lang="en-US" sz="850" dirty="0">
                <a:solidFill>
                  <a:schemeClr val="accent2"/>
                </a:solidFill>
              </a:rPr>
              <a:t>Measure water-area change</a:t>
            </a:r>
            <a:endParaRPr lang="en-US" sz="1000" dirty="0"/>
          </a:p>
        </p:txBody>
      </p:sp>
      <p:sp>
        <p:nvSpPr>
          <p:cNvPr id="15" name="Stage 1 branch 2"/>
          <p:cNvSpPr/>
          <p:nvPr/>
        </p:nvSpPr>
        <p:spPr>
          <a:xfrm>
            <a:off x="585216" y="3913632"/>
            <a:ext cx="201168" cy="0"/>
          </a:xfrm>
          <a:prstGeom prst="line">
            <a:avLst/>
          </a:prstGeom>
          <a:noFill/>
          <a:ln w="15875">
            <a:solidFill>
              <a:schemeClr val="accent3"/>
            </a:solidFill>
            <a:prstDash val="solid"/>
            <a:tailEnd type="triangle"/>
          </a:ln>
        </p:spPr>
      </p:sp>
      <p:sp>
        <p:nvSpPr>
          <p:cNvPr id="16" name="Stage 1 outcome No"/>
          <p:cNvSpPr txBox="1"/>
          <p:nvPr/>
        </p:nvSpPr>
        <p:spPr>
          <a:xfrm>
            <a:off x="786384" y="3730752"/>
            <a:ext cx="1522476" cy="365760"/>
          </a:xfrm>
          <a:prstGeom prst="roundRect">
            <a:avLst>
              <a:gd name="adj" fmla="val 15000"/>
            </a:avLst>
          </a:prstGeom>
          <a:solidFill>
            <a:srgbClr val="FFFFFF"/>
          </a:solidFill>
          <a:ln w="12700">
            <a:solidFill>
              <a:srgbClr val="B8C0C2"/>
            </a:solidFill>
            <a:prstDash val="dash"/>
          </a:ln>
        </p:spPr>
        <p:txBody>
          <a:bodyPr wrap="square" lIns="63500" tIns="63500" rIns="63500" bIns="63500" rtlCol="0" anchor="ctr"/>
          <a:lstStyle/>
          <a:p>
            <a:pPr algn="l" indent="0" marL="0">
              <a:buNone/>
            </a:pPr>
            <a:r>
              <a:rPr lang="en-US" sz="1000" b="1" dirty="0">
                <a:solidFill>
                  <a:schemeClr val="accent2"/>
                </a:solidFill>
              </a:rPr>
              <a:t>No</a:t>
            </a:r>
            <a:endParaRPr lang="en-US" sz="1000" dirty="0"/>
          </a:p>
          <a:p>
            <a:pPr algn="l" indent="0" marL="0">
              <a:buNone/>
            </a:pPr>
            <a:r>
              <a:rPr lang="en-US" sz="850" dirty="0">
                <a:solidFill>
                  <a:schemeClr val="accent2"/>
                </a:solidFill>
              </a:rPr>
              <a:t>Insufficient data</a:t>
            </a:r>
            <a:endParaRPr lang="en-US" sz="1000" dirty="0"/>
          </a:p>
        </p:txBody>
      </p:sp>
      <p:sp>
        <p:nvSpPr>
          <p:cNvPr id="17" name="Stage 1 to 2 out"/>
          <p:cNvSpPr/>
          <p:nvPr/>
        </p:nvSpPr>
        <p:spPr>
          <a:xfrm>
            <a:off x="2308860" y="3419856"/>
            <a:ext cx="137160" cy="0"/>
          </a:xfrm>
          <a:prstGeom prst="line">
            <a:avLst/>
          </a:prstGeom>
          <a:noFill/>
          <a:ln w="15875">
            <a:solidFill>
              <a:schemeClr val="accent3"/>
            </a:solidFill>
            <a:prstDash val="solid"/>
          </a:ln>
        </p:spPr>
      </p:sp>
      <p:sp>
        <p:nvSpPr>
          <p:cNvPr id="18" name="Stage 1 to 2 rise"/>
          <p:cNvSpPr/>
          <p:nvPr/>
        </p:nvSpPr>
        <p:spPr>
          <a:xfrm>
            <a:off x="2446020" y="1755648"/>
            <a:ext cx="0" cy="1664208"/>
          </a:xfrm>
          <a:prstGeom prst="line">
            <a:avLst/>
          </a:prstGeom>
          <a:noFill/>
          <a:ln w="15875">
            <a:solidFill>
              <a:schemeClr val="accent3"/>
            </a:solidFill>
            <a:prstDash val="solid"/>
          </a:ln>
        </p:spPr>
      </p:sp>
      <p:sp>
        <p:nvSpPr>
          <p:cNvPr id="19" name="Stage 1 to 2 in"/>
          <p:cNvSpPr/>
          <p:nvPr/>
        </p:nvSpPr>
        <p:spPr>
          <a:xfrm>
            <a:off x="2446020" y="1755648"/>
            <a:ext cx="137160" cy="0"/>
          </a:xfrm>
          <a:prstGeom prst="line">
            <a:avLst/>
          </a:prstGeom>
          <a:noFill/>
          <a:ln w="15875">
            <a:solidFill>
              <a:schemeClr val="accent3"/>
            </a:solidFill>
            <a:prstDash val="solid"/>
            <a:tailEnd type="triangle"/>
          </a:ln>
        </p:spPr>
      </p:sp>
      <p:sp>
        <p:nvSpPr>
          <p:cNvPr id="20" name="Stage 2 badge"/>
          <p:cNvSpPr txBox="1"/>
          <p:nvPr/>
        </p:nvSpPr>
        <p:spPr>
          <a:xfrm>
            <a:off x="2583180" y="1252728"/>
            <a:ext cx="237744" cy="237744"/>
          </a:xfrm>
          <a:prstGeom prst="ellipse">
            <a:avLst/>
          </a:prstGeom>
          <a:solidFill>
            <a:schemeClr val="tx2"/>
          </a:solidFill>
          <a:ln/>
        </p:spPr>
        <p:txBody>
          <a:bodyPr wrap="square" lIns="0" tIns="0" rIns="0" bIns="0" rtlCol="0" anchor="ctr"/>
          <a:lstStyle/>
          <a:p>
            <a:pPr algn="ctr" indent="0" marL="0">
              <a:buNone/>
            </a:pPr>
            <a:r>
              <a:rPr lang="en-US" sz="1000" b="1" dirty="0">
                <a:solidFill>
                  <a:schemeClr val="bg1"/>
                </a:solidFill>
              </a:rPr>
              <a:t>2</a:t>
            </a:r>
            <a:endParaRPr lang="en-US" sz="1000" dirty="0"/>
          </a:p>
        </p:txBody>
      </p:sp>
      <p:sp>
        <p:nvSpPr>
          <p:cNvPr id="21" name="Stage 2 name"/>
          <p:cNvSpPr txBox="1"/>
          <p:nvPr/>
        </p:nvSpPr>
        <p:spPr>
          <a:xfrm>
            <a:off x="2912364" y="1252728"/>
            <a:ext cx="1522476" cy="237744"/>
          </a:xfrm>
          <a:prstGeom prst="rect">
            <a:avLst/>
          </a:prstGeom>
          <a:noFill/>
          <a:ln/>
        </p:spPr>
        <p:txBody>
          <a:bodyPr wrap="square" lIns="0" tIns="0" rIns="0" bIns="0" rtlCol="0" anchor="ctr"/>
          <a:lstStyle/>
          <a:p>
            <a:pPr indent="0" marL="0">
              <a:buNone/>
            </a:pPr>
            <a:r>
              <a:rPr lang="en-US" sz="850" b="1" spc="100" kern="0" dirty="0">
                <a:solidFill>
                  <a:schemeClr val="tx1"/>
                </a:solidFill>
              </a:rPr>
              <a:t>MANAGER REVIEW</a:t>
            </a:r>
            <a:endParaRPr lang="en-US" sz="850" dirty="0"/>
          </a:p>
        </p:txBody>
      </p:sp>
      <p:sp>
        <p:nvSpPr>
          <p:cNvPr id="22" name="Stage 2 rule"/>
          <p:cNvSpPr/>
          <p:nvPr/>
        </p:nvSpPr>
        <p:spPr>
          <a:xfrm>
            <a:off x="2583180" y="1527048"/>
            <a:ext cx="1851660" cy="0"/>
          </a:xfrm>
          <a:prstGeom prst="line">
            <a:avLst/>
          </a:prstGeom>
          <a:noFill/>
          <a:ln w="9525">
            <a:solidFill>
              <a:schemeClr val="accent4"/>
            </a:solidFill>
            <a:prstDash val="solid"/>
          </a:ln>
        </p:spPr>
      </p:sp>
      <p:sp>
        <p:nvSpPr>
          <p:cNvPr id="23" name="Stage 2 step 1"/>
          <p:cNvSpPr txBox="1"/>
          <p:nvPr/>
        </p:nvSpPr>
        <p:spPr>
          <a:xfrm>
            <a:off x="2583180" y="1572768"/>
            <a:ext cx="1851660" cy="365760"/>
          </a:xfrm>
          <a:prstGeom prst="roundRect">
            <a:avLst>
              <a:gd name="adj" fmla="val 15000"/>
            </a:avLst>
          </a:prstGeom>
          <a:solidFill>
            <a:srgbClr val="FFFFFF"/>
          </a:solidFill>
          <a:ln w="12700">
            <a:solidFill>
              <a:srgbClr val="B8C0C2"/>
            </a:solidFill>
            <a:prstDash val="solid"/>
          </a:ln>
        </p:spPr>
        <p:txBody>
          <a:bodyPr wrap="square" lIns="63500" tIns="63500" rIns="63500" bIns="63500" rtlCol="0" anchor="ctr"/>
          <a:lstStyle/>
          <a:p>
            <a:pPr algn="l" indent="0" marL="0">
              <a:buNone/>
            </a:pPr>
            <a:r>
              <a:rPr lang="en-US" sz="1000" b="1" dirty="0">
                <a:solidFill>
                  <a:schemeClr val="tx1"/>
                </a:solidFill>
              </a:rPr>
              <a:t>Review evidence</a:t>
            </a:r>
            <a:endParaRPr lang="en-US" sz="1000" dirty="0"/>
          </a:p>
          <a:p>
            <a:pPr algn="l" indent="0" marL="0">
              <a:buNone/>
            </a:pPr>
            <a:r>
              <a:rPr lang="en-US" sz="850" dirty="0">
                <a:solidFill>
                  <a:schemeClr val="accent2"/>
                </a:solidFill>
              </a:rPr>
              <a:t>images, dates, coverage</a:t>
            </a:r>
            <a:endParaRPr lang="en-US" sz="1000" dirty="0"/>
          </a:p>
        </p:txBody>
      </p:sp>
      <p:sp>
        <p:nvSpPr>
          <p:cNvPr id="24" name="Stage 2 link 1"/>
          <p:cNvSpPr/>
          <p:nvPr/>
        </p:nvSpPr>
        <p:spPr>
          <a:xfrm>
            <a:off x="3509010" y="1938528"/>
            <a:ext cx="0" cy="128016"/>
          </a:xfrm>
          <a:prstGeom prst="line">
            <a:avLst/>
          </a:prstGeom>
          <a:noFill/>
          <a:ln w="15875">
            <a:solidFill>
              <a:schemeClr val="accent3"/>
            </a:solidFill>
            <a:prstDash val="solid"/>
            <a:tailEnd type="triangle"/>
          </a:ln>
        </p:spPr>
      </p:sp>
      <p:sp>
        <p:nvSpPr>
          <p:cNvPr id="25" name="Stage 2 step 2"/>
          <p:cNvSpPr txBox="1"/>
          <p:nvPr/>
        </p:nvSpPr>
        <p:spPr>
          <a:xfrm>
            <a:off x="2583180" y="2066544"/>
            <a:ext cx="1851660" cy="365760"/>
          </a:xfrm>
          <a:prstGeom prst="roundRect">
            <a:avLst>
              <a:gd name="adj" fmla="val 15000"/>
            </a:avLst>
          </a:prstGeom>
          <a:solidFill>
            <a:srgbClr val="FFFFFF"/>
          </a:solidFill>
          <a:ln w="12700">
            <a:solidFill>
              <a:srgbClr val="B8C0C2"/>
            </a:solidFill>
            <a:prstDash val="solid"/>
          </a:ln>
        </p:spPr>
        <p:txBody>
          <a:bodyPr wrap="square" lIns="63500" tIns="63500" rIns="63500" bIns="63500" rtlCol="0" anchor="ctr"/>
          <a:lstStyle/>
          <a:p>
            <a:pPr algn="l" indent="0" marL="0">
              <a:buNone/>
            </a:pPr>
            <a:r>
              <a:rPr lang="en-US" sz="1000" b="1" dirty="0">
                <a:solidFill>
                  <a:schemeClr val="tx1"/>
                </a:solidFill>
              </a:rPr>
              <a:t>Check limits</a:t>
            </a:r>
            <a:endParaRPr lang="en-US" sz="1000" dirty="0"/>
          </a:p>
          <a:p>
            <a:pPr algn="l" indent="0" marL="0">
              <a:buNone/>
            </a:pPr>
            <a:r>
              <a:rPr lang="en-US" sz="850" dirty="0">
                <a:solidFill>
                  <a:schemeClr val="accent2"/>
                </a:solidFill>
              </a:rPr>
              <a:t>clouds, season, resolution</a:t>
            </a:r>
            <a:endParaRPr lang="en-US" sz="1000" dirty="0"/>
          </a:p>
        </p:txBody>
      </p:sp>
      <p:sp>
        <p:nvSpPr>
          <p:cNvPr id="26" name="Stage 2 decision"/>
          <p:cNvSpPr txBox="1"/>
          <p:nvPr/>
        </p:nvSpPr>
        <p:spPr>
          <a:xfrm>
            <a:off x="2583180" y="2560320"/>
            <a:ext cx="1851660" cy="365760"/>
          </a:xfrm>
          <a:prstGeom prst="roundRect">
            <a:avLst>
              <a:gd name="adj" fmla="val 15000"/>
            </a:avLst>
          </a:prstGeom>
          <a:solidFill>
            <a:srgbClr val="F3F5F5"/>
          </a:solidFill>
          <a:ln w="12700">
            <a:solidFill>
              <a:srgbClr val="B8C0C2"/>
            </a:solidFill>
            <a:prstDash val="solid"/>
          </a:ln>
        </p:spPr>
        <p:txBody>
          <a:bodyPr wrap="square" lIns="63500" tIns="63500" rIns="63500" bIns="63500" rtlCol="0" anchor="ctr"/>
          <a:lstStyle/>
          <a:p>
            <a:pPr algn="ctr" indent="0" marL="0">
              <a:buNone/>
            </a:pPr>
            <a:r>
              <a:rPr lang="en-US" sz="1000" b="1" dirty="0">
                <a:solidFill>
                  <a:schemeClr val="tx1"/>
                </a:solidFill>
              </a:rPr>
              <a:t>Decision</a:t>
            </a:r>
            <a:endParaRPr lang="en-US" sz="1000" dirty="0"/>
          </a:p>
        </p:txBody>
      </p:sp>
      <p:sp>
        <p:nvSpPr>
          <p:cNvPr id="27" name="Stage 2 link to decision"/>
          <p:cNvSpPr/>
          <p:nvPr/>
        </p:nvSpPr>
        <p:spPr>
          <a:xfrm>
            <a:off x="3509010" y="2432304"/>
            <a:ext cx="0" cy="128016"/>
          </a:xfrm>
          <a:prstGeom prst="line">
            <a:avLst/>
          </a:prstGeom>
          <a:noFill/>
          <a:ln w="15875">
            <a:solidFill>
              <a:schemeClr val="accent3"/>
            </a:solidFill>
            <a:prstDash val="solid"/>
            <a:tailEnd type="triangle"/>
          </a:ln>
        </p:spPr>
      </p:sp>
      <p:sp>
        <p:nvSpPr>
          <p:cNvPr id="28" name="Stage 2 branch stem"/>
          <p:cNvSpPr/>
          <p:nvPr/>
        </p:nvSpPr>
        <p:spPr>
          <a:xfrm>
            <a:off x="2711196" y="2926080"/>
            <a:ext cx="0" cy="1481328"/>
          </a:xfrm>
          <a:prstGeom prst="line">
            <a:avLst/>
          </a:prstGeom>
          <a:noFill/>
          <a:ln w="15875">
            <a:solidFill>
              <a:schemeClr val="accent3"/>
            </a:solidFill>
            <a:prstDash val="solid"/>
          </a:ln>
        </p:spPr>
      </p:sp>
      <p:sp>
        <p:nvSpPr>
          <p:cNvPr id="29" name="Stage 2 branch 1"/>
          <p:cNvSpPr/>
          <p:nvPr/>
        </p:nvSpPr>
        <p:spPr>
          <a:xfrm>
            <a:off x="2711196" y="3419856"/>
            <a:ext cx="201168" cy="0"/>
          </a:xfrm>
          <a:prstGeom prst="line">
            <a:avLst/>
          </a:prstGeom>
          <a:noFill/>
          <a:ln w="15875">
            <a:solidFill>
              <a:schemeClr val="accent3"/>
            </a:solidFill>
            <a:prstDash val="solid"/>
            <a:tailEnd type="triangle"/>
          </a:ln>
        </p:spPr>
      </p:sp>
      <p:sp>
        <p:nvSpPr>
          <p:cNvPr id="30" name="Stage 2 outcome Confirmed"/>
          <p:cNvSpPr txBox="1"/>
          <p:nvPr/>
        </p:nvSpPr>
        <p:spPr>
          <a:xfrm>
            <a:off x="2912364" y="3236976"/>
            <a:ext cx="1522476" cy="365760"/>
          </a:xfrm>
          <a:prstGeom prst="roundRect">
            <a:avLst>
              <a:gd name="adj" fmla="val 15000"/>
            </a:avLst>
          </a:prstGeom>
          <a:solidFill>
            <a:srgbClr val="FFFFFF"/>
          </a:solidFill>
          <a:ln w="19050">
            <a:solidFill>
              <a:schemeClr val="tx2"/>
            </a:solidFill>
            <a:prstDash val="solid"/>
          </a:ln>
        </p:spPr>
        <p:txBody>
          <a:bodyPr wrap="square" lIns="63500" tIns="63500" rIns="63500" bIns="63500" rtlCol="0" anchor="ctr"/>
          <a:lstStyle/>
          <a:p>
            <a:pPr algn="l" indent="0" marL="0">
              <a:buNone/>
            </a:pPr>
            <a:r>
              <a:rPr lang="en-US" sz="1000" b="1" dirty="0">
                <a:solidFill>
                  <a:schemeClr val="tx1"/>
                </a:solidFill>
              </a:rPr>
              <a:t>Confirmed</a:t>
            </a:r>
            <a:endParaRPr lang="en-US" sz="1000" dirty="0"/>
          </a:p>
          <a:p>
            <a:pPr algn="l" indent="0" marL="0">
              <a:buNone/>
            </a:pPr>
            <a:r>
              <a:rPr lang="en-US" sz="850" dirty="0">
                <a:solidFill>
                  <a:schemeClr val="accent2"/>
                </a:solidFill>
              </a:rPr>
              <a:t>Approve with a reason</a:t>
            </a:r>
            <a:endParaRPr lang="en-US" sz="1000" dirty="0"/>
          </a:p>
        </p:txBody>
      </p:sp>
      <p:sp>
        <p:nvSpPr>
          <p:cNvPr id="31" name="Stage 2 branch 2"/>
          <p:cNvSpPr/>
          <p:nvPr/>
        </p:nvSpPr>
        <p:spPr>
          <a:xfrm>
            <a:off x="2711196" y="3913632"/>
            <a:ext cx="201168" cy="0"/>
          </a:xfrm>
          <a:prstGeom prst="line">
            <a:avLst/>
          </a:prstGeom>
          <a:noFill/>
          <a:ln w="15875">
            <a:solidFill>
              <a:schemeClr val="accent3"/>
            </a:solidFill>
            <a:prstDash val="solid"/>
            <a:tailEnd type="triangle"/>
          </a:ln>
        </p:spPr>
      </p:sp>
      <p:sp>
        <p:nvSpPr>
          <p:cNvPr id="32" name="Stage 2 outcome Unclear"/>
          <p:cNvSpPr txBox="1"/>
          <p:nvPr/>
        </p:nvSpPr>
        <p:spPr>
          <a:xfrm>
            <a:off x="2912364" y="3730752"/>
            <a:ext cx="1522476" cy="365760"/>
          </a:xfrm>
          <a:prstGeom prst="roundRect">
            <a:avLst>
              <a:gd name="adj" fmla="val 15000"/>
            </a:avLst>
          </a:prstGeom>
          <a:solidFill>
            <a:srgbClr val="FFFFFF"/>
          </a:solidFill>
          <a:ln w="12700">
            <a:solidFill>
              <a:srgbClr val="B8C0C2"/>
            </a:solidFill>
            <a:prstDash val="dash"/>
          </a:ln>
        </p:spPr>
        <p:txBody>
          <a:bodyPr wrap="square" lIns="63500" tIns="63500" rIns="63500" bIns="63500" rtlCol="0" anchor="ctr"/>
          <a:lstStyle/>
          <a:p>
            <a:pPr algn="l" indent="0" marL="0">
              <a:buNone/>
            </a:pPr>
            <a:r>
              <a:rPr lang="en-US" sz="1000" b="1" dirty="0">
                <a:solidFill>
                  <a:schemeClr val="accent2"/>
                </a:solidFill>
              </a:rPr>
              <a:t>Unclear</a:t>
            </a:r>
            <a:endParaRPr lang="en-US" sz="1000" dirty="0"/>
          </a:p>
          <a:p>
            <a:pPr algn="l" indent="0" marL="0">
              <a:buNone/>
            </a:pPr>
            <a:r>
              <a:rPr lang="en-US" sz="850" dirty="0">
                <a:solidFill>
                  <a:schemeClr val="accent2"/>
                </a:solidFill>
              </a:rPr>
              <a:t>Recheck next clear image</a:t>
            </a:r>
            <a:endParaRPr lang="en-US" sz="1000" dirty="0"/>
          </a:p>
        </p:txBody>
      </p:sp>
      <p:sp>
        <p:nvSpPr>
          <p:cNvPr id="33" name="Stage 2 branch 3"/>
          <p:cNvSpPr/>
          <p:nvPr/>
        </p:nvSpPr>
        <p:spPr>
          <a:xfrm>
            <a:off x="2711196" y="4407408"/>
            <a:ext cx="201168" cy="0"/>
          </a:xfrm>
          <a:prstGeom prst="line">
            <a:avLst/>
          </a:prstGeom>
          <a:noFill/>
          <a:ln w="15875">
            <a:solidFill>
              <a:schemeClr val="accent3"/>
            </a:solidFill>
            <a:prstDash val="solid"/>
            <a:tailEnd type="triangle"/>
          </a:ln>
        </p:spPr>
      </p:sp>
      <p:sp>
        <p:nvSpPr>
          <p:cNvPr id="34" name="Stage 2 outcome No change"/>
          <p:cNvSpPr txBox="1"/>
          <p:nvPr/>
        </p:nvSpPr>
        <p:spPr>
          <a:xfrm>
            <a:off x="2912364" y="4224528"/>
            <a:ext cx="1522476" cy="365760"/>
          </a:xfrm>
          <a:prstGeom prst="roundRect">
            <a:avLst>
              <a:gd name="adj" fmla="val 15000"/>
            </a:avLst>
          </a:prstGeom>
          <a:solidFill>
            <a:srgbClr val="FFFFFF"/>
          </a:solidFill>
          <a:ln w="12700">
            <a:solidFill>
              <a:srgbClr val="B8C0C2"/>
            </a:solidFill>
            <a:prstDash val="dash"/>
          </a:ln>
        </p:spPr>
        <p:txBody>
          <a:bodyPr wrap="square" lIns="63500" tIns="63500" rIns="63500" bIns="63500" rtlCol="0" anchor="ctr"/>
          <a:lstStyle/>
          <a:p>
            <a:pPr algn="l" indent="0" marL="0">
              <a:buNone/>
            </a:pPr>
            <a:r>
              <a:rPr lang="en-US" sz="1000" b="1" dirty="0">
                <a:solidFill>
                  <a:schemeClr val="accent2"/>
                </a:solidFill>
              </a:rPr>
              <a:t>No change</a:t>
            </a:r>
            <a:endParaRPr lang="en-US" sz="1000" dirty="0"/>
          </a:p>
          <a:p>
            <a:pPr algn="l" indent="0" marL="0">
              <a:buNone/>
            </a:pPr>
            <a:r>
              <a:rPr lang="en-US" sz="850" dirty="0">
                <a:solidFill>
                  <a:schemeClr val="accent2"/>
                </a:solidFill>
              </a:rPr>
              <a:t>Close, keep monitoring</a:t>
            </a:r>
            <a:endParaRPr lang="en-US" sz="1000" dirty="0"/>
          </a:p>
        </p:txBody>
      </p:sp>
      <p:sp>
        <p:nvSpPr>
          <p:cNvPr id="35" name="Stage 2 to 3 out"/>
          <p:cNvSpPr/>
          <p:nvPr/>
        </p:nvSpPr>
        <p:spPr>
          <a:xfrm>
            <a:off x="4434840" y="3419856"/>
            <a:ext cx="137160" cy="0"/>
          </a:xfrm>
          <a:prstGeom prst="line">
            <a:avLst/>
          </a:prstGeom>
          <a:noFill/>
          <a:ln w="15875">
            <a:solidFill>
              <a:schemeClr val="accent3"/>
            </a:solidFill>
            <a:prstDash val="solid"/>
          </a:ln>
        </p:spPr>
      </p:sp>
      <p:sp>
        <p:nvSpPr>
          <p:cNvPr id="36" name="Stage 2 to 3 rise"/>
          <p:cNvSpPr/>
          <p:nvPr/>
        </p:nvSpPr>
        <p:spPr>
          <a:xfrm>
            <a:off x="4572000" y="1755648"/>
            <a:ext cx="0" cy="1664208"/>
          </a:xfrm>
          <a:prstGeom prst="line">
            <a:avLst/>
          </a:prstGeom>
          <a:noFill/>
          <a:ln w="15875">
            <a:solidFill>
              <a:schemeClr val="accent3"/>
            </a:solidFill>
            <a:prstDash val="solid"/>
          </a:ln>
        </p:spPr>
      </p:sp>
      <p:sp>
        <p:nvSpPr>
          <p:cNvPr id="37" name="Stage 2 to 3 in"/>
          <p:cNvSpPr/>
          <p:nvPr/>
        </p:nvSpPr>
        <p:spPr>
          <a:xfrm>
            <a:off x="4572000" y="1755648"/>
            <a:ext cx="137160" cy="0"/>
          </a:xfrm>
          <a:prstGeom prst="line">
            <a:avLst/>
          </a:prstGeom>
          <a:noFill/>
          <a:ln w="15875">
            <a:solidFill>
              <a:schemeClr val="accent3"/>
            </a:solidFill>
            <a:prstDash val="solid"/>
            <a:tailEnd type="triangle"/>
          </a:ln>
        </p:spPr>
      </p:sp>
      <p:sp>
        <p:nvSpPr>
          <p:cNvPr id="38" name="Stage 3 badge"/>
          <p:cNvSpPr txBox="1"/>
          <p:nvPr/>
        </p:nvSpPr>
        <p:spPr>
          <a:xfrm>
            <a:off x="4709160" y="1252728"/>
            <a:ext cx="237744" cy="237744"/>
          </a:xfrm>
          <a:prstGeom prst="ellipse">
            <a:avLst/>
          </a:prstGeom>
          <a:solidFill>
            <a:schemeClr val="tx2"/>
          </a:solidFill>
          <a:ln/>
        </p:spPr>
        <p:txBody>
          <a:bodyPr wrap="square" lIns="0" tIns="0" rIns="0" bIns="0" rtlCol="0" anchor="ctr"/>
          <a:lstStyle/>
          <a:p>
            <a:pPr algn="ctr" indent="0" marL="0">
              <a:buNone/>
            </a:pPr>
            <a:r>
              <a:rPr lang="en-US" sz="1000" b="1" dirty="0">
                <a:solidFill>
                  <a:schemeClr val="bg1"/>
                </a:solidFill>
              </a:rPr>
              <a:t>3</a:t>
            </a:r>
            <a:endParaRPr lang="en-US" sz="1000" dirty="0"/>
          </a:p>
        </p:txBody>
      </p:sp>
      <p:sp>
        <p:nvSpPr>
          <p:cNvPr id="39" name="Stage 3 name"/>
          <p:cNvSpPr txBox="1"/>
          <p:nvPr/>
        </p:nvSpPr>
        <p:spPr>
          <a:xfrm>
            <a:off x="5038344" y="1252728"/>
            <a:ext cx="1522476" cy="237744"/>
          </a:xfrm>
          <a:prstGeom prst="rect">
            <a:avLst/>
          </a:prstGeom>
          <a:noFill/>
          <a:ln/>
        </p:spPr>
        <p:txBody>
          <a:bodyPr wrap="square" lIns="0" tIns="0" rIns="0" bIns="0" rtlCol="0" anchor="ctr"/>
          <a:lstStyle/>
          <a:p>
            <a:pPr indent="0" marL="0">
              <a:buNone/>
            </a:pPr>
            <a:r>
              <a:rPr lang="en-US" sz="850" b="1" spc="100" kern="0" dirty="0">
                <a:solidFill>
                  <a:schemeClr val="tx1"/>
                </a:solidFill>
              </a:rPr>
              <a:t>FIELD WORK</a:t>
            </a:r>
            <a:endParaRPr lang="en-US" sz="850" dirty="0"/>
          </a:p>
        </p:txBody>
      </p:sp>
      <p:sp>
        <p:nvSpPr>
          <p:cNvPr id="40" name="Stage 3 rule"/>
          <p:cNvSpPr/>
          <p:nvPr/>
        </p:nvSpPr>
        <p:spPr>
          <a:xfrm>
            <a:off x="4709160" y="1527048"/>
            <a:ext cx="1851660" cy="0"/>
          </a:xfrm>
          <a:prstGeom prst="line">
            <a:avLst/>
          </a:prstGeom>
          <a:noFill/>
          <a:ln w="9525">
            <a:solidFill>
              <a:schemeClr val="accent4"/>
            </a:solidFill>
            <a:prstDash val="solid"/>
          </a:ln>
        </p:spPr>
      </p:sp>
      <p:sp>
        <p:nvSpPr>
          <p:cNvPr id="41" name="Stage 3 step 1"/>
          <p:cNvSpPr txBox="1"/>
          <p:nvPr/>
        </p:nvSpPr>
        <p:spPr>
          <a:xfrm>
            <a:off x="4709160" y="1572768"/>
            <a:ext cx="1851660" cy="365760"/>
          </a:xfrm>
          <a:prstGeom prst="roundRect">
            <a:avLst>
              <a:gd name="adj" fmla="val 15000"/>
            </a:avLst>
          </a:prstGeom>
          <a:solidFill>
            <a:srgbClr val="FFFFFF"/>
          </a:solidFill>
          <a:ln w="12700">
            <a:solidFill>
              <a:srgbClr val="B8C0C2"/>
            </a:solidFill>
            <a:prstDash val="solid"/>
          </a:ln>
        </p:spPr>
        <p:txBody>
          <a:bodyPr wrap="square" lIns="63500" tIns="63500" rIns="63500" bIns="63500" rtlCol="0" anchor="ctr"/>
          <a:lstStyle/>
          <a:p>
            <a:pPr algn="l" indent="0" marL="0">
              <a:buNone/>
            </a:pPr>
            <a:r>
              <a:rPr lang="en-US" sz="1000" b="1" dirty="0">
                <a:solidFill>
                  <a:schemeClr val="tx1"/>
                </a:solidFill>
              </a:rPr>
              <a:t>Assign task</a:t>
            </a:r>
            <a:endParaRPr lang="en-US" sz="1000" dirty="0"/>
          </a:p>
          <a:p>
            <a:pPr algn="l" indent="0" marL="0">
              <a:buNone/>
            </a:pPr>
            <a:r>
              <a:rPr lang="en-US" sz="850" dirty="0">
                <a:solidFill>
                  <a:schemeClr val="accent2"/>
                </a:solidFill>
              </a:rPr>
              <a:t>owner, deadline, estimate</a:t>
            </a:r>
            <a:endParaRPr lang="en-US" sz="1000" dirty="0"/>
          </a:p>
        </p:txBody>
      </p:sp>
      <p:sp>
        <p:nvSpPr>
          <p:cNvPr id="42" name="Stage 3 link 1"/>
          <p:cNvSpPr/>
          <p:nvPr/>
        </p:nvSpPr>
        <p:spPr>
          <a:xfrm>
            <a:off x="5634990" y="1938528"/>
            <a:ext cx="0" cy="128016"/>
          </a:xfrm>
          <a:prstGeom prst="line">
            <a:avLst/>
          </a:prstGeom>
          <a:noFill/>
          <a:ln w="15875">
            <a:solidFill>
              <a:schemeClr val="accent3"/>
            </a:solidFill>
            <a:prstDash val="solid"/>
            <a:tailEnd type="triangle"/>
          </a:ln>
        </p:spPr>
      </p:sp>
      <p:sp>
        <p:nvSpPr>
          <p:cNvPr id="43" name="Stage 3 step 2"/>
          <p:cNvSpPr txBox="1"/>
          <p:nvPr/>
        </p:nvSpPr>
        <p:spPr>
          <a:xfrm>
            <a:off x="4709160" y="2066544"/>
            <a:ext cx="1851660" cy="365760"/>
          </a:xfrm>
          <a:prstGeom prst="roundRect">
            <a:avLst>
              <a:gd name="adj" fmla="val 15000"/>
            </a:avLst>
          </a:prstGeom>
          <a:solidFill>
            <a:srgbClr val="FFFFFF"/>
          </a:solidFill>
          <a:ln w="12700">
            <a:solidFill>
              <a:srgbClr val="B8C0C2"/>
            </a:solidFill>
            <a:prstDash val="solid"/>
          </a:ln>
        </p:spPr>
        <p:txBody>
          <a:bodyPr wrap="square" lIns="63500" tIns="63500" rIns="63500" bIns="63500" rtlCol="0" anchor="ctr"/>
          <a:lstStyle/>
          <a:p>
            <a:pPr algn="l" indent="0" marL="0">
              <a:buNone/>
            </a:pPr>
            <a:r>
              <a:rPr lang="en-US" sz="1000" b="1" dirty="0">
                <a:solidFill>
                  <a:schemeClr val="tx1"/>
                </a:solidFill>
              </a:rPr>
              <a:t>Field check and cost</a:t>
            </a:r>
            <a:endParaRPr lang="en-US" sz="1000" dirty="0"/>
          </a:p>
          <a:p>
            <a:pPr algn="l" indent="0" marL="0">
              <a:buNone/>
            </a:pPr>
            <a:r>
              <a:rPr lang="en-US" sz="850" dirty="0">
                <a:solidFill>
                  <a:schemeClr val="accent2"/>
                </a:solidFill>
              </a:rPr>
              <a:t>notes, evidence, actual cost</a:t>
            </a:r>
            <a:endParaRPr lang="en-US" sz="1000" dirty="0"/>
          </a:p>
        </p:txBody>
      </p:sp>
      <p:sp>
        <p:nvSpPr>
          <p:cNvPr id="44" name="Stage 3 decision"/>
          <p:cNvSpPr txBox="1"/>
          <p:nvPr/>
        </p:nvSpPr>
        <p:spPr>
          <a:xfrm>
            <a:off x="4709160" y="2560320"/>
            <a:ext cx="1851660" cy="365760"/>
          </a:xfrm>
          <a:prstGeom prst="roundRect">
            <a:avLst>
              <a:gd name="adj" fmla="val 15000"/>
            </a:avLst>
          </a:prstGeom>
          <a:solidFill>
            <a:srgbClr val="F3F5F5"/>
          </a:solidFill>
          <a:ln w="12700">
            <a:solidFill>
              <a:srgbClr val="B8C0C2"/>
            </a:solidFill>
            <a:prstDash val="solid"/>
          </a:ln>
        </p:spPr>
        <p:txBody>
          <a:bodyPr wrap="square" lIns="63500" tIns="63500" rIns="63500" bIns="63500" rtlCol="0" anchor="ctr"/>
          <a:lstStyle/>
          <a:p>
            <a:pPr algn="ctr" indent="0" marL="0">
              <a:buNone/>
            </a:pPr>
            <a:r>
              <a:rPr lang="en-US" sz="1000" b="1" dirty="0">
                <a:solidFill>
                  <a:schemeClr val="tx1"/>
                </a:solidFill>
              </a:rPr>
              <a:t>Within budget?</a:t>
            </a:r>
            <a:endParaRPr lang="en-US" sz="1000" dirty="0"/>
          </a:p>
        </p:txBody>
      </p:sp>
      <p:sp>
        <p:nvSpPr>
          <p:cNvPr id="45" name="Stage 3 link to decision"/>
          <p:cNvSpPr/>
          <p:nvPr/>
        </p:nvSpPr>
        <p:spPr>
          <a:xfrm>
            <a:off x="5634990" y="2432304"/>
            <a:ext cx="0" cy="128016"/>
          </a:xfrm>
          <a:prstGeom prst="line">
            <a:avLst/>
          </a:prstGeom>
          <a:noFill/>
          <a:ln w="15875">
            <a:solidFill>
              <a:schemeClr val="accent3"/>
            </a:solidFill>
            <a:prstDash val="solid"/>
            <a:tailEnd type="triangle"/>
          </a:ln>
        </p:spPr>
      </p:sp>
      <p:sp>
        <p:nvSpPr>
          <p:cNvPr id="46" name="Stage 3 branch stem"/>
          <p:cNvSpPr/>
          <p:nvPr/>
        </p:nvSpPr>
        <p:spPr>
          <a:xfrm>
            <a:off x="4837176" y="2926080"/>
            <a:ext cx="0" cy="987552"/>
          </a:xfrm>
          <a:prstGeom prst="line">
            <a:avLst/>
          </a:prstGeom>
          <a:noFill/>
          <a:ln w="15875">
            <a:solidFill>
              <a:schemeClr val="accent3"/>
            </a:solidFill>
            <a:prstDash val="solid"/>
          </a:ln>
        </p:spPr>
      </p:sp>
      <p:sp>
        <p:nvSpPr>
          <p:cNvPr id="47" name="Stage 3 branch 1"/>
          <p:cNvSpPr/>
          <p:nvPr/>
        </p:nvSpPr>
        <p:spPr>
          <a:xfrm>
            <a:off x="4837176" y="3419856"/>
            <a:ext cx="201168" cy="0"/>
          </a:xfrm>
          <a:prstGeom prst="line">
            <a:avLst/>
          </a:prstGeom>
          <a:noFill/>
          <a:ln w="15875">
            <a:solidFill>
              <a:schemeClr val="accent3"/>
            </a:solidFill>
            <a:prstDash val="solid"/>
            <a:tailEnd type="triangle"/>
          </a:ln>
        </p:spPr>
      </p:sp>
      <p:sp>
        <p:nvSpPr>
          <p:cNvPr id="48" name="Stage 3 outcome Yes"/>
          <p:cNvSpPr txBox="1"/>
          <p:nvPr/>
        </p:nvSpPr>
        <p:spPr>
          <a:xfrm>
            <a:off x="5038344" y="3236976"/>
            <a:ext cx="1522476" cy="365760"/>
          </a:xfrm>
          <a:prstGeom prst="roundRect">
            <a:avLst>
              <a:gd name="adj" fmla="val 15000"/>
            </a:avLst>
          </a:prstGeom>
          <a:solidFill>
            <a:srgbClr val="FFFFFF"/>
          </a:solidFill>
          <a:ln w="19050">
            <a:solidFill>
              <a:schemeClr val="tx2"/>
            </a:solidFill>
            <a:prstDash val="solid"/>
          </a:ln>
        </p:spPr>
        <p:txBody>
          <a:bodyPr wrap="square" lIns="63500" tIns="63500" rIns="63500" bIns="63500" rtlCol="0" anchor="ctr"/>
          <a:lstStyle/>
          <a:p>
            <a:pPr algn="l" indent="0" marL="0">
              <a:buNone/>
            </a:pPr>
            <a:r>
              <a:rPr lang="en-US" sz="1000" b="1" dirty="0">
                <a:solidFill>
                  <a:schemeClr val="tx1"/>
                </a:solidFill>
              </a:rPr>
              <a:t>Yes</a:t>
            </a:r>
            <a:endParaRPr lang="en-US" sz="1000" dirty="0"/>
          </a:p>
          <a:p>
            <a:pPr algn="l" indent="0" marL="0">
              <a:buNone/>
            </a:pPr>
            <a:r>
              <a:rPr lang="en-US" sz="850" dirty="0">
                <a:solidFill>
                  <a:schemeClr val="accent2"/>
                </a:solidFill>
              </a:rPr>
              <a:t>Reported complete</a:t>
            </a:r>
            <a:endParaRPr lang="en-US" sz="1000" dirty="0"/>
          </a:p>
        </p:txBody>
      </p:sp>
      <p:sp>
        <p:nvSpPr>
          <p:cNvPr id="49" name="Stage 3 branch 2"/>
          <p:cNvSpPr/>
          <p:nvPr/>
        </p:nvSpPr>
        <p:spPr>
          <a:xfrm>
            <a:off x="4837176" y="3913632"/>
            <a:ext cx="201168" cy="0"/>
          </a:xfrm>
          <a:prstGeom prst="line">
            <a:avLst/>
          </a:prstGeom>
          <a:noFill/>
          <a:ln w="15875">
            <a:solidFill>
              <a:schemeClr val="accent3"/>
            </a:solidFill>
            <a:prstDash val="solid"/>
            <a:tailEnd type="triangle"/>
          </a:ln>
        </p:spPr>
      </p:sp>
      <p:sp>
        <p:nvSpPr>
          <p:cNvPr id="50" name="Stage 3 outcome No"/>
          <p:cNvSpPr txBox="1"/>
          <p:nvPr/>
        </p:nvSpPr>
        <p:spPr>
          <a:xfrm>
            <a:off x="5038344" y="3730752"/>
            <a:ext cx="1522476" cy="365760"/>
          </a:xfrm>
          <a:prstGeom prst="roundRect">
            <a:avLst>
              <a:gd name="adj" fmla="val 15000"/>
            </a:avLst>
          </a:prstGeom>
          <a:solidFill>
            <a:srgbClr val="FFFFFF"/>
          </a:solidFill>
          <a:ln w="12700">
            <a:solidFill>
              <a:srgbClr val="B8C0C2"/>
            </a:solidFill>
            <a:prstDash val="dash"/>
          </a:ln>
        </p:spPr>
        <p:txBody>
          <a:bodyPr wrap="square" lIns="63500" tIns="63500" rIns="63500" bIns="63500" rtlCol="0" anchor="ctr"/>
          <a:lstStyle/>
          <a:p>
            <a:pPr algn="l" indent="0" marL="0">
              <a:buNone/>
            </a:pPr>
            <a:r>
              <a:rPr lang="en-US" sz="1000" b="1" dirty="0">
                <a:solidFill>
                  <a:schemeClr val="accent2"/>
                </a:solidFill>
              </a:rPr>
              <a:t>No</a:t>
            </a:r>
            <a:endParaRPr lang="en-US" sz="1000" dirty="0"/>
          </a:p>
          <a:p>
            <a:pPr algn="l" indent="0" marL="0">
              <a:buNone/>
            </a:pPr>
            <a:r>
              <a:rPr lang="en-US" sz="850" dirty="0">
                <a:solidFill>
                  <a:schemeClr val="accent2"/>
                </a:solidFill>
              </a:rPr>
              <a:t>Warning to the manager</a:t>
            </a:r>
            <a:endParaRPr lang="en-US" sz="1000" dirty="0"/>
          </a:p>
        </p:txBody>
      </p:sp>
      <p:sp>
        <p:nvSpPr>
          <p:cNvPr id="51" name="Stage 3 to 4 out"/>
          <p:cNvSpPr/>
          <p:nvPr/>
        </p:nvSpPr>
        <p:spPr>
          <a:xfrm>
            <a:off x="6560820" y="3419856"/>
            <a:ext cx="137160" cy="0"/>
          </a:xfrm>
          <a:prstGeom prst="line">
            <a:avLst/>
          </a:prstGeom>
          <a:noFill/>
          <a:ln w="15875">
            <a:solidFill>
              <a:schemeClr val="accent3"/>
            </a:solidFill>
            <a:prstDash val="solid"/>
          </a:ln>
        </p:spPr>
      </p:sp>
      <p:sp>
        <p:nvSpPr>
          <p:cNvPr id="52" name="Stage 3 to 4 rise"/>
          <p:cNvSpPr/>
          <p:nvPr/>
        </p:nvSpPr>
        <p:spPr>
          <a:xfrm>
            <a:off x="6697980" y="1755648"/>
            <a:ext cx="0" cy="1664208"/>
          </a:xfrm>
          <a:prstGeom prst="line">
            <a:avLst/>
          </a:prstGeom>
          <a:noFill/>
          <a:ln w="15875">
            <a:solidFill>
              <a:schemeClr val="accent3"/>
            </a:solidFill>
            <a:prstDash val="solid"/>
          </a:ln>
        </p:spPr>
      </p:sp>
      <p:sp>
        <p:nvSpPr>
          <p:cNvPr id="53" name="Stage 3 to 4 in"/>
          <p:cNvSpPr/>
          <p:nvPr/>
        </p:nvSpPr>
        <p:spPr>
          <a:xfrm>
            <a:off x="6697980" y="1755648"/>
            <a:ext cx="137160" cy="0"/>
          </a:xfrm>
          <a:prstGeom prst="line">
            <a:avLst/>
          </a:prstGeom>
          <a:noFill/>
          <a:ln w="15875">
            <a:solidFill>
              <a:schemeClr val="accent3"/>
            </a:solidFill>
            <a:prstDash val="solid"/>
            <a:tailEnd type="triangle"/>
          </a:ln>
        </p:spPr>
      </p:sp>
      <p:sp>
        <p:nvSpPr>
          <p:cNvPr id="54" name="Stage 4 badge"/>
          <p:cNvSpPr txBox="1"/>
          <p:nvPr/>
        </p:nvSpPr>
        <p:spPr>
          <a:xfrm>
            <a:off x="6835140" y="1252728"/>
            <a:ext cx="237744" cy="237744"/>
          </a:xfrm>
          <a:prstGeom prst="ellipse">
            <a:avLst/>
          </a:prstGeom>
          <a:solidFill>
            <a:schemeClr val="tx2"/>
          </a:solidFill>
          <a:ln/>
        </p:spPr>
        <p:txBody>
          <a:bodyPr wrap="square" lIns="0" tIns="0" rIns="0" bIns="0" rtlCol="0" anchor="ctr"/>
          <a:lstStyle/>
          <a:p>
            <a:pPr algn="ctr" indent="0" marL="0">
              <a:buNone/>
            </a:pPr>
            <a:r>
              <a:rPr lang="en-US" sz="1000" b="1" dirty="0">
                <a:solidFill>
                  <a:schemeClr val="bg1"/>
                </a:solidFill>
              </a:rPr>
              <a:t>4</a:t>
            </a:r>
            <a:endParaRPr lang="en-US" sz="1000" dirty="0"/>
          </a:p>
        </p:txBody>
      </p:sp>
      <p:sp>
        <p:nvSpPr>
          <p:cNvPr id="55" name="Stage 4 name"/>
          <p:cNvSpPr txBox="1"/>
          <p:nvPr/>
        </p:nvSpPr>
        <p:spPr>
          <a:xfrm>
            <a:off x="7164324" y="1252728"/>
            <a:ext cx="1522476" cy="237744"/>
          </a:xfrm>
          <a:prstGeom prst="rect">
            <a:avLst/>
          </a:prstGeom>
          <a:noFill/>
          <a:ln/>
        </p:spPr>
        <p:txBody>
          <a:bodyPr wrap="square" lIns="0" tIns="0" rIns="0" bIns="0" rtlCol="0" anchor="ctr"/>
          <a:lstStyle/>
          <a:p>
            <a:pPr indent="0" marL="0">
              <a:buNone/>
            </a:pPr>
            <a:r>
              <a:rPr lang="en-US" sz="850" b="1" spc="100" kern="0" dirty="0">
                <a:solidFill>
                  <a:schemeClr val="tx1"/>
                </a:solidFill>
              </a:rPr>
              <a:t>REPORTING</a:t>
            </a:r>
            <a:endParaRPr lang="en-US" sz="850" dirty="0"/>
          </a:p>
        </p:txBody>
      </p:sp>
      <p:sp>
        <p:nvSpPr>
          <p:cNvPr id="56" name="Stage 4 rule"/>
          <p:cNvSpPr/>
          <p:nvPr/>
        </p:nvSpPr>
        <p:spPr>
          <a:xfrm>
            <a:off x="6835140" y="1527048"/>
            <a:ext cx="1851660" cy="0"/>
          </a:xfrm>
          <a:prstGeom prst="line">
            <a:avLst/>
          </a:prstGeom>
          <a:noFill/>
          <a:ln w="9525">
            <a:solidFill>
              <a:schemeClr val="accent4"/>
            </a:solidFill>
            <a:prstDash val="solid"/>
          </a:ln>
        </p:spPr>
      </p:sp>
      <p:sp>
        <p:nvSpPr>
          <p:cNvPr id="57" name="Stage 4 step 1"/>
          <p:cNvSpPr txBox="1"/>
          <p:nvPr/>
        </p:nvSpPr>
        <p:spPr>
          <a:xfrm>
            <a:off x="6835140" y="1572768"/>
            <a:ext cx="1851660" cy="365760"/>
          </a:xfrm>
          <a:prstGeom prst="roundRect">
            <a:avLst>
              <a:gd name="adj" fmla="val 15000"/>
            </a:avLst>
          </a:prstGeom>
          <a:solidFill>
            <a:srgbClr val="FFFFFF"/>
          </a:solidFill>
          <a:ln w="12700">
            <a:solidFill>
              <a:srgbClr val="B8C0C2"/>
            </a:solidFill>
            <a:prstDash val="solid"/>
          </a:ln>
        </p:spPr>
        <p:txBody>
          <a:bodyPr wrap="square" lIns="63500" tIns="63500" rIns="63500" bIns="63500" rtlCol="0" anchor="ctr"/>
          <a:lstStyle/>
          <a:p>
            <a:pPr algn="l" indent="0" marL="0">
              <a:buNone/>
            </a:pPr>
            <a:r>
              <a:rPr lang="en-US" sz="1000" b="1" dirty="0">
                <a:solidFill>
                  <a:schemeClr val="tx1"/>
                </a:solidFill>
              </a:rPr>
              <a:t>Report</a:t>
            </a:r>
            <a:endParaRPr lang="en-US" sz="1000" dirty="0"/>
          </a:p>
          <a:p>
            <a:pPr algn="l" indent="0" marL="0">
              <a:buNone/>
            </a:pPr>
            <a:r>
              <a:rPr lang="en-US" sz="850" dirty="0">
                <a:solidFill>
                  <a:schemeClr val="accent2"/>
                </a:solidFill>
              </a:rPr>
              <a:t>images, decisions, tasks, costs</a:t>
            </a:r>
            <a:endParaRPr lang="en-US" sz="1000" dirty="0"/>
          </a:p>
        </p:txBody>
      </p:sp>
      <p:sp>
        <p:nvSpPr>
          <p:cNvPr id="58" name="Stage 4 link 1"/>
          <p:cNvSpPr/>
          <p:nvPr/>
        </p:nvSpPr>
        <p:spPr>
          <a:xfrm>
            <a:off x="7760970" y="1938528"/>
            <a:ext cx="0" cy="128016"/>
          </a:xfrm>
          <a:prstGeom prst="line">
            <a:avLst/>
          </a:prstGeom>
          <a:noFill/>
          <a:ln w="15875">
            <a:solidFill>
              <a:schemeClr val="accent3"/>
            </a:solidFill>
            <a:prstDash val="solid"/>
            <a:tailEnd type="triangle"/>
          </a:ln>
        </p:spPr>
      </p:sp>
      <p:sp>
        <p:nvSpPr>
          <p:cNvPr id="59" name="Stage 4 step 2"/>
          <p:cNvSpPr txBox="1"/>
          <p:nvPr/>
        </p:nvSpPr>
        <p:spPr>
          <a:xfrm>
            <a:off x="6835140" y="2066544"/>
            <a:ext cx="1851660" cy="365760"/>
          </a:xfrm>
          <a:prstGeom prst="roundRect">
            <a:avLst>
              <a:gd name="adj" fmla="val 15000"/>
            </a:avLst>
          </a:prstGeom>
          <a:solidFill>
            <a:srgbClr val="FFFFFF"/>
          </a:solidFill>
          <a:ln w="12700">
            <a:solidFill>
              <a:srgbClr val="B8C0C2"/>
            </a:solidFill>
            <a:prstDash val="solid"/>
          </a:ln>
        </p:spPr>
        <p:txBody>
          <a:bodyPr wrap="square" lIns="63500" tIns="63500" rIns="63500" bIns="63500" rtlCol="0" anchor="ctr"/>
          <a:lstStyle/>
          <a:p>
            <a:pPr algn="l" indent="0" marL="0">
              <a:buNone/>
            </a:pPr>
            <a:r>
              <a:rPr lang="en-US" sz="1000" b="1" dirty="0">
                <a:solidFill>
                  <a:schemeClr val="tx1"/>
                </a:solidFill>
              </a:rPr>
              <a:t>Bangla assistant</a:t>
            </a:r>
            <a:endParaRPr lang="en-US" sz="1000" dirty="0"/>
          </a:p>
          <a:p>
            <a:pPr algn="l" indent="0" marL="0">
              <a:buNone/>
            </a:pPr>
            <a:r>
              <a:rPr lang="en-US" sz="850" dirty="0">
                <a:solidFill>
                  <a:schemeClr val="accent2"/>
                </a:solidFill>
              </a:rPr>
              <a:t>answers with sources</a:t>
            </a:r>
            <a:endParaRPr lang="en-US" sz="1000" dirty="0"/>
          </a:p>
        </p:txBody>
      </p:sp>
      <p:sp>
        <p:nvSpPr>
          <p:cNvPr id="60" name="Stage 4 link 2"/>
          <p:cNvSpPr/>
          <p:nvPr/>
        </p:nvSpPr>
        <p:spPr>
          <a:xfrm>
            <a:off x="7760970" y="2432304"/>
            <a:ext cx="0" cy="128016"/>
          </a:xfrm>
          <a:prstGeom prst="line">
            <a:avLst/>
          </a:prstGeom>
          <a:noFill/>
          <a:ln w="15875">
            <a:solidFill>
              <a:schemeClr val="accent3"/>
            </a:solidFill>
            <a:prstDash val="solid"/>
            <a:tailEnd type="triangle"/>
          </a:ln>
        </p:spPr>
      </p:sp>
      <p:sp>
        <p:nvSpPr>
          <p:cNvPr id="61" name="Stage 4 step 3"/>
          <p:cNvSpPr txBox="1"/>
          <p:nvPr/>
        </p:nvSpPr>
        <p:spPr>
          <a:xfrm>
            <a:off x="6835140" y="2560320"/>
            <a:ext cx="1851660" cy="365760"/>
          </a:xfrm>
          <a:prstGeom prst="roundRect">
            <a:avLst>
              <a:gd name="adj" fmla="val 15000"/>
            </a:avLst>
          </a:prstGeom>
          <a:solidFill>
            <a:srgbClr val="FFFFFF"/>
          </a:solidFill>
          <a:ln w="12700">
            <a:solidFill>
              <a:srgbClr val="B8C0C2"/>
            </a:solidFill>
            <a:prstDash val="solid"/>
          </a:ln>
        </p:spPr>
        <p:txBody>
          <a:bodyPr wrap="square" lIns="63500" tIns="63500" rIns="63500" bIns="63500" rtlCol="0" anchor="ctr"/>
          <a:lstStyle/>
          <a:p>
            <a:pPr algn="l" indent="0" marL="0">
              <a:buNone/>
            </a:pPr>
            <a:r>
              <a:rPr lang="en-US" sz="1000" b="1" dirty="0">
                <a:solidFill>
                  <a:schemeClr val="tx1"/>
                </a:solidFill>
              </a:rPr>
              <a:t>Audit trail</a:t>
            </a:r>
            <a:endParaRPr lang="en-US" sz="1000" dirty="0"/>
          </a:p>
          <a:p>
            <a:pPr algn="l" indent="0" marL="0">
              <a:buNone/>
            </a:pPr>
            <a:r>
              <a:rPr lang="en-US" sz="850" dirty="0">
                <a:solidFill>
                  <a:schemeClr val="accent2"/>
                </a:solidFill>
              </a:rPr>
              <a:t>who did what, and when</a:t>
            </a:r>
            <a:endParaRPr lang="en-US" sz="1000" dirty="0"/>
          </a:p>
        </p:txBody>
      </p:sp>
      <p:sp>
        <p:nvSpPr>
          <p:cNvPr id="62" name="Key title"/>
          <p:cNvSpPr txBox="1"/>
          <p:nvPr/>
        </p:nvSpPr>
        <p:spPr>
          <a:xfrm>
            <a:off x="6835140" y="3200400"/>
            <a:ext cx="1851660" cy="201168"/>
          </a:xfrm>
          <a:prstGeom prst="rect">
            <a:avLst/>
          </a:prstGeom>
          <a:noFill/>
          <a:ln/>
        </p:spPr>
        <p:txBody>
          <a:bodyPr wrap="square" lIns="0" tIns="0" rIns="0" bIns="0" rtlCol="0" anchor="ctr"/>
          <a:lstStyle/>
          <a:p>
            <a:pPr indent="0" marL="0">
              <a:buNone/>
            </a:pPr>
            <a:r>
              <a:rPr lang="en-US" sz="850" b="1" spc="100" kern="0" dirty="0">
                <a:solidFill>
                  <a:schemeClr val="accent2"/>
                </a:solidFill>
              </a:rPr>
              <a:t>KEY</a:t>
            </a:r>
            <a:endParaRPr lang="en-US" sz="850" dirty="0"/>
          </a:p>
        </p:txBody>
      </p:sp>
      <p:sp>
        <p:nvSpPr>
          <p:cNvPr id="63" name="Key swatch Step"/>
          <p:cNvSpPr/>
          <p:nvPr/>
        </p:nvSpPr>
        <p:spPr>
          <a:xfrm>
            <a:off x="6835140" y="3474720"/>
            <a:ext cx="365760" cy="182880"/>
          </a:xfrm>
          <a:prstGeom prst="roundRect">
            <a:avLst>
              <a:gd name="adj" fmla="val 20000"/>
            </a:avLst>
          </a:prstGeom>
          <a:solidFill>
            <a:srgbClr val="FFFFFF"/>
          </a:solidFill>
          <a:ln w="12700">
            <a:solidFill>
              <a:srgbClr val="B8C0C2"/>
            </a:solidFill>
            <a:prstDash val="solid"/>
          </a:ln>
        </p:spPr>
      </p:sp>
      <p:sp>
        <p:nvSpPr>
          <p:cNvPr id="64" name="Key label Step"/>
          <p:cNvSpPr txBox="1"/>
          <p:nvPr/>
        </p:nvSpPr>
        <p:spPr>
          <a:xfrm>
            <a:off x="7310628" y="3474720"/>
            <a:ext cx="1376172" cy="182880"/>
          </a:xfrm>
          <a:prstGeom prst="rect">
            <a:avLst/>
          </a:prstGeom>
          <a:noFill/>
          <a:ln/>
        </p:spPr>
        <p:txBody>
          <a:bodyPr wrap="square" lIns="0" tIns="0" rIns="0" bIns="0" rtlCol="0" anchor="ctr"/>
          <a:lstStyle/>
          <a:p>
            <a:pPr indent="0" marL="0">
              <a:buNone/>
            </a:pPr>
            <a:r>
              <a:rPr lang="en-US" sz="900" dirty="0">
                <a:solidFill>
                  <a:schemeClr val="tx1"/>
                </a:solidFill>
              </a:rPr>
              <a:t>Step</a:t>
            </a:r>
            <a:endParaRPr lang="en-US" sz="900" dirty="0"/>
          </a:p>
        </p:txBody>
      </p:sp>
      <p:sp>
        <p:nvSpPr>
          <p:cNvPr id="65" name="Key swatch Decision"/>
          <p:cNvSpPr/>
          <p:nvPr/>
        </p:nvSpPr>
        <p:spPr>
          <a:xfrm>
            <a:off x="6835140" y="3767328"/>
            <a:ext cx="365760" cy="182880"/>
          </a:xfrm>
          <a:prstGeom prst="roundRect">
            <a:avLst>
              <a:gd name="adj" fmla="val 20000"/>
            </a:avLst>
          </a:prstGeom>
          <a:solidFill>
            <a:srgbClr val="F3F5F5"/>
          </a:solidFill>
          <a:ln w="12700">
            <a:solidFill>
              <a:srgbClr val="B8C0C2"/>
            </a:solidFill>
            <a:prstDash val="solid"/>
          </a:ln>
        </p:spPr>
      </p:sp>
      <p:sp>
        <p:nvSpPr>
          <p:cNvPr id="66" name="Key label Decision"/>
          <p:cNvSpPr txBox="1"/>
          <p:nvPr/>
        </p:nvSpPr>
        <p:spPr>
          <a:xfrm>
            <a:off x="7310628" y="3767328"/>
            <a:ext cx="1376172" cy="182880"/>
          </a:xfrm>
          <a:prstGeom prst="rect">
            <a:avLst/>
          </a:prstGeom>
          <a:noFill/>
          <a:ln/>
        </p:spPr>
        <p:txBody>
          <a:bodyPr wrap="square" lIns="0" tIns="0" rIns="0" bIns="0" rtlCol="0" anchor="ctr"/>
          <a:lstStyle/>
          <a:p>
            <a:pPr indent="0" marL="0">
              <a:buNone/>
            </a:pPr>
            <a:r>
              <a:rPr lang="en-US" sz="900" dirty="0">
                <a:solidFill>
                  <a:schemeClr val="tx1"/>
                </a:solidFill>
              </a:rPr>
              <a:t>Decision</a:t>
            </a:r>
            <a:endParaRPr lang="en-US" sz="900" dirty="0"/>
          </a:p>
        </p:txBody>
      </p:sp>
      <p:sp>
        <p:nvSpPr>
          <p:cNvPr id="67" name="Key swatch Main path"/>
          <p:cNvSpPr/>
          <p:nvPr/>
        </p:nvSpPr>
        <p:spPr>
          <a:xfrm>
            <a:off x="6835140" y="4059936"/>
            <a:ext cx="365760" cy="182880"/>
          </a:xfrm>
          <a:prstGeom prst="roundRect">
            <a:avLst>
              <a:gd name="adj" fmla="val 20000"/>
            </a:avLst>
          </a:prstGeom>
          <a:solidFill>
            <a:srgbClr val="FFFFFF"/>
          </a:solidFill>
          <a:ln w="19050">
            <a:solidFill>
              <a:schemeClr val="tx2"/>
            </a:solidFill>
            <a:prstDash val="solid"/>
          </a:ln>
        </p:spPr>
      </p:sp>
      <p:sp>
        <p:nvSpPr>
          <p:cNvPr id="68" name="Key label Main path"/>
          <p:cNvSpPr txBox="1"/>
          <p:nvPr/>
        </p:nvSpPr>
        <p:spPr>
          <a:xfrm>
            <a:off x="7310628" y="4059936"/>
            <a:ext cx="1376172" cy="182880"/>
          </a:xfrm>
          <a:prstGeom prst="rect">
            <a:avLst/>
          </a:prstGeom>
          <a:noFill/>
          <a:ln/>
        </p:spPr>
        <p:txBody>
          <a:bodyPr wrap="square" lIns="0" tIns="0" rIns="0" bIns="0" rtlCol="0" anchor="ctr"/>
          <a:lstStyle/>
          <a:p>
            <a:pPr indent="0" marL="0">
              <a:buNone/>
            </a:pPr>
            <a:r>
              <a:rPr lang="en-US" sz="900" dirty="0">
                <a:solidFill>
                  <a:schemeClr val="tx1"/>
                </a:solidFill>
              </a:rPr>
              <a:t>Main path</a:t>
            </a:r>
            <a:endParaRPr lang="en-US" sz="900" dirty="0"/>
          </a:p>
        </p:txBody>
      </p:sp>
      <p:sp>
        <p:nvSpPr>
          <p:cNvPr id="69" name="Key swatch Side path or alert"/>
          <p:cNvSpPr/>
          <p:nvPr/>
        </p:nvSpPr>
        <p:spPr>
          <a:xfrm>
            <a:off x="6835140" y="4352544"/>
            <a:ext cx="365760" cy="182880"/>
          </a:xfrm>
          <a:prstGeom prst="roundRect">
            <a:avLst>
              <a:gd name="adj" fmla="val 20000"/>
            </a:avLst>
          </a:prstGeom>
          <a:solidFill>
            <a:srgbClr val="FFFFFF"/>
          </a:solidFill>
          <a:ln w="12700">
            <a:solidFill>
              <a:srgbClr val="B8C0C2"/>
            </a:solidFill>
            <a:prstDash val="dash"/>
          </a:ln>
        </p:spPr>
      </p:sp>
      <p:sp>
        <p:nvSpPr>
          <p:cNvPr id="70" name="Key label Side path or alert"/>
          <p:cNvSpPr txBox="1"/>
          <p:nvPr/>
        </p:nvSpPr>
        <p:spPr>
          <a:xfrm>
            <a:off x="7310628" y="4352544"/>
            <a:ext cx="1376172" cy="182880"/>
          </a:xfrm>
          <a:prstGeom prst="rect">
            <a:avLst/>
          </a:prstGeom>
          <a:noFill/>
          <a:ln/>
        </p:spPr>
        <p:txBody>
          <a:bodyPr wrap="square" lIns="0" tIns="0" rIns="0" bIns="0" rtlCol="0" anchor="ctr"/>
          <a:lstStyle/>
          <a:p>
            <a:pPr indent="0" marL="0">
              <a:buNone/>
            </a:pPr>
            <a:r>
              <a:rPr lang="en-US" sz="900" dirty="0">
                <a:solidFill>
                  <a:schemeClr val="tx1"/>
                </a:solidFill>
              </a:rPr>
              <a:t>Side path or alert</a:t>
            </a:r>
            <a:endParaRPr lang="en-US" sz="900" dirty="0"/>
          </a:p>
        </p:txBody>
      </p:sp>
      <p:sp>
        <p:nvSpPr>
          <p:cNvPr id="71" name="Task status line"/>
          <p:cNvSpPr txBox="1"/>
          <p:nvPr/>
        </p:nvSpPr>
        <p:spPr>
          <a:xfrm>
            <a:off x="457200" y="4681728"/>
            <a:ext cx="7772400" cy="228600"/>
          </a:xfrm>
          <a:prstGeom prst="rect">
            <a:avLst/>
          </a:prstGeom>
          <a:noFill/>
          <a:ln/>
        </p:spPr>
        <p:txBody>
          <a:bodyPr wrap="square" lIns="0" tIns="0" rIns="0" bIns="0" rtlCol="0" anchor="ctr"/>
          <a:lstStyle/>
          <a:p>
            <a:pPr indent="0" marL="0">
              <a:buNone/>
            </a:pPr>
            <a:r>
              <a:rPr lang="en-US" sz="1000" b="1" dirty="0">
                <a:solidFill>
                  <a:schemeClr val="tx1"/>
                </a:solidFill>
              </a:rPr>
              <a:t>Task status  </a:t>
            </a:r>
            <a:pPr indent="0" marL="0">
              <a:buNone/>
            </a:pPr>
            <a:r>
              <a:rPr lang="en-US" sz="1000" dirty="0">
                <a:solidFill>
                  <a:schemeClr val="accent2"/>
                </a:solidFill>
              </a:rPr>
              <a:t>Review pending  →  Approved  →  In progress  →  Reported complete</a:t>
            </a:r>
            <a:endParaRPr lang="en-US" sz="10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Key Features: Monitoring &amp; Operations</a:t>
            </a:r>
            <a:endParaRPr lang="en-US" sz="2800" dirty="0"/>
          </a:p>
        </p:txBody>
      </p:sp>
      <p:sp>
        <p:nvSpPr>
          <p:cNvPr id="3" name="Text 0"/>
          <p:cNvSpPr/>
          <p:nvPr>
            <p:ph idx="101" type="body" hasCustomPrompt="1"/>
          </p:nvPr>
        </p:nvSpPr>
        <p:spPr>
          <a:xfrm>
            <a:off x="457200" y="841248"/>
            <a:ext cx="8229600" cy="365760"/>
          </a:xfrm>
          <a:prstGeom prst="rect">
            <a:avLst/>
          </a:prstGeom>
          <a:noFill/>
          <a:ln/>
        </p:spPr>
        <p:txBody>
          <a:bodyPr wrap="square" lIns="0" tIns="0" rIns="0" bIns="0" rtlCol="0" anchor="t"/>
          <a:lstStyle/>
          <a:p>
            <a:pPr algn="l" indent="0" marL="0">
              <a:buNone/>
            </a:pPr>
            <a:r>
              <a:rPr lang="en-US" sz="1300" dirty="0">
                <a:solidFill>
                  <a:schemeClr val="accent2"/>
                </a:solidFill>
              </a:rPr>
              <a:t>The core tools a team uses every week to watch sites, act on findings and control costs.</a:t>
            </a:r>
            <a:endParaRPr lang="en-US" sz="1300" dirty="0"/>
          </a:p>
        </p:txBody>
      </p:sp>
      <p:pic>
        <p:nvPicPr>
          <p:cNvPr id="4" name="Map &amp; Change Analysis screenshot" descr="Map &amp; Change Analysis screen">    </p:cNvPr>
          <p:cNvPicPr>
            <a:picLocks noChangeAspect="1"/>
          </p:cNvPicPr>
          <p:nvPr/>
        </p:nvPicPr>
        <p:blipFill>
          <a:blip r:embed="rId1"/>
          <a:srcRect l="0" r="0" t="0" b="0"/>
          <a:stretch/>
        </p:blipFill>
        <p:spPr>
          <a:xfrm>
            <a:off x="457200" y="1325880"/>
            <a:ext cx="2560320" cy="1417320"/>
          </a:xfrm>
          <a:prstGeom prst="rect">
            <a:avLst/>
          </a:prstGeom>
        </p:spPr>
      </p:pic>
      <p:sp>
        <p:nvSpPr>
          <p:cNvPr id="5" name="Map &amp; Change Analysis screenshot frame"/>
          <p:cNvSpPr/>
          <p:nvPr/>
        </p:nvSpPr>
        <p:spPr>
          <a:xfrm>
            <a:off x="457200" y="1325880"/>
            <a:ext cx="2560320" cy="1417320"/>
          </a:xfrm>
          <a:prstGeom prst="rect">
            <a:avLst/>
          </a:prstGeom>
          <a:ln w="9525">
            <a:solidFill>
              <a:schemeClr val="accent4"/>
            </a:solidFill>
            <a:prstDash val="solid"/>
          </a:ln>
        </p:spPr>
      </p:sp>
      <p:sp>
        <p:nvSpPr>
          <p:cNvPr id="6" name="Text 3"/>
          <p:cNvSpPr txBox="1"/>
          <p:nvPr/>
        </p:nvSpPr>
        <p:spPr>
          <a:xfrm>
            <a:off x="457200" y="2834640"/>
            <a:ext cx="2560320" cy="274320"/>
          </a:xfrm>
          <a:prstGeom prst="rect">
            <a:avLst/>
          </a:prstGeom>
          <a:noFill/>
          <a:ln/>
        </p:spPr>
        <p:txBody>
          <a:bodyPr wrap="square" lIns="0" tIns="0" rIns="0" bIns="0" rtlCol="0" anchor="ctr"/>
          <a:lstStyle/>
          <a:p>
            <a:pPr indent="0" marL="0">
              <a:buNone/>
            </a:pPr>
            <a:r>
              <a:rPr lang="en-US" sz="1300" b="1" dirty="0">
                <a:solidFill>
                  <a:schemeClr val="tx1"/>
                </a:solidFill>
              </a:rPr>
              <a:t>Map &amp; Change Analysis</a:t>
            </a:r>
            <a:endParaRPr lang="en-US" sz="1300" dirty="0"/>
          </a:p>
        </p:txBody>
      </p:sp>
      <p:sp>
        <p:nvSpPr>
          <p:cNvPr id="7" name="Text 4"/>
          <p:cNvSpPr txBox="1"/>
          <p:nvPr/>
        </p:nvSpPr>
        <p:spPr>
          <a:xfrm>
            <a:off x="457200" y="3127248"/>
            <a:ext cx="2560320" cy="502920"/>
          </a:xfrm>
          <a:prstGeom prst="rect">
            <a:avLst/>
          </a:prstGeom>
          <a:noFill/>
          <a:ln/>
        </p:spPr>
        <p:txBody>
          <a:bodyPr wrap="square" lIns="0" tIns="0" rIns="0" bIns="0" rtlCol="0" anchor="t"/>
          <a:lstStyle/>
          <a:p>
            <a:pPr indent="0" marL="0">
              <a:buNone/>
            </a:pPr>
            <a:r>
              <a:rPr lang="en-US" sz="1050" dirty="0">
                <a:solidFill>
                  <a:schemeClr val="accent2"/>
                </a:solidFill>
              </a:rPr>
              <a:t>See every site on one map and compare old and new satellite images side by side.</a:t>
            </a:r>
            <a:endParaRPr lang="en-US" sz="1050" dirty="0"/>
          </a:p>
        </p:txBody>
      </p:sp>
      <p:sp>
        <p:nvSpPr>
          <p:cNvPr id="8" name="Text 5"/>
          <p:cNvSpPr txBox="1"/>
          <p:nvPr/>
        </p:nvSpPr>
        <p:spPr>
          <a:xfrm>
            <a:off x="457200" y="3657600"/>
            <a:ext cx="2560320" cy="960120"/>
          </a:xfrm>
          <a:prstGeom prst="rect">
            <a:avLst/>
          </a:prstGeom>
          <a:noFill/>
          <a:ln/>
        </p:spPr>
        <p:txBody>
          <a:bodyPr wrap="square" lIns="0" tIns="0" rIns="0" bIns="0" rtlCol="0" anchor="t"/>
          <a:lstStyle/>
          <a:p>
            <a:pPr marL="127000" indent="-127000">
              <a:spcAft>
                <a:spcPts val="200"/>
              </a:spcAft>
              <a:buSzPct val="100000"/>
              <a:buChar char="•"/>
            </a:pPr>
            <a:r>
              <a:rPr lang="en-US" sz="1000" dirty="0">
                <a:solidFill>
                  <a:schemeClr val="tx1"/>
                </a:solidFill>
              </a:rPr>
              <a:t>Filter sites by review status</a:t>
            </a:r>
            <a:endParaRPr lang="en-US" sz="1000" dirty="0"/>
          </a:p>
          <a:p>
            <a:pPr marL="127000" indent="-127000">
              <a:spcAft>
                <a:spcPts val="200"/>
              </a:spcAft>
              <a:buSzPct val="100000"/>
              <a:buChar char="•"/>
            </a:pPr>
            <a:r>
              <a:rPr lang="en-US" sz="1000" dirty="0">
                <a:solidFill>
                  <a:schemeClr val="tx1"/>
                </a:solidFill>
              </a:rPr>
              <a:t>Estimated change in visible water area</a:t>
            </a:r>
            <a:endParaRPr lang="en-US" sz="1000" dirty="0"/>
          </a:p>
          <a:p>
            <a:pPr marL="127000" indent="-127000">
              <a:spcAft>
                <a:spcPts val="200"/>
              </a:spcAft>
              <a:buSzPct val="100000"/>
              <a:buChar char="•"/>
            </a:pPr>
            <a:r>
              <a:rPr lang="en-US" sz="1000" dirty="0">
                <a:solidFill>
                  <a:schemeClr val="tx1"/>
                </a:solidFill>
              </a:rPr>
              <a:t>Shows "Insufficient data" when clouds block the view</a:t>
            </a:r>
            <a:endParaRPr lang="en-US" sz="1000" dirty="0"/>
          </a:p>
        </p:txBody>
      </p:sp>
      <p:pic>
        <p:nvPicPr>
          <p:cNvPr id="9" name="Review &amp; Tasks screenshot" descr="Review &amp; Tasks screen">    </p:cNvPr>
          <p:cNvPicPr>
            <a:picLocks noChangeAspect="1"/>
          </p:cNvPicPr>
          <p:nvPr/>
        </p:nvPicPr>
        <p:blipFill>
          <a:blip r:embed="rId2"/>
          <a:srcRect l="0" r="0" t="0" b="0"/>
          <a:stretch/>
        </p:blipFill>
        <p:spPr>
          <a:xfrm>
            <a:off x="3291840" y="1325880"/>
            <a:ext cx="2560320" cy="1417320"/>
          </a:xfrm>
          <a:prstGeom prst="rect">
            <a:avLst/>
          </a:prstGeom>
        </p:spPr>
      </p:pic>
      <p:sp>
        <p:nvSpPr>
          <p:cNvPr id="10" name="Review &amp; Tasks screenshot frame"/>
          <p:cNvSpPr/>
          <p:nvPr/>
        </p:nvSpPr>
        <p:spPr>
          <a:xfrm>
            <a:off x="3291840" y="1325880"/>
            <a:ext cx="2560320" cy="1417320"/>
          </a:xfrm>
          <a:prstGeom prst="rect">
            <a:avLst/>
          </a:prstGeom>
          <a:ln w="9525">
            <a:solidFill>
              <a:schemeClr val="accent4"/>
            </a:solidFill>
            <a:prstDash val="solid"/>
          </a:ln>
        </p:spPr>
      </p:sp>
      <p:sp>
        <p:nvSpPr>
          <p:cNvPr id="11" name="Text 7"/>
          <p:cNvSpPr txBox="1"/>
          <p:nvPr/>
        </p:nvSpPr>
        <p:spPr>
          <a:xfrm>
            <a:off x="3291840" y="2834640"/>
            <a:ext cx="2560320" cy="274320"/>
          </a:xfrm>
          <a:prstGeom prst="rect">
            <a:avLst/>
          </a:prstGeom>
          <a:noFill/>
          <a:ln/>
        </p:spPr>
        <p:txBody>
          <a:bodyPr wrap="square" lIns="0" tIns="0" rIns="0" bIns="0" rtlCol="0" anchor="ctr"/>
          <a:lstStyle/>
          <a:p>
            <a:pPr indent="0" marL="0">
              <a:buNone/>
            </a:pPr>
            <a:r>
              <a:rPr lang="en-US" sz="1300" b="1" dirty="0">
                <a:solidFill>
                  <a:schemeClr val="tx1"/>
                </a:solidFill>
              </a:rPr>
              <a:t>Review &amp; Tasks</a:t>
            </a:r>
            <a:endParaRPr lang="en-US" sz="1300" dirty="0"/>
          </a:p>
        </p:txBody>
      </p:sp>
      <p:sp>
        <p:nvSpPr>
          <p:cNvPr id="12" name="Text 8"/>
          <p:cNvSpPr txBox="1"/>
          <p:nvPr/>
        </p:nvSpPr>
        <p:spPr>
          <a:xfrm>
            <a:off x="3291840" y="3127248"/>
            <a:ext cx="2560320" cy="502920"/>
          </a:xfrm>
          <a:prstGeom prst="rect">
            <a:avLst/>
          </a:prstGeom>
          <a:noFill/>
          <a:ln/>
        </p:spPr>
        <p:txBody>
          <a:bodyPr wrap="square" lIns="0" tIns="0" rIns="0" bIns="0" rtlCol="0" anchor="t"/>
          <a:lstStyle/>
          <a:p>
            <a:pPr indent="0" marL="0">
              <a:buNone/>
            </a:pPr>
            <a:r>
              <a:rPr lang="en-US" sz="1050" dirty="0">
                <a:solidFill>
                  <a:schemeClr val="accent2"/>
                </a:solidFill>
              </a:rPr>
              <a:t>Turn a reviewed finding into accountable field work.</a:t>
            </a:r>
            <a:endParaRPr lang="en-US" sz="1050" dirty="0"/>
          </a:p>
        </p:txBody>
      </p:sp>
      <p:sp>
        <p:nvSpPr>
          <p:cNvPr id="13" name="Text 9"/>
          <p:cNvSpPr txBox="1"/>
          <p:nvPr/>
        </p:nvSpPr>
        <p:spPr>
          <a:xfrm>
            <a:off x="3291840" y="3657600"/>
            <a:ext cx="2560320" cy="960120"/>
          </a:xfrm>
          <a:prstGeom prst="rect">
            <a:avLst/>
          </a:prstGeom>
          <a:noFill/>
          <a:ln/>
        </p:spPr>
        <p:txBody>
          <a:bodyPr wrap="square" lIns="0" tIns="0" rIns="0" bIns="0" rtlCol="0" anchor="t"/>
          <a:lstStyle/>
          <a:p>
            <a:pPr marL="127000" indent="-127000">
              <a:spcAft>
                <a:spcPts val="200"/>
              </a:spcAft>
              <a:buSzPct val="100000"/>
              <a:buChar char="•"/>
            </a:pPr>
            <a:r>
              <a:rPr lang="en-US" sz="1000" dirty="0">
                <a:solidFill>
                  <a:schemeClr val="tx1"/>
                </a:solidFill>
              </a:rPr>
              <a:t>Record each decision with a written reason</a:t>
            </a:r>
            <a:endParaRPr lang="en-US" sz="1000" dirty="0"/>
          </a:p>
          <a:p>
            <a:pPr marL="127000" indent="-127000">
              <a:spcAft>
                <a:spcPts val="200"/>
              </a:spcAft>
              <a:buSzPct val="100000"/>
              <a:buChar char="•"/>
            </a:pPr>
            <a:r>
              <a:rPr lang="en-US" sz="1000" dirty="0">
                <a:solidFill>
                  <a:schemeClr val="tx1"/>
                </a:solidFill>
              </a:rPr>
              <a:t>Assign an owner, deadline and estimated cost</a:t>
            </a:r>
            <a:endParaRPr lang="en-US" sz="1000" dirty="0"/>
          </a:p>
          <a:p>
            <a:pPr marL="127000" indent="-127000">
              <a:spcAft>
                <a:spcPts val="200"/>
              </a:spcAft>
              <a:buSzPct val="100000"/>
              <a:buChar char="•"/>
            </a:pPr>
            <a:r>
              <a:rPr lang="en-US" sz="1000" dirty="0">
                <a:solidFill>
                  <a:schemeClr val="tx1"/>
                </a:solidFill>
              </a:rPr>
              <a:t>Track status from review to completion</a:t>
            </a:r>
            <a:endParaRPr lang="en-US" sz="1000" dirty="0"/>
          </a:p>
        </p:txBody>
      </p:sp>
      <p:pic>
        <p:nvPicPr>
          <p:cNvPr id="14" name="Team &amp; Costs screenshot" descr="Team &amp; Costs screen">    </p:cNvPr>
          <p:cNvPicPr>
            <a:picLocks noChangeAspect="1"/>
          </p:cNvPicPr>
          <p:nvPr/>
        </p:nvPicPr>
        <p:blipFill>
          <a:blip r:embed="rId3"/>
          <a:srcRect l="0" r="0" t="0" b="0"/>
          <a:stretch/>
        </p:blipFill>
        <p:spPr>
          <a:xfrm>
            <a:off x="6126480" y="1325880"/>
            <a:ext cx="2560320" cy="1417320"/>
          </a:xfrm>
          <a:prstGeom prst="rect">
            <a:avLst/>
          </a:prstGeom>
        </p:spPr>
      </p:pic>
      <p:sp>
        <p:nvSpPr>
          <p:cNvPr id="15" name="Team &amp; Costs screenshot frame"/>
          <p:cNvSpPr/>
          <p:nvPr/>
        </p:nvSpPr>
        <p:spPr>
          <a:xfrm>
            <a:off x="6126480" y="1325880"/>
            <a:ext cx="2560320" cy="1417320"/>
          </a:xfrm>
          <a:prstGeom prst="rect">
            <a:avLst/>
          </a:prstGeom>
          <a:ln w="9525">
            <a:solidFill>
              <a:schemeClr val="accent4"/>
            </a:solidFill>
            <a:prstDash val="solid"/>
          </a:ln>
        </p:spPr>
      </p:sp>
      <p:sp>
        <p:nvSpPr>
          <p:cNvPr id="16" name="Text 11"/>
          <p:cNvSpPr txBox="1"/>
          <p:nvPr/>
        </p:nvSpPr>
        <p:spPr>
          <a:xfrm>
            <a:off x="6126480" y="2834640"/>
            <a:ext cx="2560320" cy="274320"/>
          </a:xfrm>
          <a:prstGeom prst="rect">
            <a:avLst/>
          </a:prstGeom>
          <a:noFill/>
          <a:ln/>
        </p:spPr>
        <p:txBody>
          <a:bodyPr wrap="square" lIns="0" tIns="0" rIns="0" bIns="0" rtlCol="0" anchor="ctr"/>
          <a:lstStyle/>
          <a:p>
            <a:pPr indent="0" marL="0">
              <a:buNone/>
            </a:pPr>
            <a:r>
              <a:rPr lang="en-US" sz="1300" b="1" dirty="0">
                <a:solidFill>
                  <a:schemeClr val="tx1"/>
                </a:solidFill>
              </a:rPr>
              <a:t>Team &amp; Costs</a:t>
            </a:r>
            <a:endParaRPr lang="en-US" sz="1300" dirty="0"/>
          </a:p>
        </p:txBody>
      </p:sp>
      <p:sp>
        <p:nvSpPr>
          <p:cNvPr id="17" name="Text 12"/>
          <p:cNvSpPr txBox="1"/>
          <p:nvPr/>
        </p:nvSpPr>
        <p:spPr>
          <a:xfrm>
            <a:off x="6126480" y="3127248"/>
            <a:ext cx="2560320" cy="502920"/>
          </a:xfrm>
          <a:prstGeom prst="rect">
            <a:avLst/>
          </a:prstGeom>
          <a:noFill/>
          <a:ln/>
        </p:spPr>
        <p:txBody>
          <a:bodyPr wrap="square" lIns="0" tIns="0" rIns="0" bIns="0" rtlCol="0" anchor="t"/>
          <a:lstStyle/>
          <a:p>
            <a:pPr indent="0" marL="0">
              <a:buNone/>
            </a:pPr>
            <a:r>
              <a:rPr lang="en-US" sz="1050" dirty="0">
                <a:solidFill>
                  <a:schemeClr val="accent2"/>
                </a:solidFill>
              </a:rPr>
              <a:t>Keep team records and compare planned spending with actual expenses.</a:t>
            </a:r>
            <a:endParaRPr lang="en-US" sz="1050" dirty="0"/>
          </a:p>
        </p:txBody>
      </p:sp>
      <p:sp>
        <p:nvSpPr>
          <p:cNvPr id="18" name="Text 13"/>
          <p:cNvSpPr txBox="1"/>
          <p:nvPr/>
        </p:nvSpPr>
        <p:spPr>
          <a:xfrm>
            <a:off x="6126480" y="3657600"/>
            <a:ext cx="2560320" cy="960120"/>
          </a:xfrm>
          <a:prstGeom prst="rect">
            <a:avLst/>
          </a:prstGeom>
          <a:noFill/>
          <a:ln/>
        </p:spPr>
        <p:txBody>
          <a:bodyPr wrap="square" lIns="0" tIns="0" rIns="0" bIns="0" rtlCol="0" anchor="t"/>
          <a:lstStyle/>
          <a:p>
            <a:pPr marL="127000" indent="-127000">
              <a:spcAft>
                <a:spcPts val="200"/>
              </a:spcAft>
              <a:buSzPct val="100000"/>
              <a:buChar char="•"/>
            </a:pPr>
            <a:r>
              <a:rPr lang="en-US" sz="1000" dirty="0">
                <a:solidFill>
                  <a:schemeClr val="tx1"/>
                </a:solidFill>
              </a:rPr>
              <a:t>Every expense linked to a task and a site</a:t>
            </a:r>
            <a:endParaRPr lang="en-US" sz="1000" dirty="0"/>
          </a:p>
          <a:p>
            <a:pPr marL="127000" indent="-127000">
              <a:spcAft>
                <a:spcPts val="200"/>
              </a:spcAft>
              <a:buSzPct val="100000"/>
              <a:buChar char="•"/>
            </a:pPr>
            <a:r>
              <a:rPr lang="en-US" sz="1000" dirty="0">
                <a:solidFill>
                  <a:schemeClr val="tx1"/>
                </a:solidFill>
              </a:rPr>
              <a:t>Remaining budget calculated automatically</a:t>
            </a:r>
            <a:endParaRPr lang="en-US" sz="1000" dirty="0"/>
          </a:p>
          <a:p>
            <a:pPr marL="127000" indent="-127000">
              <a:spcAft>
                <a:spcPts val="200"/>
              </a:spcAft>
              <a:buSzPct val="100000"/>
              <a:buChar char="•"/>
            </a:pPr>
            <a:r>
              <a:rPr lang="en-US" sz="1000" dirty="0">
                <a:solidFill>
                  <a:schemeClr val="tx1"/>
                </a:solidFill>
              </a:rPr>
              <a:t>Clear warning when a site goes over budget</a:t>
            </a:r>
            <a:endParaRPr lang="en-US" sz="10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Key Features: Reporting &amp; Coordination</a:t>
            </a:r>
            <a:endParaRPr lang="en-US" sz="2800" dirty="0"/>
          </a:p>
        </p:txBody>
      </p:sp>
      <p:sp>
        <p:nvSpPr>
          <p:cNvPr id="3" name="Text 0"/>
          <p:cNvSpPr/>
          <p:nvPr>
            <p:ph idx="101" type="body" hasCustomPrompt="1"/>
          </p:nvPr>
        </p:nvSpPr>
        <p:spPr>
          <a:xfrm>
            <a:off x="457200" y="841248"/>
            <a:ext cx="8229600" cy="365760"/>
          </a:xfrm>
          <a:prstGeom prst="rect">
            <a:avLst/>
          </a:prstGeom>
          <a:noFill/>
          <a:ln/>
        </p:spPr>
        <p:txBody>
          <a:bodyPr wrap="square" lIns="0" tIns="0" rIns="0" bIns="0" rtlCol="0" anchor="t"/>
          <a:lstStyle/>
          <a:p>
            <a:pPr algn="l" indent="0" marL="0">
              <a:buNone/>
            </a:pPr>
            <a:r>
              <a:rPr lang="en-US" sz="1300" dirty="0">
                <a:solidFill>
                  <a:schemeClr val="accent2"/>
                </a:solidFill>
              </a:rPr>
              <a:t>Tools that explain the work, share it with others and keep everyone on schedule.</a:t>
            </a:r>
            <a:endParaRPr lang="en-US" sz="1300" dirty="0"/>
          </a:p>
        </p:txBody>
      </p:sp>
      <p:pic>
        <p:nvPicPr>
          <p:cNvPr id="4" name="Reports screenshot" descr="Reports screen">    </p:cNvPr>
          <p:cNvPicPr>
            <a:picLocks noChangeAspect="1"/>
          </p:cNvPicPr>
          <p:nvPr/>
        </p:nvPicPr>
        <p:blipFill>
          <a:blip r:embed="rId1"/>
          <a:srcRect l="0" r="0" t="0" b="0"/>
          <a:stretch/>
        </p:blipFill>
        <p:spPr>
          <a:xfrm>
            <a:off x="457200" y="1325880"/>
            <a:ext cx="2560320" cy="1417320"/>
          </a:xfrm>
          <a:prstGeom prst="rect">
            <a:avLst/>
          </a:prstGeom>
        </p:spPr>
      </p:pic>
      <p:sp>
        <p:nvSpPr>
          <p:cNvPr id="5" name="Reports screenshot frame"/>
          <p:cNvSpPr/>
          <p:nvPr/>
        </p:nvSpPr>
        <p:spPr>
          <a:xfrm>
            <a:off x="457200" y="1325880"/>
            <a:ext cx="2560320" cy="1417320"/>
          </a:xfrm>
          <a:prstGeom prst="rect">
            <a:avLst/>
          </a:prstGeom>
          <a:ln w="9525">
            <a:solidFill>
              <a:schemeClr val="accent4"/>
            </a:solidFill>
            <a:prstDash val="solid"/>
          </a:ln>
        </p:spPr>
      </p:sp>
      <p:sp>
        <p:nvSpPr>
          <p:cNvPr id="6" name="Text 3"/>
          <p:cNvSpPr txBox="1"/>
          <p:nvPr/>
        </p:nvSpPr>
        <p:spPr>
          <a:xfrm>
            <a:off x="457200" y="2834640"/>
            <a:ext cx="2560320" cy="274320"/>
          </a:xfrm>
          <a:prstGeom prst="rect">
            <a:avLst/>
          </a:prstGeom>
          <a:noFill/>
          <a:ln/>
        </p:spPr>
        <p:txBody>
          <a:bodyPr wrap="square" lIns="0" tIns="0" rIns="0" bIns="0" rtlCol="0" anchor="ctr"/>
          <a:lstStyle/>
          <a:p>
            <a:pPr indent="0" marL="0">
              <a:buNone/>
            </a:pPr>
            <a:r>
              <a:rPr lang="en-US" sz="1300" b="1" dirty="0">
                <a:solidFill>
                  <a:schemeClr val="tx1"/>
                </a:solidFill>
              </a:rPr>
              <a:t>Reports</a:t>
            </a:r>
            <a:endParaRPr lang="en-US" sz="1300" dirty="0"/>
          </a:p>
        </p:txBody>
      </p:sp>
      <p:sp>
        <p:nvSpPr>
          <p:cNvPr id="7" name="Text 4"/>
          <p:cNvSpPr txBox="1"/>
          <p:nvPr/>
        </p:nvSpPr>
        <p:spPr>
          <a:xfrm>
            <a:off x="457200" y="3127248"/>
            <a:ext cx="2560320" cy="502920"/>
          </a:xfrm>
          <a:prstGeom prst="rect">
            <a:avLst/>
          </a:prstGeom>
          <a:noFill/>
          <a:ln/>
        </p:spPr>
        <p:txBody>
          <a:bodyPr wrap="square" lIns="0" tIns="0" rIns="0" bIns="0" rtlCol="0" anchor="t"/>
          <a:lstStyle/>
          <a:p>
            <a:pPr indent="0" marL="0">
              <a:buNone/>
            </a:pPr>
            <a:r>
              <a:rPr lang="en-US" sz="1050" dirty="0">
                <a:solidFill>
                  <a:schemeClr val="accent2"/>
                </a:solidFill>
              </a:rPr>
              <a:t>Create a printable report from current records in one click.</a:t>
            </a:r>
            <a:endParaRPr lang="en-US" sz="1050" dirty="0"/>
          </a:p>
        </p:txBody>
      </p:sp>
      <p:sp>
        <p:nvSpPr>
          <p:cNvPr id="8" name="Text 5"/>
          <p:cNvSpPr txBox="1"/>
          <p:nvPr/>
        </p:nvSpPr>
        <p:spPr>
          <a:xfrm>
            <a:off x="457200" y="3657600"/>
            <a:ext cx="2560320" cy="960120"/>
          </a:xfrm>
          <a:prstGeom prst="rect">
            <a:avLst/>
          </a:prstGeom>
          <a:noFill/>
          <a:ln/>
        </p:spPr>
        <p:txBody>
          <a:bodyPr wrap="square" lIns="0" tIns="0" rIns="0" bIns="0" rtlCol="0" anchor="t"/>
          <a:lstStyle/>
          <a:p>
            <a:pPr marL="127000" indent="-127000">
              <a:spcAft>
                <a:spcPts val="200"/>
              </a:spcAft>
              <a:buSzPct val="100000"/>
              <a:buChar char="•"/>
            </a:pPr>
            <a:r>
              <a:rPr lang="en-US" sz="1000" dirty="0">
                <a:solidFill>
                  <a:schemeClr val="tx1"/>
                </a:solidFill>
              </a:rPr>
              <a:t>Images, decisions, tasks and costs</a:t>
            </a:r>
            <a:endParaRPr lang="en-US" sz="1000" dirty="0"/>
          </a:p>
          <a:p>
            <a:pPr marL="127000" indent="-127000">
              <a:spcAft>
                <a:spcPts val="200"/>
              </a:spcAft>
              <a:buSzPct val="100000"/>
              <a:buChar char="•"/>
            </a:pPr>
            <a:r>
              <a:rPr lang="en-US" sz="1000" dirty="0">
                <a:solidFill>
                  <a:schemeClr val="tx1"/>
                </a:solidFill>
              </a:rPr>
              <a:t>Limitations and data sources included</a:t>
            </a:r>
            <a:endParaRPr lang="en-US" sz="1000" dirty="0"/>
          </a:p>
          <a:p>
            <a:pPr marL="127000" indent="-127000">
              <a:spcAft>
                <a:spcPts val="200"/>
              </a:spcAft>
              <a:buSzPct val="100000"/>
              <a:buChar char="•"/>
            </a:pPr>
            <a:r>
              <a:rPr lang="en-US" sz="1000" dirty="0">
                <a:solidFill>
                  <a:schemeClr val="tx1"/>
                </a:solidFill>
              </a:rPr>
              <a:t>Print or save as PDF</a:t>
            </a:r>
            <a:endParaRPr lang="en-US" sz="1000" dirty="0"/>
          </a:p>
        </p:txBody>
      </p:sp>
      <p:pic>
        <p:nvPicPr>
          <p:cNvPr id="9" name="Bangla Assistant screenshot" descr="Bangla Assistant screen">    </p:cNvPr>
          <p:cNvPicPr>
            <a:picLocks noChangeAspect="1"/>
          </p:cNvPicPr>
          <p:nvPr/>
        </p:nvPicPr>
        <p:blipFill>
          <a:blip r:embed="rId2"/>
          <a:srcRect l="0" r="0" t="0" b="0"/>
          <a:stretch/>
        </p:blipFill>
        <p:spPr>
          <a:xfrm>
            <a:off x="3291840" y="1325880"/>
            <a:ext cx="2560320" cy="1417320"/>
          </a:xfrm>
          <a:prstGeom prst="rect">
            <a:avLst/>
          </a:prstGeom>
        </p:spPr>
      </p:pic>
      <p:sp>
        <p:nvSpPr>
          <p:cNvPr id="10" name="Bangla Assistant screenshot frame"/>
          <p:cNvSpPr/>
          <p:nvPr/>
        </p:nvSpPr>
        <p:spPr>
          <a:xfrm>
            <a:off x="3291840" y="1325880"/>
            <a:ext cx="2560320" cy="1417320"/>
          </a:xfrm>
          <a:prstGeom prst="rect">
            <a:avLst/>
          </a:prstGeom>
          <a:ln w="9525">
            <a:solidFill>
              <a:schemeClr val="accent4"/>
            </a:solidFill>
            <a:prstDash val="solid"/>
          </a:ln>
        </p:spPr>
      </p:sp>
      <p:sp>
        <p:nvSpPr>
          <p:cNvPr id="11" name="Text 7"/>
          <p:cNvSpPr txBox="1"/>
          <p:nvPr/>
        </p:nvSpPr>
        <p:spPr>
          <a:xfrm>
            <a:off x="3291840" y="2834640"/>
            <a:ext cx="2560320" cy="274320"/>
          </a:xfrm>
          <a:prstGeom prst="rect">
            <a:avLst/>
          </a:prstGeom>
          <a:noFill/>
          <a:ln/>
        </p:spPr>
        <p:txBody>
          <a:bodyPr wrap="square" lIns="0" tIns="0" rIns="0" bIns="0" rtlCol="0" anchor="ctr"/>
          <a:lstStyle/>
          <a:p>
            <a:pPr indent="0" marL="0">
              <a:buNone/>
            </a:pPr>
            <a:r>
              <a:rPr lang="en-US" sz="1300" b="1" dirty="0">
                <a:solidFill>
                  <a:schemeClr val="tx1"/>
                </a:solidFill>
              </a:rPr>
              <a:t>Bangla Assistant</a:t>
            </a:r>
            <a:endParaRPr lang="en-US" sz="1300" dirty="0"/>
          </a:p>
        </p:txBody>
      </p:sp>
      <p:sp>
        <p:nvSpPr>
          <p:cNvPr id="12" name="Text 8"/>
          <p:cNvSpPr txBox="1"/>
          <p:nvPr/>
        </p:nvSpPr>
        <p:spPr>
          <a:xfrm>
            <a:off x="3291840" y="3127248"/>
            <a:ext cx="2560320" cy="502920"/>
          </a:xfrm>
          <a:prstGeom prst="rect">
            <a:avLst/>
          </a:prstGeom>
          <a:noFill/>
          <a:ln/>
        </p:spPr>
        <p:txBody>
          <a:bodyPr wrap="square" lIns="0" tIns="0" rIns="0" bIns="0" rtlCol="0" anchor="t"/>
          <a:lstStyle/>
          <a:p>
            <a:pPr indent="0" marL="0">
              <a:buNone/>
            </a:pPr>
            <a:r>
              <a:rPr lang="en-US" sz="1050" dirty="0">
                <a:solidFill>
                  <a:schemeClr val="accent2"/>
                </a:solidFill>
              </a:rPr>
              <a:t>Ask questions in Bangla and get answers from saved project records.</a:t>
            </a:r>
            <a:endParaRPr lang="en-US" sz="1050" dirty="0"/>
          </a:p>
        </p:txBody>
      </p:sp>
      <p:sp>
        <p:nvSpPr>
          <p:cNvPr id="13" name="Text 9"/>
          <p:cNvSpPr txBox="1"/>
          <p:nvPr/>
        </p:nvSpPr>
        <p:spPr>
          <a:xfrm>
            <a:off x="3291840" y="3657600"/>
            <a:ext cx="2560320" cy="960120"/>
          </a:xfrm>
          <a:prstGeom prst="rect">
            <a:avLst/>
          </a:prstGeom>
          <a:noFill/>
          <a:ln/>
        </p:spPr>
        <p:txBody>
          <a:bodyPr wrap="square" lIns="0" tIns="0" rIns="0" bIns="0" rtlCol="0" anchor="t"/>
          <a:lstStyle/>
          <a:p>
            <a:pPr marL="127000" indent="-127000">
              <a:spcAft>
                <a:spcPts val="200"/>
              </a:spcAft>
              <a:buSzPct val="100000"/>
              <a:buChar char="•"/>
            </a:pPr>
            <a:r>
              <a:rPr lang="en-US" sz="1000" dirty="0">
                <a:solidFill>
                  <a:schemeClr val="tx1"/>
                </a:solidFill>
              </a:rPr>
              <a:t>Questions such as which work is pending</a:t>
            </a:r>
            <a:endParaRPr lang="en-US" sz="1000" dirty="0"/>
          </a:p>
          <a:p>
            <a:pPr marL="127000" indent="-127000">
              <a:spcAft>
                <a:spcPts val="200"/>
              </a:spcAft>
              <a:buSzPct val="100000"/>
              <a:buChar char="•"/>
            </a:pPr>
            <a:r>
              <a:rPr lang="en-US" sz="1000" dirty="0">
                <a:solidFill>
                  <a:schemeClr val="tx1"/>
                </a:solidFill>
              </a:rPr>
              <a:t>Every answer shows its source records</a:t>
            </a:r>
            <a:endParaRPr lang="en-US" sz="1000" dirty="0"/>
          </a:p>
          <a:p>
            <a:pPr marL="127000" indent="-127000">
              <a:spcAft>
                <a:spcPts val="200"/>
              </a:spcAft>
              <a:buSzPct val="100000"/>
              <a:buChar char="•"/>
            </a:pPr>
            <a:r>
              <a:rPr lang="en-US" sz="1000" dirty="0">
                <a:solidFill>
                  <a:schemeClr val="tx1"/>
                </a:solidFill>
              </a:rPr>
              <a:t>Says clearly when data is missing</a:t>
            </a:r>
            <a:endParaRPr lang="en-US" sz="1000" dirty="0"/>
          </a:p>
        </p:txBody>
      </p:sp>
      <p:pic>
        <p:nvPicPr>
          <p:cNvPr id="14" name="Schedule &amp; Notifications screenshot" descr="Schedule &amp; Notifications screen">    </p:cNvPr>
          <p:cNvPicPr>
            <a:picLocks noChangeAspect="1"/>
          </p:cNvPicPr>
          <p:nvPr/>
        </p:nvPicPr>
        <p:blipFill>
          <a:blip r:embed="rId3"/>
          <a:srcRect l="0" r="0" t="0" b="0"/>
          <a:stretch/>
        </p:blipFill>
        <p:spPr>
          <a:xfrm>
            <a:off x="6126480" y="1325880"/>
            <a:ext cx="2560320" cy="1417320"/>
          </a:xfrm>
          <a:prstGeom prst="rect">
            <a:avLst/>
          </a:prstGeom>
        </p:spPr>
      </p:pic>
      <p:sp>
        <p:nvSpPr>
          <p:cNvPr id="15" name="Schedule &amp; Notifications screenshot frame"/>
          <p:cNvSpPr/>
          <p:nvPr/>
        </p:nvSpPr>
        <p:spPr>
          <a:xfrm>
            <a:off x="6126480" y="1325880"/>
            <a:ext cx="2560320" cy="1417320"/>
          </a:xfrm>
          <a:prstGeom prst="rect">
            <a:avLst/>
          </a:prstGeom>
          <a:ln w="9525">
            <a:solidFill>
              <a:schemeClr val="accent4"/>
            </a:solidFill>
            <a:prstDash val="solid"/>
          </a:ln>
        </p:spPr>
      </p:sp>
      <p:sp>
        <p:nvSpPr>
          <p:cNvPr id="16" name="Text 11"/>
          <p:cNvSpPr txBox="1"/>
          <p:nvPr/>
        </p:nvSpPr>
        <p:spPr>
          <a:xfrm>
            <a:off x="6126480" y="2834640"/>
            <a:ext cx="2560320" cy="274320"/>
          </a:xfrm>
          <a:prstGeom prst="rect">
            <a:avLst/>
          </a:prstGeom>
          <a:noFill/>
          <a:ln/>
        </p:spPr>
        <p:txBody>
          <a:bodyPr wrap="square" lIns="0" tIns="0" rIns="0" bIns="0" rtlCol="0" anchor="ctr"/>
          <a:lstStyle/>
          <a:p>
            <a:pPr indent="0" marL="0">
              <a:buNone/>
            </a:pPr>
            <a:r>
              <a:rPr lang="en-US" sz="1300" b="1" dirty="0">
                <a:solidFill>
                  <a:schemeClr val="tx1"/>
                </a:solidFill>
              </a:rPr>
              <a:t>Schedule &amp; Notifications</a:t>
            </a:r>
            <a:endParaRPr lang="en-US" sz="1300" dirty="0"/>
          </a:p>
        </p:txBody>
      </p:sp>
      <p:sp>
        <p:nvSpPr>
          <p:cNvPr id="17" name="Text 12"/>
          <p:cNvSpPr txBox="1"/>
          <p:nvPr/>
        </p:nvSpPr>
        <p:spPr>
          <a:xfrm>
            <a:off x="6126480" y="3127248"/>
            <a:ext cx="2560320" cy="502920"/>
          </a:xfrm>
          <a:prstGeom prst="rect">
            <a:avLst/>
          </a:prstGeom>
          <a:noFill/>
          <a:ln/>
        </p:spPr>
        <p:txBody>
          <a:bodyPr wrap="square" lIns="0" tIns="0" rIns="0" bIns="0" rtlCol="0" anchor="t"/>
          <a:lstStyle/>
          <a:p>
            <a:pPr indent="0" marL="0">
              <a:buNone/>
            </a:pPr>
            <a:r>
              <a:rPr lang="en-US" sz="1050" dirty="0">
                <a:solidFill>
                  <a:schemeClr val="accent2"/>
                </a:solidFill>
              </a:rPr>
              <a:t>Plan field visits and meetings alongside task deadlines.</a:t>
            </a:r>
            <a:endParaRPr lang="en-US" sz="1050" dirty="0"/>
          </a:p>
        </p:txBody>
      </p:sp>
      <p:sp>
        <p:nvSpPr>
          <p:cNvPr id="18" name="Text 13"/>
          <p:cNvSpPr txBox="1"/>
          <p:nvPr/>
        </p:nvSpPr>
        <p:spPr>
          <a:xfrm>
            <a:off x="6126480" y="3657600"/>
            <a:ext cx="2560320" cy="960120"/>
          </a:xfrm>
          <a:prstGeom prst="rect">
            <a:avLst/>
          </a:prstGeom>
          <a:noFill/>
          <a:ln/>
        </p:spPr>
        <p:txBody>
          <a:bodyPr wrap="square" lIns="0" tIns="0" rIns="0" bIns="0" rtlCol="0" anchor="t"/>
          <a:lstStyle/>
          <a:p>
            <a:pPr marL="127000" indent="-127000">
              <a:spcAft>
                <a:spcPts val="200"/>
              </a:spcAft>
              <a:buSzPct val="100000"/>
              <a:buChar char="•"/>
            </a:pPr>
            <a:r>
              <a:rPr lang="en-US" sz="1000" dirty="0">
                <a:solidFill>
                  <a:schemeClr val="tx1"/>
                </a:solidFill>
              </a:rPr>
              <a:t>Add events to Google Calendar</a:t>
            </a:r>
            <a:endParaRPr lang="en-US" sz="1000" dirty="0"/>
          </a:p>
          <a:p>
            <a:pPr marL="127000" indent="-127000">
              <a:spcAft>
                <a:spcPts val="200"/>
              </a:spcAft>
              <a:buSzPct val="100000"/>
              <a:buChar char="•"/>
            </a:pPr>
            <a:r>
              <a:rPr lang="en-US" sz="1000" dirty="0">
                <a:solidFill>
                  <a:schemeClr val="tx1"/>
                </a:solidFill>
              </a:rPr>
              <a:t>Email and WhatsApp reminders</a:t>
            </a:r>
            <a:endParaRPr lang="en-US" sz="1000" dirty="0"/>
          </a:p>
          <a:p>
            <a:pPr marL="127000" indent="-127000">
              <a:spcAft>
                <a:spcPts val="200"/>
              </a:spcAft>
              <a:buSzPct val="100000"/>
              <a:buChar char="•"/>
            </a:pPr>
            <a:r>
              <a:rPr lang="en-US" sz="1000" dirty="0">
                <a:solidFill>
                  <a:schemeClr val="tx1"/>
                </a:solidFill>
              </a:rPr>
              <a:t>Audit trail of every action</a:t>
            </a:r>
            <a:endParaRPr lang="en-US" sz="10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Target Users &amp; Expected Impact</a:t>
            </a:r>
            <a:endParaRPr lang="en-US" sz="2800" dirty="0"/>
          </a:p>
        </p:txBody>
      </p:sp>
      <p:sp>
        <p:nvSpPr>
          <p:cNvPr id="3" name="Text 0"/>
          <p:cNvSpPr/>
          <p:nvPr>
            <p:ph idx="101" type="body" hasCustomPrompt="1"/>
          </p:nvPr>
        </p:nvSpPr>
        <p:spPr>
          <a:xfrm>
            <a:off x="457200" y="841248"/>
            <a:ext cx="8229600" cy="365760"/>
          </a:xfrm>
          <a:prstGeom prst="rect">
            <a:avLst/>
          </a:prstGeom>
          <a:noFill/>
          <a:ln/>
        </p:spPr>
        <p:txBody>
          <a:bodyPr wrap="square" lIns="0" tIns="0" rIns="0" bIns="0" rtlCol="0" anchor="t"/>
          <a:lstStyle/>
          <a:p>
            <a:pPr algn="l" indent="0" marL="0">
              <a:buNone/>
            </a:pPr>
            <a:r>
              <a:rPr lang="en-US" sz="1300" dirty="0">
                <a:solidFill>
                  <a:schemeClr val="accent2"/>
                </a:solidFill>
              </a:rPr>
              <a:t>Built for small NGO teams that protect wetlands. Local communities are the ones who benefit.</a:t>
            </a:r>
            <a:endParaRPr lang="en-US" sz="1300" dirty="0"/>
          </a:p>
        </p:txBody>
      </p:sp>
      <p:sp>
        <p:nvSpPr>
          <p:cNvPr id="4" name="Text 2"/>
          <p:cNvSpPr txBox="1"/>
          <p:nvPr/>
        </p:nvSpPr>
        <p:spPr>
          <a:xfrm>
            <a:off x="457200" y="1371600"/>
            <a:ext cx="4663440" cy="731520"/>
          </a:xfrm>
          <a:prstGeom prst="rect">
            <a:avLst/>
          </a:prstGeom>
          <a:noFill/>
          <a:ln/>
        </p:spPr>
        <p:txBody>
          <a:bodyPr wrap="square" lIns="0" tIns="0" rIns="0" bIns="0" rtlCol="0" anchor="t"/>
          <a:lstStyle/>
          <a:p>
            <a:pPr indent="0" marL="0">
              <a:spcAft>
                <a:spcPts val="300"/>
              </a:spcAft>
              <a:buNone/>
            </a:pPr>
            <a:r>
              <a:rPr lang="en-US" sz="1300" b="1" dirty="0">
                <a:solidFill>
                  <a:schemeClr val="tx1"/>
                </a:solidFill>
              </a:rPr>
              <a:t>Who will benefit?</a:t>
            </a:r>
            <a:endParaRPr lang="en-US" sz="1200" dirty="0"/>
          </a:p>
          <a:p>
            <a:pPr indent="0" marL="0">
              <a:spcAft>
                <a:spcPts val="300"/>
              </a:spcAft>
              <a:buNone/>
            </a:pPr>
            <a:r>
              <a:rPr lang="en-US" sz="1200" dirty="0">
                <a:solidFill>
                  <a:schemeClr val="tx1"/>
                </a:solidFill>
              </a:rPr>
              <a:t>Environmental NGOs and teams responsible for protecting ponds and wetlands in Bangladesh.</a:t>
            </a:r>
            <a:endParaRPr lang="en-US" sz="1200" dirty="0"/>
          </a:p>
        </p:txBody>
      </p:sp>
      <p:sp>
        <p:nvSpPr>
          <p:cNvPr id="5" name="Text 3"/>
          <p:cNvSpPr txBox="1"/>
          <p:nvPr/>
        </p:nvSpPr>
        <p:spPr>
          <a:xfrm>
            <a:off x="457200" y="2194560"/>
            <a:ext cx="4663440" cy="1600200"/>
          </a:xfrm>
          <a:prstGeom prst="rect">
            <a:avLst/>
          </a:prstGeom>
          <a:noFill/>
          <a:ln/>
        </p:spPr>
        <p:txBody>
          <a:bodyPr wrap="square" lIns="0" tIns="0" rIns="0" bIns="0" rtlCol="0" anchor="t"/>
          <a:lstStyle/>
          <a:p>
            <a:pPr indent="0" marL="0">
              <a:spcAft>
                <a:spcPts val="400"/>
              </a:spcAft>
              <a:buNone/>
            </a:pPr>
            <a:r>
              <a:rPr lang="en-US" sz="1300" b="1" dirty="0">
                <a:solidFill>
                  <a:schemeClr val="tx1"/>
                </a:solidFill>
              </a:rPr>
              <a:t>How will TerraLink help?</a:t>
            </a:r>
            <a:endParaRPr lang="en-US" sz="1200" dirty="0"/>
          </a:p>
          <a:p>
            <a:pPr marL="177800" indent="-177800">
              <a:spcAft>
                <a:spcPts val="400"/>
              </a:spcAft>
              <a:buSzPct val="100000"/>
              <a:buChar char="•"/>
            </a:pPr>
            <a:r>
              <a:rPr lang="en-US" sz="1200" dirty="0">
                <a:solidFill>
                  <a:schemeClr val="tx1"/>
                </a:solidFill>
              </a:rPr>
              <a:t>Give managers a clearer view of findings and pending work</a:t>
            </a:r>
            <a:endParaRPr lang="en-US" sz="1200" dirty="0"/>
          </a:p>
          <a:p>
            <a:pPr marL="177800" indent="-177800">
              <a:spcAft>
                <a:spcPts val="400"/>
              </a:spcAft>
              <a:buSzPct val="100000"/>
              <a:buChar char="•"/>
            </a:pPr>
            <a:r>
              <a:rPr lang="en-US" sz="1200" dirty="0">
                <a:solidFill>
                  <a:schemeClr val="tx1"/>
                </a:solidFill>
              </a:rPr>
              <a:t>Reduce the effort needed to combine project information</a:t>
            </a:r>
            <a:endParaRPr lang="en-US" sz="1200" dirty="0"/>
          </a:p>
          <a:p>
            <a:pPr marL="177800" indent="-177800">
              <a:spcAft>
                <a:spcPts val="400"/>
              </a:spcAft>
              <a:buSzPct val="100000"/>
              <a:buChar char="•"/>
            </a:pPr>
            <a:r>
              <a:rPr lang="en-US" sz="1200" dirty="0">
                <a:solidFill>
                  <a:schemeClr val="tx1"/>
                </a:solidFill>
              </a:rPr>
              <a:t>Make responsibilities, deadlines and expenses easier to track</a:t>
            </a:r>
            <a:endParaRPr lang="en-US" sz="1200" dirty="0"/>
          </a:p>
          <a:p>
            <a:pPr marL="177800" indent="-177800">
              <a:spcAft>
                <a:spcPts val="400"/>
              </a:spcAft>
              <a:buSzPct val="100000"/>
              <a:buChar char="•"/>
            </a:pPr>
            <a:r>
              <a:rPr lang="en-US" sz="1200" dirty="0">
                <a:solidFill>
                  <a:schemeClr val="tx1"/>
                </a:solidFill>
              </a:rPr>
              <a:t>Support decisions with documented evidence</a:t>
            </a:r>
            <a:endParaRPr lang="en-US" sz="1200" dirty="0"/>
          </a:p>
        </p:txBody>
      </p:sp>
      <p:sp>
        <p:nvSpPr>
          <p:cNvPr id="6" name="Impact divider"/>
          <p:cNvSpPr/>
          <p:nvPr/>
        </p:nvSpPr>
        <p:spPr>
          <a:xfrm>
            <a:off x="457200" y="3931920"/>
            <a:ext cx="4663440" cy="0"/>
          </a:xfrm>
          <a:prstGeom prst="line">
            <a:avLst/>
          </a:prstGeom>
          <a:noFill/>
          <a:ln w="9525">
            <a:solidFill>
              <a:schemeClr val="accent4"/>
            </a:solidFill>
            <a:prstDash val="solid"/>
          </a:ln>
        </p:spPr>
      </p:sp>
      <p:sp>
        <p:nvSpPr>
          <p:cNvPr id="7" name="Text 5"/>
          <p:cNvSpPr txBox="1"/>
          <p:nvPr/>
        </p:nvSpPr>
        <p:spPr>
          <a:xfrm>
            <a:off x="457200" y="4023360"/>
            <a:ext cx="4663440" cy="640080"/>
          </a:xfrm>
          <a:prstGeom prst="rect">
            <a:avLst/>
          </a:prstGeom>
          <a:noFill/>
          <a:ln/>
        </p:spPr>
        <p:txBody>
          <a:bodyPr wrap="square" lIns="0" tIns="0" rIns="0" bIns="0" rtlCol="0" anchor="t"/>
          <a:lstStyle/>
          <a:p>
            <a:pPr indent="0" marL="0">
              <a:buNone/>
            </a:pPr>
            <a:r>
              <a:rPr lang="en-US" sz="1050" i="1" dirty="0">
                <a:solidFill>
                  <a:schemeClr val="accent2"/>
                </a:solidFill>
              </a:rPr>
              <a:t>Local communities are the intended beneficiaries of better-managed wetland protection. Actual impact will be evaluated through user feedback and project results.</a:t>
            </a:r>
            <a:endParaRPr lang="en-US" sz="1050" dirty="0"/>
          </a:p>
        </p:txBody>
      </p:sp>
      <p:pic>
        <p:nvPicPr>
          <p:cNvPr id="8" name="Team image" descr="An NGO team reviewing a map on a computer">    </p:cNvPr>
          <p:cNvPicPr>
            <a:picLocks noChangeAspect="1"/>
          </p:cNvPicPr>
          <p:nvPr/>
        </p:nvPicPr>
        <p:blipFill>
          <a:blip r:embed="rId1"/>
          <a:srcRect l="0" r="0" t="0" b="0"/>
          <a:stretch/>
        </p:blipFill>
        <p:spPr>
          <a:xfrm>
            <a:off x="5440680" y="1371600"/>
            <a:ext cx="3246120" cy="1536192"/>
          </a:xfrm>
          <a:prstGeom prst="rect">
            <a:avLst/>
          </a:prstGeom>
        </p:spPr>
      </p:pic>
      <p:sp>
        <p:nvSpPr>
          <p:cNvPr id="9" name="Team image frame"/>
          <p:cNvSpPr/>
          <p:nvPr/>
        </p:nvSpPr>
        <p:spPr>
          <a:xfrm>
            <a:off x="5440680" y="1371600"/>
            <a:ext cx="3246120" cy="1536192"/>
          </a:xfrm>
          <a:prstGeom prst="rect">
            <a:avLst/>
          </a:prstGeom>
          <a:ln w="9525">
            <a:solidFill>
              <a:schemeClr val="accent4"/>
            </a:solidFill>
            <a:prstDash val="solid"/>
          </a:ln>
        </p:spPr>
      </p:sp>
      <p:pic>
        <p:nvPicPr>
          <p:cNvPr id="10" name="Wetland image" descr="Aerial view of a wetland and villages">    </p:cNvPr>
          <p:cNvPicPr>
            <a:picLocks noChangeAspect="1"/>
          </p:cNvPicPr>
          <p:nvPr/>
        </p:nvPicPr>
        <p:blipFill>
          <a:blip r:embed="rId2"/>
          <a:srcRect l="0" r="0" t="0" b="0"/>
          <a:stretch/>
        </p:blipFill>
        <p:spPr>
          <a:xfrm>
            <a:off x="5440680" y="3035808"/>
            <a:ext cx="3246120" cy="1536192"/>
          </a:xfrm>
          <a:prstGeom prst="rect">
            <a:avLst/>
          </a:prstGeom>
        </p:spPr>
      </p:pic>
      <p:sp>
        <p:nvSpPr>
          <p:cNvPr id="11" name="Wetland image frame"/>
          <p:cNvSpPr/>
          <p:nvPr/>
        </p:nvSpPr>
        <p:spPr>
          <a:xfrm>
            <a:off x="5440680" y="3035808"/>
            <a:ext cx="3246120" cy="1536192"/>
          </a:xfrm>
          <a:prstGeom prst="rect">
            <a:avLst/>
          </a:prstGeom>
          <a:ln w="9525">
            <a:solidFill>
              <a:schemeClr val="accent4"/>
            </a:solidFill>
            <a:prstDash val="solid"/>
          </a:ln>
        </p:spPr>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Feasibility &amp; Vision</a:t>
            </a:r>
            <a:endParaRPr lang="en-US" sz="2800" dirty="0"/>
          </a:p>
        </p:txBody>
      </p:sp>
      <p:sp>
        <p:nvSpPr>
          <p:cNvPr id="3" name="Text 0"/>
          <p:cNvSpPr/>
          <p:nvPr>
            <p:ph idx="101" type="body" hasCustomPrompt="1"/>
          </p:nvPr>
        </p:nvSpPr>
        <p:spPr>
          <a:xfrm>
            <a:off x="457200" y="841248"/>
            <a:ext cx="8229600" cy="365760"/>
          </a:xfrm>
          <a:prstGeom prst="rect">
            <a:avLst/>
          </a:prstGeom>
          <a:noFill/>
          <a:ln/>
        </p:spPr>
        <p:txBody>
          <a:bodyPr wrap="square" lIns="0" tIns="0" rIns="0" bIns="0" rtlCol="0" anchor="t"/>
          <a:lstStyle/>
          <a:p>
            <a:pPr algn="l" indent="0" marL="0">
              <a:buNone/>
            </a:pPr>
            <a:r>
              <a:rPr lang="en-US" sz="1300" dirty="0">
                <a:solidFill>
                  <a:schemeClr val="accent2"/>
                </a:solidFill>
              </a:rPr>
              <a:t>A focused first step, built on existing data and free tools.</a:t>
            </a:r>
            <a:endParaRPr lang="en-US" sz="1300" dirty="0"/>
          </a:p>
        </p:txBody>
      </p:sp>
      <p:sp>
        <p:nvSpPr>
          <p:cNvPr id="4" name="Text 2"/>
          <p:cNvSpPr txBox="1"/>
          <p:nvPr/>
        </p:nvSpPr>
        <p:spPr>
          <a:xfrm>
            <a:off x="457200" y="1371600"/>
            <a:ext cx="4663440" cy="914400"/>
          </a:xfrm>
          <a:prstGeom prst="rect">
            <a:avLst/>
          </a:prstGeom>
          <a:noFill/>
          <a:ln/>
        </p:spPr>
        <p:txBody>
          <a:bodyPr wrap="square" lIns="0" tIns="0" rIns="0" bIns="0" rtlCol="0" anchor="t"/>
          <a:lstStyle/>
          <a:p>
            <a:pPr indent="0" marL="0">
              <a:spcAft>
                <a:spcPts val="300"/>
              </a:spcAft>
              <a:buNone/>
            </a:pPr>
            <a:r>
              <a:rPr lang="en-US" sz="1300" b="1" dirty="0">
                <a:solidFill>
                  <a:schemeClr val="tx1"/>
                </a:solidFill>
              </a:rPr>
              <a:t>A focused first step</a:t>
            </a:r>
            <a:endParaRPr lang="en-US" sz="1200" dirty="0"/>
          </a:p>
          <a:p>
            <a:pPr indent="0" marL="0">
              <a:spcAft>
                <a:spcPts val="300"/>
              </a:spcAft>
              <a:buNone/>
            </a:pPr>
            <a:r>
              <a:rPr lang="en-US" sz="1200" dirty="0">
                <a:solidFill>
                  <a:schemeClr val="tx1"/>
                </a:solidFill>
              </a:rPr>
              <a:t>The first prototype covers five selected ponds or wetlands around Dhaka, chosen by site size and the availability of clear satellite imagery.</a:t>
            </a:r>
            <a:endParaRPr lang="en-US" sz="1200" dirty="0"/>
          </a:p>
        </p:txBody>
      </p:sp>
      <p:sp>
        <p:nvSpPr>
          <p:cNvPr id="5" name="Text 3"/>
          <p:cNvSpPr txBox="1"/>
          <p:nvPr/>
        </p:nvSpPr>
        <p:spPr>
          <a:xfrm>
            <a:off x="457200" y="2194560"/>
            <a:ext cx="4663440" cy="1463040"/>
          </a:xfrm>
          <a:prstGeom prst="rect">
            <a:avLst/>
          </a:prstGeom>
          <a:noFill/>
          <a:ln/>
        </p:spPr>
        <p:txBody>
          <a:bodyPr wrap="square" lIns="0" tIns="0" rIns="0" bIns="0" rtlCol="0" anchor="t"/>
          <a:lstStyle/>
          <a:p>
            <a:pPr indent="0" marL="0">
              <a:spcAft>
                <a:spcPts val="400"/>
              </a:spcAft>
              <a:buNone/>
            </a:pPr>
            <a:r>
              <a:rPr lang="en-US" sz="1300" b="1" dirty="0">
                <a:solidFill>
                  <a:schemeClr val="tx1"/>
                </a:solidFill>
              </a:rPr>
              <a:t>Why start small?</a:t>
            </a:r>
            <a:endParaRPr lang="en-US" sz="1200" dirty="0"/>
          </a:p>
          <a:p>
            <a:pPr marL="177800" indent="-177800">
              <a:spcAft>
                <a:spcPts val="400"/>
              </a:spcAft>
              <a:buSzPct val="100000"/>
              <a:buChar char="•"/>
            </a:pPr>
            <a:r>
              <a:rPr lang="en-US" sz="1200" dirty="0">
                <a:solidFill>
                  <a:schemeClr val="tx1"/>
                </a:solidFill>
              </a:rPr>
              <a:t>Focus on a manageable number of locations</a:t>
            </a:r>
            <a:endParaRPr lang="en-US" sz="1200" dirty="0"/>
          </a:p>
          <a:p>
            <a:pPr marL="177800" indent="-177800">
              <a:spcAft>
                <a:spcPts val="400"/>
              </a:spcAft>
              <a:buSzPct val="100000"/>
              <a:buChar char="•"/>
            </a:pPr>
            <a:r>
              <a:rPr lang="en-US" sz="1200" dirty="0">
                <a:solidFill>
                  <a:schemeClr val="tx1"/>
                </a:solidFill>
              </a:rPr>
              <a:t>Use existing satellite data instead of training a new AI model</a:t>
            </a:r>
            <a:endParaRPr lang="en-US" sz="1200" dirty="0"/>
          </a:p>
          <a:p>
            <a:pPr marL="177800" indent="-177800">
              <a:spcAft>
                <a:spcPts val="400"/>
              </a:spcAft>
              <a:buSzPct val="100000"/>
              <a:buChar char="•"/>
            </a:pPr>
            <a:r>
              <a:rPr lang="en-US" sz="1200" dirty="0">
                <a:solidFill>
                  <a:schemeClr val="tx1"/>
                </a:solidFill>
              </a:rPr>
              <a:t>Show the complete workflow from observation to report</a:t>
            </a:r>
            <a:endParaRPr lang="en-US" sz="1200" dirty="0"/>
          </a:p>
          <a:p>
            <a:pPr marL="177800" indent="-177800">
              <a:spcAft>
                <a:spcPts val="400"/>
              </a:spcAft>
              <a:buSzPct val="100000"/>
              <a:buChar char="•"/>
            </a:pPr>
            <a:r>
              <a:rPr lang="en-US" sz="1200" dirty="0">
                <a:solidFill>
                  <a:schemeClr val="tx1"/>
                </a:solidFill>
              </a:rPr>
              <a:t>Use sample records where real project data is not available</a:t>
            </a:r>
            <a:endParaRPr lang="en-US" sz="1200" dirty="0"/>
          </a:p>
        </p:txBody>
      </p:sp>
      <p:sp>
        <p:nvSpPr>
          <p:cNvPr id="6" name="Vision divider"/>
          <p:cNvSpPr/>
          <p:nvPr/>
        </p:nvSpPr>
        <p:spPr>
          <a:xfrm>
            <a:off x="457200" y="3931920"/>
            <a:ext cx="4663440" cy="0"/>
          </a:xfrm>
          <a:prstGeom prst="line">
            <a:avLst/>
          </a:prstGeom>
          <a:noFill/>
          <a:ln w="9525">
            <a:solidFill>
              <a:schemeClr val="accent4"/>
            </a:solidFill>
            <a:prstDash val="solid"/>
          </a:ln>
        </p:spPr>
      </p:sp>
      <p:sp>
        <p:nvSpPr>
          <p:cNvPr id="7" name="Text 5"/>
          <p:cNvSpPr txBox="1"/>
          <p:nvPr/>
        </p:nvSpPr>
        <p:spPr>
          <a:xfrm>
            <a:off x="457200" y="4023360"/>
            <a:ext cx="4663440" cy="640080"/>
          </a:xfrm>
          <a:prstGeom prst="rect">
            <a:avLst/>
          </a:prstGeom>
          <a:noFill/>
          <a:ln/>
        </p:spPr>
        <p:txBody>
          <a:bodyPr wrap="square" lIns="0" tIns="0" rIns="0" bIns="0" rtlCol="0" anchor="t"/>
          <a:lstStyle/>
          <a:p>
            <a:pPr indent="0" marL="0">
              <a:buNone/>
            </a:pPr>
            <a:r>
              <a:rPr lang="en-US" sz="1200" b="1" dirty="0">
                <a:solidFill>
                  <a:schemeClr val="tx1"/>
                </a:solidFill>
              </a:rPr>
              <a:t>Our vision  </a:t>
            </a:r>
            <a:pPr indent="0" marL="0">
              <a:buNone/>
            </a:pPr>
            <a:r>
              <a:rPr lang="en-US" sz="1200" dirty="0">
                <a:solidFill>
                  <a:schemeClr val="tx1"/>
                </a:solidFill>
              </a:rPr>
              <a:t>A practical tool that helps environmental teams turn satellite observations into organised, accountable wetland protection work.</a:t>
            </a:r>
            <a:endParaRPr lang="en-US" sz="1200" dirty="0"/>
          </a:p>
        </p:txBody>
      </p:sp>
      <p:pic>
        <p:nvPicPr>
          <p:cNvPr id="8" name="Feasibility image" descr="Aerial view of ponds near a river">    </p:cNvPr>
          <p:cNvPicPr>
            <a:picLocks noChangeAspect="1"/>
          </p:cNvPicPr>
          <p:nvPr/>
        </p:nvPicPr>
        <p:blipFill>
          <a:blip r:embed="rId1"/>
          <a:srcRect l="0" r="0" t="0" b="0"/>
          <a:stretch/>
        </p:blipFill>
        <p:spPr>
          <a:xfrm>
            <a:off x="5440680" y="1371600"/>
            <a:ext cx="3246120" cy="3200400"/>
          </a:xfrm>
          <a:prstGeom prst="rect">
            <a:avLst/>
          </a:prstGeom>
        </p:spPr>
      </p:pic>
      <p:sp>
        <p:nvSpPr>
          <p:cNvPr id="9" name="Feasibility image frame"/>
          <p:cNvSpPr/>
          <p:nvPr/>
        </p:nvSpPr>
        <p:spPr>
          <a:xfrm>
            <a:off x="5440680" y="1371600"/>
            <a:ext cx="3246120" cy="3200400"/>
          </a:xfrm>
          <a:prstGeom prst="rect">
            <a:avLst/>
          </a:prstGeom>
          <a:ln w="9525">
            <a:solidFill>
              <a:schemeClr val="accent4"/>
            </a:solidFill>
            <a:prstDash val="solid"/>
          </a:ln>
        </p:spPr>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02920" y="822960"/>
            <a:ext cx="4023360" cy="685800"/>
          </a:xfrm>
          <a:prstGeom prst="rect">
            <a:avLst/>
          </a:prstGeom>
          <a:noFill/>
          <a:ln/>
        </p:spPr>
        <p:txBody>
          <a:bodyPr wrap="square" lIns="0" tIns="0" rIns="0" bIns="0" rtlCol="0" anchor="ctr"/>
          <a:lstStyle/>
          <a:p>
            <a:pPr indent="0" marL="0">
              <a:buNone/>
            </a:pPr>
            <a:r>
              <a:rPr lang="en-US" sz="4000" b="1" dirty="0">
                <a:solidFill>
                  <a:schemeClr val="tx2"/>
                </a:solidFill>
              </a:rPr>
              <a:t>Thank You</a:t>
            </a:r>
            <a:endParaRPr lang="en-US" sz="4000" dirty="0"/>
          </a:p>
        </p:txBody>
      </p:sp>
      <p:sp>
        <p:nvSpPr>
          <p:cNvPr id="3" name="Text 1"/>
          <p:cNvSpPr txBox="1"/>
          <p:nvPr/>
        </p:nvSpPr>
        <p:spPr>
          <a:xfrm>
            <a:off x="502920" y="1508760"/>
            <a:ext cx="4023360" cy="411480"/>
          </a:xfrm>
          <a:prstGeom prst="rect">
            <a:avLst/>
          </a:prstGeom>
          <a:noFill/>
          <a:ln/>
        </p:spPr>
        <p:txBody>
          <a:bodyPr wrap="square" lIns="0" tIns="0" rIns="0" bIns="0" rtlCol="0" anchor="ctr"/>
          <a:lstStyle/>
          <a:p>
            <a:pPr indent="0" marL="0">
              <a:buNone/>
            </a:pPr>
            <a:r>
              <a:rPr lang="en-US" sz="1800" dirty="0">
                <a:solidFill>
                  <a:schemeClr val="accent2"/>
                </a:solidFill>
              </a:rPr>
              <a:t>Questions are welcome.</a:t>
            </a:r>
            <a:endParaRPr lang="en-US" sz="1800" dirty="0"/>
          </a:p>
        </p:txBody>
      </p:sp>
      <p:sp>
        <p:nvSpPr>
          <p:cNvPr id="4" name="Text 2"/>
          <p:cNvSpPr txBox="1"/>
          <p:nvPr/>
        </p:nvSpPr>
        <p:spPr>
          <a:xfrm>
            <a:off x="502920" y="2103120"/>
            <a:ext cx="3840480" cy="685800"/>
          </a:xfrm>
          <a:prstGeom prst="rect">
            <a:avLst/>
          </a:prstGeom>
          <a:noFill/>
          <a:ln/>
        </p:spPr>
        <p:txBody>
          <a:bodyPr wrap="square" lIns="0" tIns="0" rIns="0" bIns="0" rtlCol="0" anchor="t"/>
          <a:lstStyle/>
          <a:p>
            <a:pPr indent="0" marL="0">
              <a:buNone/>
            </a:pPr>
            <a:r>
              <a:rPr lang="en-US" sz="1300" i="1" dirty="0">
                <a:solidFill>
                  <a:schemeClr val="tx1"/>
                </a:solidFill>
              </a:rPr>
              <a:t>TerraLink helps NGOs protect wetlands with clear evidence, clear responsibility and clear records.</a:t>
            </a:r>
            <a:endParaRPr lang="en-US" sz="1300" dirty="0"/>
          </a:p>
        </p:txBody>
      </p:sp>
      <p:pic>
        <p:nvPicPr>
          <p:cNvPr id="5" name="Demo QR code" descr="QR code for terralink-probah.vercel.app">    </p:cNvPr>
          <p:cNvPicPr>
            <a:picLocks noChangeAspect="1"/>
          </p:cNvPicPr>
          <p:nvPr/>
        </p:nvPicPr>
        <p:blipFill>
          <a:blip r:embed="rId1"/>
          <a:stretch>
            <a:fillRect/>
          </a:stretch>
        </p:blipFill>
        <p:spPr>
          <a:xfrm>
            <a:off x="502920" y="3154680"/>
            <a:ext cx="1143000" cy="1143000"/>
          </a:xfrm>
          <a:prstGeom prst="rect">
            <a:avLst/>
          </a:prstGeom>
        </p:spPr>
      </p:pic>
      <p:sp>
        <p:nvSpPr>
          <p:cNvPr id="6" name="Text 3"/>
          <p:cNvSpPr txBox="1"/>
          <p:nvPr/>
        </p:nvSpPr>
        <p:spPr>
          <a:xfrm>
            <a:off x="1828800" y="3200400"/>
            <a:ext cx="2743200" cy="1051560"/>
          </a:xfrm>
          <a:prstGeom prst="rect">
            <a:avLst/>
          </a:prstGeom>
          <a:noFill/>
          <a:ln/>
        </p:spPr>
        <p:txBody>
          <a:bodyPr wrap="square" lIns="0" tIns="0" rIns="0" bIns="0" rtlCol="0" anchor="ctr"/>
          <a:lstStyle/>
          <a:p>
            <a:pPr indent="0" marL="0">
              <a:spcAft>
                <a:spcPts val="300"/>
              </a:spcAft>
              <a:buNone/>
            </a:pPr>
            <a:r>
              <a:rPr lang="en-US" sz="1100" b="1" dirty="0">
                <a:solidFill>
                  <a:schemeClr val="tx1"/>
                </a:solidFill>
              </a:rPr>
              <a:t>Live demo</a:t>
            </a:r>
            <a:endParaRPr lang="en-US" sz="1100" dirty="0"/>
          </a:p>
          <a:p>
            <a:pPr indent="0" marL="0">
              <a:spcAft>
                <a:spcPts val="300"/>
              </a:spcAft>
              <a:buNone/>
            </a:pPr>
            <a:r>
              <a:rPr lang="en-US" sz="1100" u="sng" dirty="0">
                <a:solidFill>
                  <a:schemeClr val="accent2"/>
                </a:solidFill>
                <a:hlinkClick r:id="rId2" invalidUrl="" action="" tgtFrame="" tooltip="" history="1" highlightClick="0" endSnd="0">
                  <a:extLst>
                    <a:ext uri="{A12FA001-AC4F-418D-AE19-62706E023703}">
                      <ahyp:hlinkClr xmlns:ahyp="http://schemas.microsoft.com/office/drawing/2018/hyperlinkcolor" val="tx"/>
                    </a:ext>
                  </a:extLst>
                </a:hlinkClick>
              </a:rPr>
              <a:t>terralink-probah.vercel.app</a:t>
            </a:r>
            <a:endParaRPr lang="en-US" sz="1100" dirty="0"/>
          </a:p>
          <a:p>
            <a:pPr indent="0" marL="0">
              <a:spcAft>
                <a:spcPts val="300"/>
              </a:spcAft>
              <a:buNone/>
            </a:pPr>
            <a:r>
              <a:rPr lang="en-US" sz="1100" dirty="0">
                <a:solidFill>
                  <a:schemeClr val="accent2"/>
                </a:solidFill>
              </a:rPr>
              <a:t>Afrin Jahan Era · IUT</a:t>
            </a:r>
            <a:endParaRPr lang="en-US" sz="1100" dirty="0"/>
          </a:p>
        </p:txBody>
      </p:sp>
      <p:sp>
        <p:nvSpPr>
          <p:cNvPr id="7" name="Close divider"/>
          <p:cNvSpPr/>
          <p:nvPr/>
        </p:nvSpPr>
        <p:spPr>
          <a:xfrm>
            <a:off x="4846320" y="822960"/>
            <a:ext cx="0" cy="3520440"/>
          </a:xfrm>
          <a:prstGeom prst="line">
            <a:avLst/>
          </a:prstGeom>
          <a:noFill/>
          <a:ln w="9525">
            <a:solidFill>
              <a:schemeClr val="accent4"/>
            </a:solidFill>
            <a:prstDash val="solid"/>
          </a:ln>
        </p:spPr>
      </p:sp>
      <p:sp>
        <p:nvSpPr>
          <p:cNvPr id="8" name="Text 5"/>
          <p:cNvSpPr txBox="1"/>
          <p:nvPr/>
        </p:nvSpPr>
        <p:spPr>
          <a:xfrm>
            <a:off x="5120640" y="822960"/>
            <a:ext cx="3566160" cy="320040"/>
          </a:xfrm>
          <a:prstGeom prst="rect">
            <a:avLst/>
          </a:prstGeom>
          <a:noFill/>
          <a:ln/>
        </p:spPr>
        <p:txBody>
          <a:bodyPr wrap="square" lIns="0" tIns="0" rIns="0" bIns="0" rtlCol="0" anchor="ctr"/>
          <a:lstStyle/>
          <a:p>
            <a:pPr indent="0" marL="0">
              <a:buNone/>
            </a:pPr>
            <a:r>
              <a:rPr lang="en-US" sz="1300" b="1" dirty="0">
                <a:solidFill>
                  <a:schemeClr val="tx1"/>
                </a:solidFill>
              </a:rPr>
              <a:t>Demo path · about 5 minutes</a:t>
            </a:r>
            <a:endParaRPr lang="en-US" sz="1300" dirty="0"/>
          </a:p>
        </p:txBody>
      </p:sp>
      <p:sp>
        <p:nvSpPr>
          <p:cNvPr id="9" name="Text 6"/>
          <p:cNvSpPr txBox="1"/>
          <p:nvPr/>
        </p:nvSpPr>
        <p:spPr>
          <a:xfrm>
            <a:off x="5120640" y="1280160"/>
            <a:ext cx="365760" cy="274320"/>
          </a:xfrm>
          <a:prstGeom prst="rect">
            <a:avLst/>
          </a:prstGeom>
          <a:noFill/>
          <a:ln/>
        </p:spPr>
        <p:txBody>
          <a:bodyPr wrap="square" lIns="0" tIns="0" rIns="0" bIns="0" rtlCol="0" anchor="ctr"/>
          <a:lstStyle/>
          <a:p>
            <a:pPr indent="0" marL="0">
              <a:buNone/>
            </a:pPr>
            <a:r>
              <a:rPr lang="en-US" sz="1100" b="1" dirty="0">
                <a:solidFill>
                  <a:schemeClr val="accent3"/>
                </a:solidFill>
              </a:rPr>
              <a:t>01</a:t>
            </a:r>
            <a:endParaRPr lang="en-US" sz="1100" dirty="0"/>
          </a:p>
        </p:txBody>
      </p:sp>
      <p:sp>
        <p:nvSpPr>
          <p:cNvPr id="10" name="Text 7"/>
          <p:cNvSpPr txBox="1"/>
          <p:nvPr/>
        </p:nvSpPr>
        <p:spPr>
          <a:xfrm>
            <a:off x="5532120" y="1280160"/>
            <a:ext cx="3154680" cy="274320"/>
          </a:xfrm>
          <a:prstGeom prst="rect">
            <a:avLst/>
          </a:prstGeom>
          <a:noFill/>
          <a:ln/>
        </p:spPr>
        <p:txBody>
          <a:bodyPr wrap="square" lIns="0" tIns="0" rIns="0" bIns="0" rtlCol="0" anchor="ctr"/>
          <a:lstStyle/>
          <a:p>
            <a:pPr indent="0" marL="0">
              <a:buNone/>
            </a:pPr>
            <a:r>
              <a:rPr lang="en-US" sz="1100" b="1" dirty="0">
                <a:solidFill>
                  <a:schemeClr val="tx1"/>
                </a:solidFill>
              </a:rPr>
              <a:t>Dashboard  </a:t>
            </a:r>
            <a:pPr indent="0" marL="0">
              <a:buNone/>
            </a:pPr>
            <a:r>
              <a:rPr lang="en-US" sz="1100" dirty="0">
                <a:solidFill>
                  <a:schemeClr val="accent2"/>
                </a:solidFill>
              </a:rPr>
              <a:t>see sites that need attention</a:t>
            </a:r>
            <a:endParaRPr lang="en-US" sz="1100" dirty="0"/>
          </a:p>
        </p:txBody>
      </p:sp>
      <p:sp>
        <p:nvSpPr>
          <p:cNvPr id="11" name="Demo rule 1"/>
          <p:cNvSpPr/>
          <p:nvPr/>
        </p:nvSpPr>
        <p:spPr>
          <a:xfrm>
            <a:off x="5120640" y="1636776"/>
            <a:ext cx="3566160" cy="0"/>
          </a:xfrm>
          <a:prstGeom prst="line">
            <a:avLst/>
          </a:prstGeom>
          <a:noFill/>
          <a:ln w="9525">
            <a:solidFill>
              <a:schemeClr val="accent4"/>
            </a:solidFill>
            <a:prstDash val="solid"/>
          </a:ln>
        </p:spPr>
      </p:sp>
      <p:sp>
        <p:nvSpPr>
          <p:cNvPr id="12" name="Text 9"/>
          <p:cNvSpPr txBox="1"/>
          <p:nvPr/>
        </p:nvSpPr>
        <p:spPr>
          <a:xfrm>
            <a:off x="5120640" y="1719072"/>
            <a:ext cx="365760" cy="274320"/>
          </a:xfrm>
          <a:prstGeom prst="rect">
            <a:avLst/>
          </a:prstGeom>
          <a:noFill/>
          <a:ln/>
        </p:spPr>
        <p:txBody>
          <a:bodyPr wrap="square" lIns="0" tIns="0" rIns="0" bIns="0" rtlCol="0" anchor="ctr"/>
          <a:lstStyle/>
          <a:p>
            <a:pPr indent="0" marL="0">
              <a:buNone/>
            </a:pPr>
            <a:r>
              <a:rPr lang="en-US" sz="1100" b="1" dirty="0">
                <a:solidFill>
                  <a:schemeClr val="accent3"/>
                </a:solidFill>
              </a:rPr>
              <a:t>02</a:t>
            </a:r>
            <a:endParaRPr lang="en-US" sz="1100" dirty="0"/>
          </a:p>
        </p:txBody>
      </p:sp>
      <p:sp>
        <p:nvSpPr>
          <p:cNvPr id="13" name="Text 10"/>
          <p:cNvSpPr txBox="1"/>
          <p:nvPr/>
        </p:nvSpPr>
        <p:spPr>
          <a:xfrm>
            <a:off x="5532120" y="1719072"/>
            <a:ext cx="3154680" cy="274320"/>
          </a:xfrm>
          <a:prstGeom prst="rect">
            <a:avLst/>
          </a:prstGeom>
          <a:noFill/>
          <a:ln/>
        </p:spPr>
        <p:txBody>
          <a:bodyPr wrap="square" lIns="0" tIns="0" rIns="0" bIns="0" rtlCol="0" anchor="ctr"/>
          <a:lstStyle/>
          <a:p>
            <a:pPr indent="0" marL="0">
              <a:buNone/>
            </a:pPr>
            <a:r>
              <a:rPr lang="en-US" sz="1100" b="1" dirty="0">
                <a:solidFill>
                  <a:schemeClr val="tx1"/>
                </a:solidFill>
              </a:rPr>
              <a:t>Map  </a:t>
            </a:r>
            <a:pPr indent="0" marL="0">
              <a:buNone/>
            </a:pPr>
            <a:r>
              <a:rPr lang="en-US" sz="1100" dirty="0">
                <a:solidFill>
                  <a:schemeClr val="accent2"/>
                </a:solidFill>
              </a:rPr>
              <a:t>open Pond A</a:t>
            </a:r>
            <a:endParaRPr lang="en-US" sz="1100" dirty="0"/>
          </a:p>
        </p:txBody>
      </p:sp>
      <p:sp>
        <p:nvSpPr>
          <p:cNvPr id="14" name="Demo rule 2"/>
          <p:cNvSpPr/>
          <p:nvPr/>
        </p:nvSpPr>
        <p:spPr>
          <a:xfrm>
            <a:off x="5120640" y="2075688"/>
            <a:ext cx="3566160" cy="0"/>
          </a:xfrm>
          <a:prstGeom prst="line">
            <a:avLst/>
          </a:prstGeom>
          <a:noFill/>
          <a:ln w="9525">
            <a:solidFill>
              <a:schemeClr val="accent4"/>
            </a:solidFill>
            <a:prstDash val="solid"/>
          </a:ln>
        </p:spPr>
      </p:sp>
      <p:sp>
        <p:nvSpPr>
          <p:cNvPr id="15" name="Text 12"/>
          <p:cNvSpPr txBox="1"/>
          <p:nvPr/>
        </p:nvSpPr>
        <p:spPr>
          <a:xfrm>
            <a:off x="5120640" y="2157984"/>
            <a:ext cx="365760" cy="274320"/>
          </a:xfrm>
          <a:prstGeom prst="rect">
            <a:avLst/>
          </a:prstGeom>
          <a:noFill/>
          <a:ln/>
        </p:spPr>
        <p:txBody>
          <a:bodyPr wrap="square" lIns="0" tIns="0" rIns="0" bIns="0" rtlCol="0" anchor="ctr"/>
          <a:lstStyle/>
          <a:p>
            <a:pPr indent="0" marL="0">
              <a:buNone/>
            </a:pPr>
            <a:r>
              <a:rPr lang="en-US" sz="1100" b="1" dirty="0">
                <a:solidFill>
                  <a:schemeClr val="accent3"/>
                </a:solidFill>
              </a:rPr>
              <a:t>03</a:t>
            </a:r>
            <a:endParaRPr lang="en-US" sz="1100" dirty="0"/>
          </a:p>
        </p:txBody>
      </p:sp>
      <p:sp>
        <p:nvSpPr>
          <p:cNvPr id="16" name="Text 13"/>
          <p:cNvSpPr txBox="1"/>
          <p:nvPr/>
        </p:nvSpPr>
        <p:spPr>
          <a:xfrm>
            <a:off x="5532120" y="2157984"/>
            <a:ext cx="3154680" cy="274320"/>
          </a:xfrm>
          <a:prstGeom prst="rect">
            <a:avLst/>
          </a:prstGeom>
          <a:noFill/>
          <a:ln/>
        </p:spPr>
        <p:txBody>
          <a:bodyPr wrap="square" lIns="0" tIns="0" rIns="0" bIns="0" rtlCol="0" anchor="ctr"/>
          <a:lstStyle/>
          <a:p>
            <a:pPr indent="0" marL="0">
              <a:buNone/>
            </a:pPr>
            <a:r>
              <a:rPr lang="en-US" sz="1100" b="1" dirty="0">
                <a:solidFill>
                  <a:schemeClr val="tx1"/>
                </a:solidFill>
              </a:rPr>
              <a:t>Change analysis  </a:t>
            </a:r>
            <a:pPr indent="0" marL="0">
              <a:buNone/>
            </a:pPr>
            <a:r>
              <a:rPr lang="en-US" sz="1100" dirty="0">
                <a:solidFill>
                  <a:schemeClr val="accent2"/>
                </a:solidFill>
              </a:rPr>
              <a:t>compare images, record a decision</a:t>
            </a:r>
            <a:endParaRPr lang="en-US" sz="1100" dirty="0"/>
          </a:p>
        </p:txBody>
      </p:sp>
      <p:sp>
        <p:nvSpPr>
          <p:cNvPr id="17" name="Demo rule 3"/>
          <p:cNvSpPr/>
          <p:nvPr/>
        </p:nvSpPr>
        <p:spPr>
          <a:xfrm>
            <a:off x="5120640" y="2514600"/>
            <a:ext cx="3566160" cy="0"/>
          </a:xfrm>
          <a:prstGeom prst="line">
            <a:avLst/>
          </a:prstGeom>
          <a:noFill/>
          <a:ln w="9525">
            <a:solidFill>
              <a:schemeClr val="accent4"/>
            </a:solidFill>
            <a:prstDash val="solid"/>
          </a:ln>
        </p:spPr>
      </p:sp>
      <p:sp>
        <p:nvSpPr>
          <p:cNvPr id="18" name="Text 15"/>
          <p:cNvSpPr txBox="1"/>
          <p:nvPr/>
        </p:nvSpPr>
        <p:spPr>
          <a:xfrm>
            <a:off x="5120640" y="2596896"/>
            <a:ext cx="365760" cy="274320"/>
          </a:xfrm>
          <a:prstGeom prst="rect">
            <a:avLst/>
          </a:prstGeom>
          <a:noFill/>
          <a:ln/>
        </p:spPr>
        <p:txBody>
          <a:bodyPr wrap="square" lIns="0" tIns="0" rIns="0" bIns="0" rtlCol="0" anchor="ctr"/>
          <a:lstStyle/>
          <a:p>
            <a:pPr indent="0" marL="0">
              <a:buNone/>
            </a:pPr>
            <a:r>
              <a:rPr lang="en-US" sz="1100" b="1" dirty="0">
                <a:solidFill>
                  <a:schemeClr val="accent3"/>
                </a:solidFill>
              </a:rPr>
              <a:t>04</a:t>
            </a:r>
            <a:endParaRPr lang="en-US" sz="1100" dirty="0"/>
          </a:p>
        </p:txBody>
      </p:sp>
      <p:sp>
        <p:nvSpPr>
          <p:cNvPr id="19" name="Text 16"/>
          <p:cNvSpPr txBox="1"/>
          <p:nvPr/>
        </p:nvSpPr>
        <p:spPr>
          <a:xfrm>
            <a:off x="5532120" y="2596896"/>
            <a:ext cx="3154680" cy="274320"/>
          </a:xfrm>
          <a:prstGeom prst="rect">
            <a:avLst/>
          </a:prstGeom>
          <a:noFill/>
          <a:ln/>
        </p:spPr>
        <p:txBody>
          <a:bodyPr wrap="square" lIns="0" tIns="0" rIns="0" bIns="0" rtlCol="0" anchor="ctr"/>
          <a:lstStyle/>
          <a:p>
            <a:pPr indent="0" marL="0">
              <a:buNone/>
            </a:pPr>
            <a:r>
              <a:rPr lang="en-US" sz="1100" b="1" dirty="0">
                <a:solidFill>
                  <a:schemeClr val="tx1"/>
                </a:solidFill>
              </a:rPr>
              <a:t>Create a task  </a:t>
            </a:r>
            <a:pPr indent="0" marL="0">
              <a:buNone/>
            </a:pPr>
            <a:r>
              <a:rPr lang="en-US" sz="1100" dirty="0">
                <a:solidFill>
                  <a:schemeClr val="accent2"/>
                </a:solidFill>
              </a:rPr>
              <a:t>assign the field coordinator</a:t>
            </a:r>
            <a:endParaRPr lang="en-US" sz="1100" dirty="0"/>
          </a:p>
        </p:txBody>
      </p:sp>
      <p:sp>
        <p:nvSpPr>
          <p:cNvPr id="20" name="Demo rule 4"/>
          <p:cNvSpPr/>
          <p:nvPr/>
        </p:nvSpPr>
        <p:spPr>
          <a:xfrm>
            <a:off x="5120640" y="2953512"/>
            <a:ext cx="3566160" cy="0"/>
          </a:xfrm>
          <a:prstGeom prst="line">
            <a:avLst/>
          </a:prstGeom>
          <a:noFill/>
          <a:ln w="9525">
            <a:solidFill>
              <a:schemeClr val="accent4"/>
            </a:solidFill>
            <a:prstDash val="solid"/>
          </a:ln>
        </p:spPr>
      </p:sp>
      <p:sp>
        <p:nvSpPr>
          <p:cNvPr id="21" name="Text 18"/>
          <p:cNvSpPr txBox="1"/>
          <p:nvPr/>
        </p:nvSpPr>
        <p:spPr>
          <a:xfrm>
            <a:off x="5120640" y="3035808"/>
            <a:ext cx="365760" cy="274320"/>
          </a:xfrm>
          <a:prstGeom prst="rect">
            <a:avLst/>
          </a:prstGeom>
          <a:noFill/>
          <a:ln/>
        </p:spPr>
        <p:txBody>
          <a:bodyPr wrap="square" lIns="0" tIns="0" rIns="0" bIns="0" rtlCol="0" anchor="ctr"/>
          <a:lstStyle/>
          <a:p>
            <a:pPr indent="0" marL="0">
              <a:buNone/>
            </a:pPr>
            <a:r>
              <a:rPr lang="en-US" sz="1100" b="1" dirty="0">
                <a:solidFill>
                  <a:schemeClr val="accent3"/>
                </a:solidFill>
              </a:rPr>
              <a:t>05</a:t>
            </a:r>
            <a:endParaRPr lang="en-US" sz="1100" dirty="0"/>
          </a:p>
        </p:txBody>
      </p:sp>
      <p:sp>
        <p:nvSpPr>
          <p:cNvPr id="22" name="Text 19"/>
          <p:cNvSpPr txBox="1"/>
          <p:nvPr/>
        </p:nvSpPr>
        <p:spPr>
          <a:xfrm>
            <a:off x="5532120" y="3035808"/>
            <a:ext cx="3154680" cy="274320"/>
          </a:xfrm>
          <a:prstGeom prst="rect">
            <a:avLst/>
          </a:prstGeom>
          <a:noFill/>
          <a:ln/>
        </p:spPr>
        <p:txBody>
          <a:bodyPr wrap="square" lIns="0" tIns="0" rIns="0" bIns="0" rtlCol="0" anchor="ctr"/>
          <a:lstStyle/>
          <a:p>
            <a:pPr indent="0" marL="0">
              <a:buNone/>
            </a:pPr>
            <a:r>
              <a:rPr lang="en-US" sz="1100" b="1" dirty="0">
                <a:solidFill>
                  <a:schemeClr val="tx1"/>
                </a:solidFill>
              </a:rPr>
              <a:t>Switch role  </a:t>
            </a:r>
            <a:pPr indent="0" marL="0">
              <a:buNone/>
            </a:pPr>
            <a:r>
              <a:rPr lang="en-US" sz="1100" dirty="0">
                <a:solidFill>
                  <a:schemeClr val="accent2"/>
                </a:solidFill>
              </a:rPr>
              <a:t>update progress, add a cost</a:t>
            </a:r>
            <a:endParaRPr lang="en-US" sz="1100" dirty="0"/>
          </a:p>
        </p:txBody>
      </p:sp>
      <p:sp>
        <p:nvSpPr>
          <p:cNvPr id="23" name="Demo rule 5"/>
          <p:cNvSpPr/>
          <p:nvPr/>
        </p:nvSpPr>
        <p:spPr>
          <a:xfrm>
            <a:off x="5120640" y="3392424"/>
            <a:ext cx="3566160" cy="0"/>
          </a:xfrm>
          <a:prstGeom prst="line">
            <a:avLst/>
          </a:prstGeom>
          <a:noFill/>
          <a:ln w="9525">
            <a:solidFill>
              <a:schemeClr val="accent4"/>
            </a:solidFill>
            <a:prstDash val="solid"/>
          </a:ln>
        </p:spPr>
      </p:sp>
      <p:sp>
        <p:nvSpPr>
          <p:cNvPr id="24" name="Text 21"/>
          <p:cNvSpPr txBox="1"/>
          <p:nvPr/>
        </p:nvSpPr>
        <p:spPr>
          <a:xfrm>
            <a:off x="5120640" y="3474720"/>
            <a:ext cx="365760" cy="274320"/>
          </a:xfrm>
          <a:prstGeom prst="rect">
            <a:avLst/>
          </a:prstGeom>
          <a:noFill/>
          <a:ln/>
        </p:spPr>
        <p:txBody>
          <a:bodyPr wrap="square" lIns="0" tIns="0" rIns="0" bIns="0" rtlCol="0" anchor="ctr"/>
          <a:lstStyle/>
          <a:p>
            <a:pPr indent="0" marL="0">
              <a:buNone/>
            </a:pPr>
            <a:r>
              <a:rPr lang="en-US" sz="1100" b="1" dirty="0">
                <a:solidFill>
                  <a:schemeClr val="accent3"/>
                </a:solidFill>
              </a:rPr>
              <a:t>06</a:t>
            </a:r>
            <a:endParaRPr lang="en-US" sz="1100" dirty="0"/>
          </a:p>
        </p:txBody>
      </p:sp>
      <p:sp>
        <p:nvSpPr>
          <p:cNvPr id="25" name="Text 22"/>
          <p:cNvSpPr txBox="1"/>
          <p:nvPr/>
        </p:nvSpPr>
        <p:spPr>
          <a:xfrm>
            <a:off x="5532120" y="3474720"/>
            <a:ext cx="3154680" cy="274320"/>
          </a:xfrm>
          <a:prstGeom prst="rect">
            <a:avLst/>
          </a:prstGeom>
          <a:noFill/>
          <a:ln/>
        </p:spPr>
        <p:txBody>
          <a:bodyPr wrap="square" lIns="0" tIns="0" rIns="0" bIns="0" rtlCol="0" anchor="ctr"/>
          <a:lstStyle/>
          <a:p>
            <a:pPr indent="0" marL="0">
              <a:buNone/>
            </a:pPr>
            <a:r>
              <a:rPr lang="en-US" sz="1100" b="1" dirty="0">
                <a:solidFill>
                  <a:schemeClr val="tx1"/>
                </a:solidFill>
              </a:rPr>
              <a:t>Bangla assistant  </a:t>
            </a:r>
            <a:pPr indent="0" marL="0">
              <a:buNone/>
            </a:pPr>
            <a:r>
              <a:rPr lang="en-US" sz="1100" dirty="0">
                <a:solidFill>
                  <a:schemeClr val="accent2"/>
                </a:solidFill>
              </a:rPr>
              <a:t>ask </a:t>
            </a:r>
            <a:pPr indent="0" marL="0">
              <a:buNone/>
            </a:pPr>
            <a:r>
              <a:rPr lang="en-US" sz="1100" dirty="0">
                <a:solidFill>
                  <a:schemeClr val="accent2"/>
                </a:solidFill>
                <a:latin typeface="Nirmala UI" pitchFamily="34" charset="0"/>
                <a:ea typeface="Nirmala UI" pitchFamily="34" charset="-122"/>
                <a:cs typeface="Nirmala UI" pitchFamily="34" charset="-120"/>
              </a:rPr>
              <a:t>“কোন কাজ বাকি?”</a:t>
            </a:r>
            <a:endParaRPr lang="en-US" sz="1100" dirty="0"/>
          </a:p>
        </p:txBody>
      </p:sp>
      <p:sp>
        <p:nvSpPr>
          <p:cNvPr id="26" name="Demo rule 6"/>
          <p:cNvSpPr/>
          <p:nvPr/>
        </p:nvSpPr>
        <p:spPr>
          <a:xfrm>
            <a:off x="5120640" y="3831336"/>
            <a:ext cx="3566160" cy="0"/>
          </a:xfrm>
          <a:prstGeom prst="line">
            <a:avLst/>
          </a:prstGeom>
          <a:noFill/>
          <a:ln w="9525">
            <a:solidFill>
              <a:schemeClr val="accent4"/>
            </a:solidFill>
            <a:prstDash val="solid"/>
          </a:ln>
        </p:spPr>
      </p:sp>
      <p:sp>
        <p:nvSpPr>
          <p:cNvPr id="27" name="Text 24"/>
          <p:cNvSpPr txBox="1"/>
          <p:nvPr/>
        </p:nvSpPr>
        <p:spPr>
          <a:xfrm>
            <a:off x="5120640" y="3913632"/>
            <a:ext cx="365760" cy="274320"/>
          </a:xfrm>
          <a:prstGeom prst="rect">
            <a:avLst/>
          </a:prstGeom>
          <a:noFill/>
          <a:ln/>
        </p:spPr>
        <p:txBody>
          <a:bodyPr wrap="square" lIns="0" tIns="0" rIns="0" bIns="0" rtlCol="0" anchor="ctr"/>
          <a:lstStyle/>
          <a:p>
            <a:pPr indent="0" marL="0">
              <a:buNone/>
            </a:pPr>
            <a:r>
              <a:rPr lang="en-US" sz="1100" b="1" dirty="0">
                <a:solidFill>
                  <a:schemeClr val="accent3"/>
                </a:solidFill>
              </a:rPr>
              <a:t>07</a:t>
            </a:r>
            <a:endParaRPr lang="en-US" sz="1100" dirty="0"/>
          </a:p>
        </p:txBody>
      </p:sp>
      <p:sp>
        <p:nvSpPr>
          <p:cNvPr id="28" name="Text 25"/>
          <p:cNvSpPr txBox="1"/>
          <p:nvPr/>
        </p:nvSpPr>
        <p:spPr>
          <a:xfrm>
            <a:off x="5532120" y="3913632"/>
            <a:ext cx="3154680" cy="274320"/>
          </a:xfrm>
          <a:prstGeom prst="rect">
            <a:avLst/>
          </a:prstGeom>
          <a:noFill/>
          <a:ln/>
        </p:spPr>
        <p:txBody>
          <a:bodyPr wrap="square" lIns="0" tIns="0" rIns="0" bIns="0" rtlCol="0" anchor="ctr"/>
          <a:lstStyle/>
          <a:p>
            <a:pPr indent="0" marL="0">
              <a:buNone/>
            </a:pPr>
            <a:r>
              <a:rPr lang="en-US" sz="1100" b="1" dirty="0">
                <a:solidFill>
                  <a:schemeClr val="tx1"/>
                </a:solidFill>
              </a:rPr>
              <a:t>Report  </a:t>
            </a:r>
            <a:pPr indent="0" marL="0">
              <a:buNone/>
            </a:pPr>
            <a:r>
              <a:rPr lang="en-US" sz="1100" dirty="0">
                <a:solidFill>
                  <a:schemeClr val="accent2"/>
                </a:solidFill>
              </a:rPr>
              <a:t>print or save as PDF</a:t>
            </a:r>
            <a:endParaRPr lang="en-US" sz="1100" dirty="0"/>
          </a:p>
        </p:txBody>
      </p:sp>
    </p:spTree>
  </p:cSld>
  <p:clrMapOvr>
    <a:masterClrMapping/>
  </p:clrMapOvr>
</p:sld>
</file>

<file path=ppt/theme/theme1.xml><?xml version="1.0" encoding="utf-8"?>
<a:theme xmlns:a="http://schemas.openxmlformats.org/drawingml/2006/main" name="TerraLink Professional">
  <a:themeElements>
    <a:clrScheme name="TerraLink Professional">
      <a:dk1>
        <a:srgbClr val="1F2A2E"/>
      </a:dk1>
      <a:lt1>
        <a:srgbClr val="FFFFFF"/>
      </a:lt1>
      <a:dk2>
        <a:srgbClr val="1B6B63"/>
      </a:dk2>
      <a:lt2>
        <a:srgbClr val="E0F2F4"/>
      </a:lt2>
      <a:accent1>
        <a:srgbClr val="1B6B63"/>
      </a:accent1>
      <a:accent2>
        <a:srgbClr val="5F6B6D"/>
      </a:accent2>
      <a:accent3>
        <a:srgbClr val="8A9597"/>
      </a:accent3>
      <a:accent4>
        <a:srgbClr val="D9DEDF"/>
      </a:accent4>
      <a:accent5>
        <a:srgbClr val="B8C0C2"/>
      </a:accent5>
      <a:accent6>
        <a:srgbClr val="3A4548"/>
      </a:accent6>
      <a:hlink>
        <a:srgbClr val="1F2A2E"/>
      </a:hlink>
      <a:folHlink>
        <a:srgbClr val="5F6B6D"/>
      </a:folHlink>
    </a:clrScheme>
    <a:fontScheme name="TerraLink Professiona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TerraLink — Smarter Wetland Monitoring &amp; Project Management</dc:title>
  <dc:subject>PptxGenJS Presentation</dc:subject>
  <dc:creator>Afrin Jahan Era</dc:creator>
  <cp:lastModifiedBy>Afrin Jahan Era</cp:lastModifiedBy>
  <cp:revision>1</cp:revision>
  <dcterms:created xsi:type="dcterms:W3CDTF">2026-10-10T07:10:15Z</dcterms:created>
  <dcterms:modified xsi:type="dcterms:W3CDTF">2026-10-10T07:10:15Z</dcterms:modified>
</cp:coreProperties>
</file>