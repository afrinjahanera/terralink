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77" r:id="rId10"/>
    <p:sldId id="278" r:id="rId8"/>
    <p:sldId id="268" r:id="rId19"/>
    <p:sldId id="279" r:id="rId17"/>
    <p:sldId id="280" r:id="rId7"/>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a347c98-ff72-5924-6a97-c886bb895010}">
          <p14:sldIdLst>
            <p14:sldId id="256"/>
          </p14:sldIdLst>
        </p14:section>
        <p14:section name="Problem and solution" id="{a6572cb7-10d9-d36e-1f62-9d95329b3a56}">
          <p14:sldIdLst>
            <p14:sldId id="257"/>
            <p14:sldId id="258"/>
          </p14:sldIdLst>
        </p14:section>
        <p14:section name="Product" id="{b234fb78-1df1-8dc2-a538-f8bafddae804}">
          <p14:sldIdLst>
            <p14:sldId id="259"/>
            <p14:sldId id="260"/>
            <p14:sldId id="261"/>
          </p14:sldIdLst>
        </p14:section>
        <p14:section name="Impact and plan" id="{ae6668b6-2f4f-f772-885c-98a0a8ddc4f1}">
          <p14:sldIdLst>
            <p14:sldId id="262"/>
            <p14:sldId id="263"/>
          </p14:sldIdLst>
        </p14:section>
        <p14:section name="Close" id="{4187ccfb-9c98-8d74-f3d6-80e123a87b27}">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7" Type="http://schemas.openxmlformats.org/officeDocument/2006/relationships/slide" Target="slides/slide9.xml"/><Relationship Id="rId8" Type="http://schemas.openxmlformats.org/officeDocument/2006/relationships/slide" Target="slides/slide6.xml"/><Relationship Id="rId10" Type="http://schemas.openxmlformats.org/officeDocument/2006/relationships/slide" Target="slides/slide5.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7" Type="http://schemas.openxmlformats.org/officeDocument/2006/relationships/slide" Target="slides/slide8.xml"/><Relationship Id="rId1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TerraLink is a web app for NGOs that protect ponds and wetlands in Bangladesh. It helps teams spot possible changes, check them on the ground, assign work, track costs, and make clear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Ponds, beels and wetlands store rainwater, reduce urban flooding and support fisheries and livelihoods. Around Dhaka many canals and water bodies have disappeared or become blocked. NGO teams face three challenges: monitoring is difficult because comparing satellite images takes skill and clouds or seasonal drying can mislead; records are scattered across files, phones and chat groups; and follow-up is limited because it is unclear who checks a site, by when and at what cost. The gap is a simple workflow that connects observations to the work and costs that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TerraLink keeps one record for each lake. It links satellite evidence, decisions, tasks and costs. AI checks report photos and cleanup photos for waste. When a task is assigned, the field coordinator gets an email and a calendar invite. Spending within a task budget is accepted at once; more money needs the manager’s approval. Reports go out by email as a PDF. Meetings are created in Google Meet and saved in each guest’s calendar, and a Discord bot posts every lake update. Who uses it: the project manager reviews, approves and controls the budget; the field coordinator does the work and records costs; a user reports problems with photos.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flow, in four lanes. A resident reports a problem with photos and a map pin. In the review step, a CNN model checks the photos and marks the waste. The satellite comparison can also measure the water area from two Sentinel-2 images. The project manager reviews the evidence and decides: a report is verified or rejected with a reason. If it is confirmed, the manager creates a task for a field coordinator with a deadline and a budget. TerraLink emails the coordinator with a calendar invite. The coordinator does the work, records costs and submits after-photos. The CNN model checks those photos for waste, then TerraLink emails the manager. The manager approves the work, or sends it back. When the task is completed, the resident sees the result, and the report can be downloaded as a PDF or sent by email.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Questions are welcome. The live demo is at terralink-probah.vercel.app, or scan the QR code.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Features 3, 4 and 5. Reports: download a PDF, or send it by email; each person gets a summary and the PDF attached. Meetings and updates: the manager creates a Google Meet from a task or a lake; it is saved in Google Calendar and every guest gets the link by email. A Discord bot keeps one thread for each lake and posts every change; anyone can type /status for the latest. Budgets and costs: each task has a budget. Spending within it is accepted at once. Going over needs a request and the manager’s approval, and the manager is emailed when a site goes over budget.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Feature 1, Map and Change Analysis, shows the Dhaka water bodies on one map. The manager picks two dates and TerraLink measures the water area on real Sentinel-2 images. When clouds block the view, it shows Insufficient data instead of guessing. Feature 2, Review and Tasks, turns a verified finding into field work. AI marks the waste on report photos. The manager assigns a field coordinator with a deadline and a budget. The coordinator sends after-photos, AI checks them for waste, and then the manager approves or returns the 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TerraLink helps: managers get a clearer view of findings and pending work; residents can report and upload problems with a photo and follow the result; responsibilities, deadlines and expenses are easier to track; and reports are shared by email as a PDF. Actual impact will be evaluated through user feedback and project results. The first prototype is a focused first step: five selected Dhaka ponds and wetlands, built on existing satellite data and free tools, with clearly labelled sample records where real project data is not available. Our vision is a practical tool that turns satellite observations into organised, accountable wetland protection work.</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lang="en-US" dirty="0"/>
              <a:t>Features 6 and 7. TerraLink Copilot answers questions about lakes, tasks and budgets from live records, with photos and the source of each answer. People can ask in English, Bangla or Banglish. Access follows the role: the manager sees everything, including budgets and reporter contacts; a field coordinator sees only their own work and public lake facts. The Discord bot keeps one thread for each lake. It posts every status change, new report, measurement and task update, and anyone can type /status to see the latest.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rtlCol="0"/>
          <a:lstStyle>
            <a:lvl1pPr algn="l" indent="0" marL="0">
              <a:buNone/>
              <a:defRPr lang="en-US" sz="1300" dirty="0">
                <a:solidFill>
                  <a:schemeClr val="accent2"/>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_CYAN">
    <p:bg>
      <p:bgPr>
        <a:solidFill>
          <a:schemeClr val="bg1"/>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CYAN">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rtlCol="0"/>
          <a:lstStyle>
            <a:lvl1pPr algn="l" indent="0" marL="0">
              <a:buNone/>
              <a:defRPr lang="en-US" sz="1300" dirty="0">
                <a:solidFill>
                  <a:schemeClr val="accent2"/>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hyperlink" Target="https://terralink-probah.vercel.app" TargetMode="External"/><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10.png"/><Relationship Id="rId6"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7.png"/><Relationship Id="rId8"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image" descr="Aerial view of a pond and fields in Bangladesh">    </p:cNvPr>
          <p:cNvPicPr>
            <a:picLocks noChangeAspect="1"/>
          </p:cNvPicPr>
          <p:nvPr/>
        </p:nvPicPr>
        <p:blipFill>
          <a:blip r:embed="rId1"/>
          <a:srcRect l="0" r="0" t="0" b="0"/>
          <a:stretch/>
        </p:blipFill>
        <p:spPr>
          <a:xfrm>
            <a:off x="4800600" y="0"/>
            <a:ext cx="4343400" cy="5143500"/>
          </a:xfrm>
          <a:prstGeom prst="rect">
            <a:avLst/>
          </a:prstGeom>
        </p:spPr>
      </p:pic>
      <p:sp>
        <p:nvSpPr>
          <p:cNvPr id="3" name="Text 0"/>
          <p:cNvSpPr txBox="1"/>
          <p:nvPr/>
        </p:nvSpPr>
        <p:spPr>
          <a:xfrm>
            <a:off x="502920" y="914400"/>
            <a:ext cx="4114800" cy="274320"/>
          </a:xfrm>
          <a:prstGeom prst="rect">
            <a:avLst/>
          </a:prstGeom>
          <a:noFill/>
          <a:ln/>
        </p:spPr>
        <p:txBody>
          <a:bodyPr wrap="square" lIns="0" tIns="0" rIns="0" bIns="0" rtlCol="0" anchor="ctr"/>
          <a:lstStyle/>
          <a:p>
            <a:pPr indent="0" marL="0">
              <a:buNone/>
            </a:pPr>
            <a:r>
              <a:rPr lang="en-US" sz="900" b="1" spc="150" kern="0" dirty="0">
                <a:solidFill>
                  <a:schemeClr val="accent2"/>
                </a:solidFill>
              </a:rPr>
              <a:t>CLIMATE RESILIENCE &amp; ENVIRONMENTAL SUSTAINABILITY</a:t>
            </a:r>
            <a:endParaRPr lang="en-US" sz="900" dirty="0"/>
          </a:p>
        </p:txBody>
      </p:sp>
      <p:sp>
        <p:nvSpPr>
          <p:cNvPr id="4" name="Text 1"/>
          <p:cNvSpPr txBox="1"/>
          <p:nvPr/>
        </p:nvSpPr>
        <p:spPr>
          <a:xfrm>
            <a:off x="502920" y="1234440"/>
            <a:ext cx="4114800" cy="777240"/>
          </a:xfrm>
          <a:prstGeom prst="rect">
            <a:avLst/>
          </a:prstGeom>
          <a:noFill/>
          <a:ln/>
        </p:spPr>
        <p:txBody>
          <a:bodyPr wrap="square" lIns="0" tIns="0" rIns="0" bIns="0" rtlCol="0" anchor="ctr"/>
          <a:lstStyle/>
          <a:p>
            <a:pPr indent="0" marL="0">
              <a:buNone/>
            </a:pPr>
            <a:r>
              <a:rPr lang="en-US" sz="4400" b="1" dirty="0">
                <a:solidFill>
                  <a:schemeClr val="tx2"/>
                </a:solidFill>
              </a:rPr>
              <a:t>TerraLink</a:t>
            </a:r>
            <a:endParaRPr lang="en-US" sz="4400" dirty="0"/>
          </a:p>
        </p:txBody>
      </p:sp>
      <p:sp>
        <p:nvSpPr>
          <p:cNvPr id="5" name="Text 2"/>
          <p:cNvSpPr txBox="1"/>
          <p:nvPr/>
        </p:nvSpPr>
        <p:spPr>
          <a:xfrm>
            <a:off x="502920" y="2011680"/>
            <a:ext cx="4023360" cy="731520"/>
          </a:xfrm>
          <a:prstGeom prst="rect">
            <a:avLst/>
          </a:prstGeom>
          <a:noFill/>
          <a:ln/>
        </p:spPr>
        <p:txBody>
          <a:bodyPr wrap="square" lIns="0" tIns="0" rIns="0" bIns="0" rtlCol="0" anchor="t"/>
          <a:lstStyle/>
          <a:p>
            <a:pPr indent="0" marL="0">
              <a:buNone/>
            </a:pPr>
            <a:r>
              <a:rPr lang="en-US" sz="2000" dirty="0">
                <a:solidFill>
                  <a:schemeClr val="tx1"/>
                </a:solidFill>
              </a:rPr>
              <a:t>Smarter Wetland Monitoring &amp; Project Management</a:t>
            </a:r>
            <a:endParaRPr lang="en-US" sz="2000" dirty="0"/>
          </a:p>
        </p:txBody>
      </p:sp>
      <p:sp>
        <p:nvSpPr>
          <p:cNvPr id="6" name="Text 3"/>
          <p:cNvSpPr txBox="1"/>
          <p:nvPr/>
        </p:nvSpPr>
        <p:spPr>
          <a:xfrm>
            <a:off x="502920" y="2788920"/>
            <a:ext cx="3931920" cy="502920"/>
          </a:xfrm>
          <a:prstGeom prst="rect">
            <a:avLst/>
          </a:prstGeom>
          <a:noFill/>
          <a:ln/>
        </p:spPr>
        <p:txBody>
          <a:bodyPr wrap="square" lIns="0" tIns="0" rIns="0" bIns="0" rtlCol="0" anchor="t"/>
          <a:lstStyle/>
          <a:p>
            <a:pPr indent="0" marL="0">
              <a:buNone/>
            </a:pPr>
            <a:r>
              <a:rPr lang="en-US" sz="1300" i="1" dirty="0">
                <a:solidFill>
                  <a:schemeClr val="accent2"/>
                </a:solidFill>
              </a:rPr>
              <a:t>From a satellite signal to a recorded field response, all in one place.</a:t>
            </a:r>
            <a:endParaRPr lang="en-US" sz="1300" dirty="0"/>
          </a:p>
        </p:txBody>
      </p:sp>
      <p:sp>
        <p:nvSpPr>
          <p:cNvPr id="7" name="Cover divider"/>
          <p:cNvSpPr/>
          <p:nvPr/>
        </p:nvSpPr>
        <p:spPr>
          <a:xfrm>
            <a:off x="502920" y="3794760"/>
            <a:ext cx="3931920" cy="0"/>
          </a:xfrm>
          <a:prstGeom prst="line">
            <a:avLst/>
          </a:prstGeom>
          <a:noFill/>
          <a:ln w="9525">
            <a:solidFill>
              <a:schemeClr val="accent4"/>
            </a:solidFill>
            <a:prstDash val="solid"/>
          </a:ln>
        </p:spPr>
      </p:sp>
      <p:sp>
        <p:nvSpPr>
          <p:cNvPr id="8" name="Text 5"/>
          <p:cNvSpPr txBox="1"/>
          <p:nvPr/>
        </p:nvSpPr>
        <p:spPr>
          <a:xfrm>
            <a:off x="502920" y="3931920"/>
            <a:ext cx="4023360" cy="777240"/>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Afrin Jahan Era</a:t>
            </a:r>
            <a:endParaRPr lang="en-US" sz="1100" dirty="0"/>
          </a:p>
          <a:p>
            <a:pPr indent="0" marL="0">
              <a:spcAft>
                <a:spcPts val="200"/>
              </a:spcAft>
              <a:buNone/>
            </a:pPr>
            <a:r>
              <a:rPr lang="en-US" sz="1100" dirty="0">
                <a:solidFill>
                  <a:schemeClr val="accent2"/>
                </a:solidFill>
              </a:rPr>
              <a:t>Islamic University of Technology (IUT)</a:t>
            </a:r>
            <a:endParaRPr lang="en-US" sz="1100" dirty="0"/>
          </a:p>
          <a:p>
            <a:pPr indent="0" marL="0">
              <a:spcAft>
                <a:spcPts val="200"/>
              </a:spcAft>
              <a:buNone/>
            </a:pPr>
            <a:r>
              <a:rPr lang="en-US" sz="1100" u="sng" dirty="0">
                <a:solidFill>
                  <a:schemeClr val="accent2"/>
                </a:solidFill>
                <a:hlinkClick r:id="rId2" invalidUrl="" action="" tgtFrame="" tooltip="" history="1" highlightClick="0" endSnd="0">
                  <a:extLst>
                    <a:ext uri="{A12FA001-AC4F-418D-AE19-62706E023703}">
                      <ahyp:hlinkClr xmlns:ahyp="http://schemas.microsoft.com/office/drawing/2018/hyperlinkcolor" val="tx"/>
                    </a:ext>
                  </a:extLst>
                </a:hlinkClick>
              </a:rPr>
              <a:t>terralink-probah.vercel.app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The Problem</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Wetland protection requires more than identifying environmental changes.</a:t>
            </a:r>
            <a:endParaRPr lang="en-US" sz="1300" dirty="0"/>
          </a:p>
        </p:txBody>
      </p:sp>
      <p:sp>
        <p:nvSpPr>
          <p:cNvPr id="4" name="Text 2"/>
          <p:cNvSpPr txBox="1"/>
          <p:nvPr/>
        </p:nvSpPr>
        <p:spPr>
          <a:xfrm>
            <a:off x="457200" y="1298448"/>
            <a:ext cx="4663440" cy="2697480"/>
          </a:xfrm>
          <a:prstGeom prst="rect">
            <a:avLst/>
          </a:prstGeom>
          <a:noFill/>
          <a:ln/>
        </p:spPr>
        <p:txBody>
          <a:bodyPr wrap="square" lIns="0" tIns="0" rIns="0" bIns="0" rtlCol="0" anchor="t"/>
          <a:lstStyle/>
          <a:p>
            <a:pPr indent="0" marL="0">
              <a:spcAft>
                <a:spcPts val="600"/>
              </a:spcAft>
              <a:buNone/>
            </a:pPr>
            <a:r>
              <a:rPr lang="en-US" sz="1150" dirty="0">
                <a:solidFill>
                  <a:schemeClr val="tx1"/>
                </a:solidFill>
              </a:rPr>
              <a:t>Ponds, beels and wetlands store rainwater, reduce urban flooding and support fisheries and livelihoods. Around Dhaka, many canals and water bodies have disappeared or become blocked as the city grows.</a:t>
            </a:r>
            <a:endParaRPr lang="en-US" sz="1150" dirty="0"/>
          </a:p>
          <a:p>
            <a:pPr indent="0" marL="0">
              <a:spcAft>
                <a:spcPts val="600"/>
              </a:spcAft>
              <a:buNone/>
            </a:pPr>
            <a:r>
              <a:rPr lang="en-US" sz="1150" b="1" dirty="0">
                <a:solidFill>
                  <a:schemeClr val="tx1"/>
                </a:solidFill>
              </a:rPr>
              <a:t>Environmental project managers and field coordinators face three key challenges:</a:t>
            </a:r>
            <a:endParaRPr lang="en-US" sz="1150" dirty="0"/>
          </a:p>
          <a:p>
            <a:pPr indent="0" marL="0">
              <a:spcAft>
                <a:spcPts val="600"/>
              </a:spcAft>
              <a:buNone/>
            </a:pPr>
            <a:r>
              <a:rPr lang="en-US" sz="1150" b="1" dirty="0">
                <a:solidFill>
                  <a:schemeClr val="tx1"/>
                </a:solidFill>
              </a:rPr>
              <a:t>Difficult monitoring: </a:t>
            </a:r>
            <a:pPr indent="0" marL="0">
              <a:spcAft>
                <a:spcPts val="600"/>
              </a:spcAft>
              <a:buNone/>
            </a:pPr>
            <a:r>
              <a:rPr lang="en-US" sz="1150" dirty="0">
                <a:solidFill>
                  <a:schemeClr val="tx1"/>
                </a:solidFill>
              </a:rPr>
              <a:t>Comparing satellite images takes time and skill. Clouds or seasonal drying can make a pond look smaller than it is.</a:t>
            </a:r>
            <a:endParaRPr lang="en-US" sz="1150" dirty="0"/>
          </a:p>
          <a:p>
            <a:pPr indent="0" marL="0">
              <a:spcAft>
                <a:spcPts val="600"/>
              </a:spcAft>
              <a:buNone/>
            </a:pPr>
            <a:r>
              <a:rPr lang="en-US" sz="1150" b="1" dirty="0">
                <a:solidFill>
                  <a:schemeClr val="tx1"/>
                </a:solidFill>
              </a:rPr>
              <a:t>Scattered records: </a:t>
            </a:r>
            <a:pPr indent="0" marL="0">
              <a:spcAft>
                <a:spcPts val="600"/>
              </a:spcAft>
              <a:buNone/>
            </a:pPr>
            <a:r>
              <a:rPr lang="en-US" sz="1150" dirty="0">
                <a:solidFill>
                  <a:schemeClr val="tx1"/>
                </a:solidFill>
              </a:rPr>
              <a:t>Findings, photos, tasks and costs sit in separate files, phones and chat groups.</a:t>
            </a:r>
            <a:endParaRPr lang="en-US" sz="1150" dirty="0"/>
          </a:p>
          <a:p>
            <a:pPr indent="0" marL="0">
              <a:spcAft>
                <a:spcPts val="600"/>
              </a:spcAft>
              <a:buNone/>
            </a:pPr>
            <a:r>
              <a:rPr lang="en-US" sz="1150" b="1" dirty="0">
                <a:solidFill>
                  <a:schemeClr val="tx1"/>
                </a:solidFill>
              </a:rPr>
              <a:t>Limited follow-up: </a:t>
            </a:r>
            <a:pPr indent="0" marL="0">
              <a:spcAft>
                <a:spcPts val="600"/>
              </a:spcAft>
              <a:buNone/>
            </a:pPr>
            <a:r>
              <a:rPr lang="en-US" sz="1150" dirty="0">
                <a:solidFill>
                  <a:schemeClr val="tx1"/>
                </a:solidFill>
              </a:rPr>
              <a:t>It is unclear who should check a site, by when, and at what cost, so reports take long to prepare.</a:t>
            </a:r>
            <a:endParaRPr lang="en-US" sz="1150" dirty="0"/>
          </a:p>
        </p:txBody>
      </p:sp>
      <p:sp>
        <p:nvSpPr>
          <p:cNvPr id="5" name="Gap divider"/>
          <p:cNvSpPr/>
          <p:nvPr/>
        </p:nvSpPr>
        <p:spPr>
          <a:xfrm>
            <a:off x="457200" y="4069080"/>
            <a:ext cx="4663440" cy="0"/>
          </a:xfrm>
          <a:prstGeom prst="line">
            <a:avLst/>
          </a:prstGeom>
          <a:noFill/>
          <a:ln w="9525">
            <a:solidFill>
              <a:schemeClr val="accent4"/>
            </a:solidFill>
            <a:prstDash val="solid"/>
          </a:ln>
        </p:spPr>
      </p:sp>
      <p:sp>
        <p:nvSpPr>
          <p:cNvPr id="6" name="Text 4"/>
          <p:cNvSpPr txBox="1"/>
          <p:nvPr/>
        </p:nvSpPr>
        <p:spPr>
          <a:xfrm>
            <a:off x="457200" y="4160520"/>
            <a:ext cx="4663440" cy="502920"/>
          </a:xfrm>
          <a:prstGeom prst="rect">
            <a:avLst/>
          </a:prstGeom>
          <a:noFill/>
          <a:ln/>
        </p:spPr>
        <p:txBody>
          <a:bodyPr wrap="square" lIns="0" tIns="0" rIns="0" bIns="0" rtlCol="0" anchor="t"/>
          <a:lstStyle/>
          <a:p>
            <a:pPr indent="0" marL="0">
              <a:buNone/>
            </a:pPr>
            <a:r>
              <a:rPr lang="en-US" sz="1150" b="1" dirty="0">
                <a:solidFill>
                  <a:schemeClr val="tx2"/>
                </a:solidFill>
              </a:rPr>
              <a:t>The gap  </a:t>
            </a:r>
            <a:pPr indent="0" marL="0">
              <a:buNone/>
            </a:pPr>
            <a:r>
              <a:rPr lang="en-US" sz="1150" dirty="0">
                <a:solidFill>
                  <a:schemeClr val="tx1"/>
                </a:solidFill>
              </a:rPr>
              <a:t>A simple workflow that connects environmental observations to the checks, work and costs that follow.</a:t>
            </a:r>
            <a:endParaRPr lang="en-US" sz="1150" dirty="0"/>
          </a:p>
        </p:txBody>
      </p:sp>
      <p:pic>
        <p:nvPicPr>
          <p:cNvPr id="7" name="Problem image" descr="A pond surrounded by dense city buildings">    </p:cNvPr>
          <p:cNvPicPr>
            <a:picLocks noChangeAspect="1"/>
          </p:cNvPicPr>
          <p:nvPr/>
        </p:nvPicPr>
        <p:blipFill>
          <a:blip r:embed="rId1"/>
          <a:srcRect l="0" r="0" t="0" b="0"/>
          <a:stretch/>
        </p:blipFill>
        <p:spPr>
          <a:xfrm>
            <a:off x="5394960" y="1325880"/>
            <a:ext cx="3291840" cy="2377440"/>
          </a:xfrm>
          <a:prstGeom prst="rect">
            <a:avLst/>
          </a:prstGeom>
        </p:spPr>
      </p:pic>
      <p:sp>
        <p:nvSpPr>
          <p:cNvPr id="8" name="Problem image frame"/>
          <p:cNvSpPr/>
          <p:nvPr/>
        </p:nvSpPr>
        <p:spPr>
          <a:xfrm>
            <a:off x="5394960" y="1325880"/>
            <a:ext cx="3291840" cy="2377440"/>
          </a:xfrm>
          <a:prstGeom prst="rect">
            <a:avLst/>
          </a:prstGeom>
          <a:ln w="9525">
            <a:solidFill>
              <a:schemeClr val="accent4"/>
            </a:solidFill>
            <a:prstDash val="solid"/>
          </a:ln>
        </p:spPr>
      </p:sp>
      <p:sp>
        <p:nvSpPr>
          <p:cNvPr id="9" name="Text 6"/>
          <p:cNvSpPr txBox="1"/>
          <p:nvPr/>
        </p:nvSpPr>
        <p:spPr>
          <a:xfrm>
            <a:off x="5394960" y="3767328"/>
            <a:ext cx="3291840" cy="365760"/>
          </a:xfrm>
          <a:prstGeom prst="rect">
            <a:avLst/>
          </a:prstGeom>
          <a:noFill/>
          <a:ln/>
        </p:spPr>
        <p:txBody>
          <a:bodyPr wrap="square" lIns="0" tIns="0" rIns="0" bIns="0" rtlCol="0" anchor="t"/>
          <a:lstStyle/>
          <a:p>
            <a:pPr indent="0" marL="0">
              <a:buNone/>
            </a:pPr>
            <a:r>
              <a:rPr lang="en-US" sz="900" dirty="0">
                <a:solidFill>
                  <a:schemeClr val="accent2"/>
                </a:solidFill>
              </a:rPr>
              <a:t>Urban growth puts steady pressure on ponds and wetlands in and around Dhaka.</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Our Solution</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One platform to monitor, review and manage wetland protection projects.</a:t>
            </a:r>
            <a:endParaRPr lang="en-US" sz="1300" dirty="0"/>
          </a:p>
        </p:txBody>
      </p:sp>
      <p:sp>
        <p:nvSpPr>
          <p:cNvPr id="4" name="Text 2"/>
          <p:cNvSpPr txBox="1"/>
          <p:nvPr/>
        </p:nvSpPr>
        <p:spPr>
          <a:xfrm>
            <a:off x="457200" y="1298448"/>
            <a:ext cx="4206240" cy="1828800"/>
          </a:xfrm>
          <a:prstGeom prst="rect">
            <a:avLst/>
          </a:prstGeom>
          <a:noFill/>
          <a:ln/>
        </p:spPr>
        <p:txBody>
          <a:bodyPr wrap="square" lIns="0" tIns="0" rIns="0" bIns="0" rtlCol="0" anchor="t"/>
          <a:lstStyle/>
          <a:p>
            <a:pPr indent="0" marL="0">
              <a:spcAft>
                <a:spcPts val="400"/>
              </a:spcAft>
              <a:buNone/>
            </a:pPr>
            <a:r>
              <a:rPr lang="en-US" sz="1150" dirty="0">
                <a:solidFill>
                  <a:schemeClr val="tx1"/>
                </a:solidFill>
              </a:rPr>
              <a:t>TerraLink keeps one shared record for each site, linking satellite evidence, decisions, tasks and costs.</a:t>
            </a:r>
            <a:endParaRPr lang="en-US" sz="1150" dirty="0"/>
          </a:p>
          <a:p>
            <a:pPr marL="152400" indent="-152400">
              <a:spcAft>
                <a:spcPts val="400"/>
              </a:spcAft>
              <a:buSzPct val="100000"/>
              <a:buChar char="•"/>
            </a:pPr>
            <a:r>
              <a:rPr lang="en-US" sz="1150" dirty="0">
                <a:solidFill>
                  <a:schemeClr val="tx1"/>
                </a:solidFill>
              </a:rPr>
              <a:t>Compare satellite images to spot possible changes in visible water area</a:t>
            </a:r>
            <a:endParaRPr lang="en-US" sz="1150" dirty="0"/>
          </a:p>
          <a:p>
            <a:pPr marL="152400" indent="-152400">
              <a:spcAft>
                <a:spcPts val="400"/>
              </a:spcAft>
              <a:buSzPct val="100000"/>
              <a:buChar char="•"/>
            </a:pPr>
            <a:r>
              <a:rPr lang="en-US" sz="1150" dirty="0">
                <a:solidFill>
                  <a:schemeClr val="tx1"/>
                </a:solidFill>
              </a:rPr>
              <a:t>Review satellite findings and photo reports, checked by AI for waste</a:t>
            </a:r>
            <a:endParaRPr lang="en-US" sz="1150" dirty="0"/>
          </a:p>
          <a:p>
            <a:pPr marL="152400" indent="-152400">
              <a:spcAft>
                <a:spcPts val="400"/>
              </a:spcAft>
              <a:buSzPct val="100000"/>
              <a:buChar char="•"/>
            </a:pPr>
            <a:r>
              <a:rPr lang="en-US" sz="1150" dirty="0">
                <a:solidFill>
                  <a:schemeClr val="tx1"/>
                </a:solidFill>
              </a:rPr>
              <a:t>Assign tasks; each person gets an email and a calendar invite</a:t>
            </a:r>
            <a:endParaRPr lang="en-US" sz="1150" dirty="0"/>
          </a:p>
          <a:p>
            <a:pPr marL="152400" indent="-152400">
              <a:spcAft>
                <a:spcPts val="400"/>
              </a:spcAft>
              <a:buSzPct val="100000"/>
              <a:buChar char="•"/>
            </a:pPr>
            <a:r>
              <a:rPr lang="en-US" sz="1150" dirty="0">
                <a:solidFill>
                  <a:schemeClr val="tx1"/>
                </a:solidFill>
              </a:rPr>
              <a:t>Track budgets; spending more needs the manager’s approval</a:t>
            </a:r>
            <a:endParaRPr lang="en-US" sz="1150" dirty="0"/>
          </a:p>
          <a:p>
            <a:pPr marL="152400" indent="-152400">
              <a:spcAft>
                <a:spcPts val="400"/>
              </a:spcAft>
              <a:buSzPct val="100000"/>
              <a:buChar char="•"/>
            </a:pPr>
            <a:r>
              <a:rPr lang="en-US" sz="1150" dirty="0">
                <a:solidFill>
                  <a:schemeClr val="tx1"/>
                </a:solidFill>
              </a:rPr>
              <a:t>Email reports, plan Google Meet calls and post updates to Discord</a:t>
            </a:r>
            <a:endParaRPr lang="en-US" sz="1150" dirty="0"/>
          </a:p>
        </p:txBody>
      </p:sp>
      <p:sp>
        <p:nvSpPr>
          <p:cNvPr id="5" name="Text 3"/>
          <p:cNvSpPr txBox="1"/>
          <p:nvPr/>
        </p:nvSpPr>
        <p:spPr>
          <a:xfrm>
            <a:off x="457200" y="3200400"/>
            <a:ext cx="4206240" cy="868680"/>
          </a:xfrm>
          <a:prstGeom prst="rect">
            <a:avLst/>
          </a:prstGeom>
          <a:noFill/>
          <a:ln/>
        </p:spPr>
        <p:txBody>
          <a:bodyPr wrap="square" lIns="0" tIns="0" rIns="0" bIns="0" rtlCol="0" anchor="t"/>
          <a:lstStyle/>
          <a:p>
            <a:pPr indent="0" marL="0">
              <a:spcAft>
                <a:spcPts val="200"/>
              </a:spcAft>
              <a:buNone/>
            </a:pPr>
            <a:r>
              <a:rPr lang="en-US" sz="1100" b="1" dirty="0">
                <a:solidFill>
                  <a:schemeClr val="tx1"/>
                </a:solidFill>
              </a:rPr>
              <a:t>Built to be trusted</a:t>
            </a:r>
            <a:endParaRPr lang="en-US" sz="1100" dirty="0"/>
          </a:p>
          <a:p>
            <a:pPr indent="0" marL="0">
              <a:spcAft>
                <a:spcPts val="200"/>
              </a:spcAft>
              <a:buNone/>
            </a:pPr>
            <a:r>
              <a:rPr lang="en-US" sz="1100" dirty="0">
                <a:solidFill>
                  <a:schemeClr val="accent2"/>
                </a:solidFill>
              </a:rPr>
              <a:t>Uses free Sentinel-2 imagery and measures the water area in the browser (NDWI). When clouds hide a site, it shows "Insufficient data" instead of guessing, and a drop in water is treated as a reason to check, not as proof.</a:t>
            </a:r>
            <a:endParaRPr lang="en-US" sz="1100" dirty="0"/>
          </a:p>
        </p:txBody>
      </p:sp>
      <p:sp>
        <p:nvSpPr>
          <p:cNvPr id="6" name="Approach divider"/>
          <p:cNvSpPr/>
          <p:nvPr/>
        </p:nvSpPr>
        <p:spPr>
          <a:xfrm>
            <a:off x="457200" y="4114800"/>
            <a:ext cx="4206240" cy="0"/>
          </a:xfrm>
          <a:prstGeom prst="line">
            <a:avLst/>
          </a:prstGeom>
          <a:noFill/>
          <a:ln w="9525">
            <a:solidFill>
              <a:schemeClr val="accent4"/>
            </a:solidFill>
            <a:prstDash val="solid"/>
          </a:ln>
        </p:spPr>
      </p:sp>
      <p:sp>
        <p:nvSpPr>
          <p:cNvPr id="7" name="Text 5"/>
          <p:cNvSpPr txBox="1"/>
          <p:nvPr/>
        </p:nvSpPr>
        <p:spPr>
          <a:xfrm>
            <a:off x="457200" y="4206240"/>
            <a:ext cx="4206240" cy="457200"/>
          </a:xfrm>
          <a:prstGeom prst="rect">
            <a:avLst/>
          </a:prstGeom>
          <a:noFill/>
          <a:ln/>
        </p:spPr>
        <p:txBody>
          <a:bodyPr wrap="square" lIns="0" tIns="0" rIns="0" bIns="0" rtlCol="0" anchor="t"/>
          <a:lstStyle/>
          <a:p>
            <a:pPr indent="0" marL="0">
              <a:buNone/>
            </a:pPr>
            <a:r>
              <a:rPr lang="en-US" sz="1150" b="1" dirty="0">
                <a:solidFill>
                  <a:schemeClr val="tx2"/>
                </a:solidFill>
              </a:rPr>
              <a:t>Our approach  </a:t>
            </a:r>
            <a:pPr indent="0" marL="0">
              <a:buNone/>
            </a:pPr>
            <a:r>
              <a:rPr lang="en-US" sz="1150" dirty="0">
                <a:solidFill>
                  <a:schemeClr val="tx1"/>
                </a:solidFill>
              </a:rPr>
              <a:t>Turn a possible environmental change into a documented, trackable action.</a:t>
            </a:r>
            <a:endParaRPr lang="en-US" sz="1150" dirty="0"/>
          </a:p>
        </p:txBody>
      </p:sp>
      <p:sp>
        <p:nvSpPr>
          <p:cNvPr id="10" name="Text 7"/>
          <p:cNvSpPr txBox="1"/>
          <p:nvPr/>
        </p:nvSpPr>
        <p:spPr>
          <a:xfrm>
            <a:off x="4846320" y="3401568"/>
            <a:ext cx="3840480" cy="228600"/>
          </a:xfrm>
          <a:prstGeom prst="rect">
            <a:avLst/>
          </a:prstGeom>
          <a:noFill/>
          <a:ln/>
        </p:spPr>
        <p:txBody>
          <a:bodyPr wrap="square" lIns="0" tIns="0" rIns="0" bIns="0" rtlCol="0" anchor="ctr"/>
          <a:lstStyle/>
          <a:p>
            <a:pPr indent="0" marL="0">
              <a:buNone/>
            </a:pPr>
            <a:r>
              <a:rPr lang="en-US" sz="900" dirty="0">
                <a:solidFill>
                  <a:schemeClr val="accent2"/>
                </a:solidFill>
              </a:rPr>
              <a:t>Live prototype: the manager dashboard</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3</a:t>
            </a:fld>
            <a:endParaRPr lang="en-US"/>
          </a:p>
        </p:txBody>
      </p:sp>
      <p:pic>
        <p:nvPicPr>
          <p:cNvPr id="26" name="Dashboard screenshot" descr="The project manager dashboard"/>
          <p:cNvPicPr>
            <a:picLocks noChangeAspect="1"/>
          </p:cNvPicPr>
          <p:nvPr/>
        </p:nvPicPr>
        <p:blipFill>
          <a:blip r:embed="rId4"/>
          <a:srcRect b="27869"/>
          <a:stretch>
            <a:fillRect/>
          </a:stretch>
        </p:blipFill>
        <p:spPr>
          <a:xfrm>
            <a:off x="4846320" y="1325880"/>
            <a:ext cx="3840480" cy="2011680"/>
          </a:xfrm>
          <a:prstGeom prst="rect">
            <a:avLst/>
          </a:prstGeom>
        </p:spPr>
      </p:pic>
      <p:sp>
        <p:nvSpPr>
          <p:cNvPr id="27" name="Dashboard screenshot frame"/>
          <p:cNvSpPr/>
          <p:nvPr/>
        </p:nvSpPr>
        <p:spPr>
          <a:xfrm>
            <a:off x="4846320" y="1325880"/>
            <a:ext cx="3840480" cy="2011680"/>
          </a:xfrm>
          <a:prstGeom prst="rect">
            <a:avLst/>
          </a:prstGeom>
          <a:noFill/>
          <a:ln w="9525">
            <a:solidFill>
              <a:schemeClr val="accent4"/>
            </a:solidFill>
          </a:ln>
        </p:spPr>
        <p:txBody>
          <a:bodyPr rtlCol="0" anchor="ctr"/>
          <a:lstStyle/>
          <a:p>
            <a:pPr algn="ctr"/>
          </a:p>
        </p:txBody>
      </p:sp>
      <p:sp>
        <p:nvSpPr>
          <p:cNvPr id="28" name="Who uses it heading"/>
          <p:cNvSpPr txBox="1"/>
          <p:nvPr/>
        </p:nvSpPr>
        <p:spPr>
          <a:xfrm>
            <a:off x="4846320" y="3730752"/>
            <a:ext cx="3840480" cy="237744"/>
          </a:xfrm>
          <a:prstGeom prst="rect">
            <a:avLst/>
          </a:prstGeom>
          <a:noFill/>
        </p:spPr>
        <p:txBody>
          <a:bodyPr wrap="square" lIns="0" rIns="0" tIns="0" bIns="0" anchor="t">
            <a:noAutofit/>
          </a:bodyPr>
          <a:lstStyle/>
          <a:p>
            <a:r>
              <a:rPr sz="1200" b="1" i="0">
                <a:solidFill>
                  <a:schemeClr val="tx1"/>
                </a:solidFill>
              </a:rPr>
              <a:t>Who uses it</a:t>
            </a:r>
          </a:p>
        </p:txBody>
      </p:sp>
      <p:sp>
        <p:nvSpPr>
          <p:cNvPr id="29" name="Project Manager role"/>
          <p:cNvSpPr txBox="1"/>
          <p:nvPr/>
        </p:nvSpPr>
        <p:spPr>
          <a:xfrm>
            <a:off x="4846320" y="4023360"/>
            <a:ext cx="3840480" cy="219456"/>
          </a:xfrm>
          <a:prstGeom prst="rect">
            <a:avLst/>
          </a:prstGeom>
          <a:noFill/>
        </p:spPr>
        <p:txBody>
          <a:bodyPr wrap="square" lIns="0" rIns="0" tIns="0" bIns="0" anchor="ctr">
            <a:noAutofit/>
          </a:bodyPr>
          <a:lstStyle/>
          <a:p>
            <a:r>
              <a:rPr sz="1000" b="1" i="0">
                <a:solidFill>
                  <a:schemeClr val="tx1"/>
                </a:solidFill>
              </a:rPr>
              <a:t>Project Manager  </a:t>
            </a:r>
            <a:r>
              <a:rPr sz="1000" b="0" i="0">
                <a:solidFill>
                  <a:schemeClr val="accent2"/>
                </a:solidFill>
              </a:rPr>
              <a:t>reviews findings, approves work, controls budget</a:t>
            </a:r>
          </a:p>
        </p:txBody>
      </p:sp>
      <p:sp>
        <p:nvSpPr>
          <p:cNvPr id="30" name="Field Coordinator role"/>
          <p:cNvSpPr txBox="1"/>
          <p:nvPr/>
        </p:nvSpPr>
        <p:spPr>
          <a:xfrm>
            <a:off x="4846320" y="4270248"/>
            <a:ext cx="3840480" cy="219456"/>
          </a:xfrm>
          <a:prstGeom prst="rect">
            <a:avLst/>
          </a:prstGeom>
          <a:noFill/>
        </p:spPr>
        <p:txBody>
          <a:bodyPr wrap="square" lIns="0" rIns="0" tIns="0" bIns="0" anchor="ctr">
            <a:noAutofit/>
          </a:bodyPr>
          <a:lstStyle/>
          <a:p>
            <a:r>
              <a:rPr sz="1000" b="1" i="0">
                <a:solidFill>
                  <a:schemeClr val="tx1"/>
                </a:solidFill>
              </a:rPr>
              <a:t>Field Coordinator  </a:t>
            </a:r>
            <a:r>
              <a:rPr sz="1000" b="0" i="0">
                <a:solidFill>
                  <a:schemeClr val="accent2"/>
                </a:solidFill>
              </a:rPr>
              <a:t>updates assigned tasks and records costs</a:t>
            </a:r>
          </a:p>
        </p:txBody>
      </p:sp>
      <p:sp>
        <p:nvSpPr>
          <p:cNvPr id="31" name="User role"/>
          <p:cNvSpPr txBox="1"/>
          <p:nvPr/>
        </p:nvSpPr>
        <p:spPr>
          <a:xfrm>
            <a:off x="4846320" y="4517136"/>
            <a:ext cx="3840480" cy="219456"/>
          </a:xfrm>
          <a:prstGeom prst="rect">
            <a:avLst/>
          </a:prstGeom>
          <a:noFill/>
        </p:spPr>
        <p:txBody>
          <a:bodyPr wrap="square" lIns="0" rIns="0" tIns="0" bIns="0" anchor="ctr">
            <a:noAutofit/>
          </a:bodyPr>
          <a:lstStyle/>
          <a:p>
            <a:r>
              <a:rPr sz="1000" b="1" i="0">
                <a:solidFill>
                  <a:schemeClr val="tx1"/>
                </a:solidFill>
              </a:rPr>
              <a:t>User  </a:t>
            </a:r>
            <a:r>
              <a:rPr sz="1000" b="0" i="0">
                <a:solidFill>
                  <a:schemeClr val="accent2"/>
                </a:solidFill>
              </a:rPr>
              <a:t>explores water bodies and reports problems with photos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How It Works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From a resident’s report or a satellite signal to a closed task and a shared report.</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4</a:t>
            </a:fld>
            <a:endParaRPr lang="en-US"/>
          </a:p>
        </p:txBody>
      </p:sp>
      <p:sp>
        <p:nvSpPr>
          <p:cNvPr id="26" name="Lane 1"/>
          <p:cNvSpPr/>
          <p:nvPr/>
        </p:nvSpPr>
        <p:spPr>
          <a:xfrm>
            <a:off x="457200" y="1517904"/>
            <a:ext cx="8229600" cy="777240"/>
          </a:xfrm>
          <a:prstGeom prst="rect">
            <a:avLst/>
          </a:prstGeom>
          <a:solidFill>
            <a:srgbClr val="F5F8F8"/>
          </a:solidFill>
          <a:ln w="9525">
            <a:solidFill>
              <a:schemeClr val="accent4"/>
            </a:solidFill>
          </a:ln>
          <a:effectLst/>
        </p:spPr>
        <p:txBody>
          <a:bodyPr rtlCol="0" anchor="ctr"/>
          <a:lstStyle/>
          <a:p>
            <a:pPr algn="ctr"/>
          </a:p>
        </p:txBody>
      </p:sp>
      <p:sp>
        <p:nvSpPr>
          <p:cNvPr id="27" name="Lane 1 label"/>
          <p:cNvSpPr/>
          <p:nvPr/>
        </p:nvSpPr>
        <p:spPr>
          <a:xfrm>
            <a:off x="457200" y="151790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Community member</a:t>
            </a:r>
          </a:p>
        </p:txBody>
      </p:sp>
      <p:sp>
        <p:nvSpPr>
          <p:cNvPr id="28" name="Lane 2"/>
          <p:cNvSpPr/>
          <p:nvPr/>
        </p:nvSpPr>
        <p:spPr>
          <a:xfrm>
            <a:off x="457200" y="2295144"/>
            <a:ext cx="8229600" cy="777240"/>
          </a:xfrm>
          <a:prstGeom prst="rect">
            <a:avLst/>
          </a:prstGeom>
          <a:solidFill>
            <a:schemeClr val="bg1"/>
          </a:solidFill>
          <a:ln w="9525">
            <a:solidFill>
              <a:schemeClr val="accent4"/>
            </a:solidFill>
          </a:ln>
          <a:effectLst/>
        </p:spPr>
        <p:txBody>
          <a:bodyPr rtlCol="0" anchor="ctr"/>
          <a:lstStyle/>
          <a:p>
            <a:pPr algn="ctr"/>
          </a:p>
        </p:txBody>
      </p:sp>
      <p:sp>
        <p:nvSpPr>
          <p:cNvPr id="29" name="Lane 2 label"/>
          <p:cNvSpPr/>
          <p:nvPr/>
        </p:nvSpPr>
        <p:spPr>
          <a:xfrm>
            <a:off x="457200" y="229514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Project manager</a:t>
            </a:r>
          </a:p>
        </p:txBody>
      </p:sp>
      <p:sp>
        <p:nvSpPr>
          <p:cNvPr id="30" name="Lane 3"/>
          <p:cNvSpPr/>
          <p:nvPr/>
        </p:nvSpPr>
        <p:spPr>
          <a:xfrm>
            <a:off x="457200" y="3072384"/>
            <a:ext cx="8229600" cy="777240"/>
          </a:xfrm>
          <a:prstGeom prst="rect">
            <a:avLst/>
          </a:prstGeom>
          <a:solidFill>
            <a:srgbClr val="F5F8F8"/>
          </a:solidFill>
          <a:ln w="9525">
            <a:solidFill>
              <a:schemeClr val="accent4"/>
            </a:solidFill>
          </a:ln>
          <a:effectLst/>
        </p:spPr>
        <p:txBody>
          <a:bodyPr rtlCol="0" anchor="ctr"/>
          <a:lstStyle/>
          <a:p>
            <a:pPr algn="ctr"/>
          </a:p>
        </p:txBody>
      </p:sp>
      <p:sp>
        <p:nvSpPr>
          <p:cNvPr id="31" name="Lane 3 label"/>
          <p:cNvSpPr/>
          <p:nvPr/>
        </p:nvSpPr>
        <p:spPr>
          <a:xfrm>
            <a:off x="457200" y="307238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Field coordinator</a:t>
            </a:r>
          </a:p>
        </p:txBody>
      </p:sp>
      <p:sp>
        <p:nvSpPr>
          <p:cNvPr id="32" name="Lane 4"/>
          <p:cNvSpPr/>
          <p:nvPr/>
        </p:nvSpPr>
        <p:spPr>
          <a:xfrm>
            <a:off x="457200" y="3849624"/>
            <a:ext cx="8229600" cy="777240"/>
          </a:xfrm>
          <a:prstGeom prst="rect">
            <a:avLst/>
          </a:prstGeom>
          <a:solidFill>
            <a:schemeClr val="bg1"/>
          </a:solidFill>
          <a:ln w="9525">
            <a:solidFill>
              <a:schemeClr val="accent4"/>
            </a:solidFill>
          </a:ln>
          <a:effectLst/>
        </p:spPr>
        <p:txBody>
          <a:bodyPr rtlCol="0" anchor="ctr"/>
          <a:lstStyle/>
          <a:p>
            <a:pPr algn="ctr"/>
          </a:p>
        </p:txBody>
      </p:sp>
      <p:sp>
        <p:nvSpPr>
          <p:cNvPr id="33" name="Lane 4 label"/>
          <p:cNvSpPr/>
          <p:nvPr/>
        </p:nvSpPr>
        <p:spPr>
          <a:xfrm>
            <a:off x="457200" y="3849624"/>
            <a:ext cx="804672" cy="777240"/>
          </a:xfrm>
          <a:prstGeom prst="rect">
            <a:avLst/>
          </a:prstGeom>
          <a:solidFill>
            <a:schemeClr val="bg2"/>
          </a:solidFill>
          <a:ln w="9525">
            <a:solidFill>
              <a:schemeClr val="accent4"/>
            </a:solidFill>
          </a:ln>
          <a:effectLst/>
        </p:spPr>
        <p:txBody>
          <a:bodyPr rtlCol="0" anchor="ctr" wrap="square" lIns="45720" rIns="45720"/>
          <a:lstStyle/>
          <a:p>
            <a:pPr algn="ctr"/>
            <a:r>
              <a:rPr sz="850" b="1" i="0">
                <a:solidFill>
                  <a:schemeClr val="tx2"/>
                </a:solidFill>
              </a:rPr>
              <a:t>TerraLink (automatic)</a:t>
            </a:r>
          </a:p>
        </p:txBody>
      </p:sp>
      <p:sp>
        <p:nvSpPr>
          <p:cNvPr id="34" name="Stage 1"/>
          <p:cNvSpPr txBox="1"/>
          <p:nvPr/>
        </p:nvSpPr>
        <p:spPr>
          <a:xfrm>
            <a:off x="1325880" y="1243584"/>
            <a:ext cx="1051560" cy="219456"/>
          </a:xfrm>
          <a:prstGeom prst="rect">
            <a:avLst/>
          </a:prstGeom>
          <a:noFill/>
        </p:spPr>
        <p:txBody>
          <a:bodyPr wrap="square" lIns="0" rIns="0" tIns="0" bIns="0" anchor="ctr">
            <a:noAutofit/>
          </a:bodyPr>
          <a:lstStyle/>
          <a:p>
            <a:pPr algn="ctr"/>
            <a:r>
              <a:rPr sz="850" b="1" i="0">
                <a:solidFill>
                  <a:schemeClr val="tx2"/>
                </a:solidFill>
              </a:rPr>
              <a:t>1  </a:t>
            </a:r>
            <a:r>
              <a:rPr sz="800" b="1" i="0">
                <a:solidFill>
                  <a:schemeClr val="accent2"/>
                </a:solidFill>
              </a:rPr>
              <a:t>REPORT</a:t>
            </a:r>
          </a:p>
        </p:txBody>
      </p:sp>
      <p:sp>
        <p:nvSpPr>
          <p:cNvPr id="35" name="Stage 2"/>
          <p:cNvSpPr txBox="1"/>
          <p:nvPr/>
        </p:nvSpPr>
        <p:spPr>
          <a:xfrm>
            <a:off x="2377440" y="1243584"/>
            <a:ext cx="1051560" cy="219456"/>
          </a:xfrm>
          <a:prstGeom prst="rect">
            <a:avLst/>
          </a:prstGeom>
          <a:noFill/>
        </p:spPr>
        <p:txBody>
          <a:bodyPr wrap="square" lIns="0" rIns="0" tIns="0" bIns="0" anchor="ctr">
            <a:noAutofit/>
          </a:bodyPr>
          <a:lstStyle/>
          <a:p>
            <a:pPr algn="ctr"/>
            <a:r>
              <a:rPr sz="850" b="1" i="0">
                <a:solidFill>
                  <a:schemeClr val="tx2"/>
                </a:solidFill>
              </a:rPr>
              <a:t>2  </a:t>
            </a:r>
            <a:r>
              <a:rPr sz="800" b="1" i="0">
                <a:solidFill>
                  <a:schemeClr val="accent2"/>
                </a:solidFill>
              </a:rPr>
              <a:t>REVIEW</a:t>
            </a:r>
          </a:p>
        </p:txBody>
      </p:sp>
      <p:sp>
        <p:nvSpPr>
          <p:cNvPr id="36" name="Stage 3"/>
          <p:cNvSpPr txBox="1"/>
          <p:nvPr/>
        </p:nvSpPr>
        <p:spPr>
          <a:xfrm>
            <a:off x="3429000" y="1243584"/>
            <a:ext cx="1051560" cy="219456"/>
          </a:xfrm>
          <a:prstGeom prst="rect">
            <a:avLst/>
          </a:prstGeom>
          <a:noFill/>
        </p:spPr>
        <p:txBody>
          <a:bodyPr wrap="square" lIns="0" rIns="0" tIns="0" bIns="0" anchor="ctr">
            <a:noAutofit/>
          </a:bodyPr>
          <a:lstStyle/>
          <a:p>
            <a:pPr algn="ctr"/>
            <a:r>
              <a:rPr sz="850" b="1" i="0">
                <a:solidFill>
                  <a:schemeClr val="tx2"/>
                </a:solidFill>
              </a:rPr>
              <a:t>3  </a:t>
            </a:r>
            <a:r>
              <a:rPr sz="800" b="1" i="0">
                <a:solidFill>
                  <a:schemeClr val="accent2"/>
                </a:solidFill>
              </a:rPr>
              <a:t>DECIDE</a:t>
            </a:r>
          </a:p>
        </p:txBody>
      </p:sp>
      <p:sp>
        <p:nvSpPr>
          <p:cNvPr id="37" name="Stage 4"/>
          <p:cNvSpPr txBox="1"/>
          <p:nvPr/>
        </p:nvSpPr>
        <p:spPr>
          <a:xfrm>
            <a:off x="4480560" y="1243584"/>
            <a:ext cx="1051560" cy="219456"/>
          </a:xfrm>
          <a:prstGeom prst="rect">
            <a:avLst/>
          </a:prstGeom>
          <a:noFill/>
        </p:spPr>
        <p:txBody>
          <a:bodyPr wrap="square" lIns="0" rIns="0" tIns="0" bIns="0" anchor="ctr">
            <a:noAutofit/>
          </a:bodyPr>
          <a:lstStyle/>
          <a:p>
            <a:pPr algn="ctr"/>
            <a:r>
              <a:rPr sz="850" b="1" i="0">
                <a:solidFill>
                  <a:schemeClr val="tx2"/>
                </a:solidFill>
              </a:rPr>
              <a:t>4  </a:t>
            </a:r>
            <a:r>
              <a:rPr sz="800" b="1" i="0">
                <a:solidFill>
                  <a:schemeClr val="accent2"/>
                </a:solidFill>
              </a:rPr>
              <a:t>ASSIGN</a:t>
            </a:r>
          </a:p>
        </p:txBody>
      </p:sp>
      <p:sp>
        <p:nvSpPr>
          <p:cNvPr id="38" name="Stage 5"/>
          <p:cNvSpPr txBox="1"/>
          <p:nvPr/>
        </p:nvSpPr>
        <p:spPr>
          <a:xfrm>
            <a:off x="5532120" y="1243584"/>
            <a:ext cx="1051560" cy="219456"/>
          </a:xfrm>
          <a:prstGeom prst="rect">
            <a:avLst/>
          </a:prstGeom>
          <a:noFill/>
        </p:spPr>
        <p:txBody>
          <a:bodyPr wrap="square" lIns="0" rIns="0" tIns="0" bIns="0" anchor="ctr">
            <a:noAutofit/>
          </a:bodyPr>
          <a:lstStyle/>
          <a:p>
            <a:pPr algn="ctr"/>
            <a:r>
              <a:rPr sz="850" b="1" i="0">
                <a:solidFill>
                  <a:schemeClr val="tx2"/>
                </a:solidFill>
              </a:rPr>
              <a:t>5  </a:t>
            </a:r>
            <a:r>
              <a:rPr sz="800" b="1" i="0">
                <a:solidFill>
                  <a:schemeClr val="accent2"/>
                </a:solidFill>
              </a:rPr>
              <a:t>WORK</a:t>
            </a:r>
          </a:p>
        </p:txBody>
      </p:sp>
      <p:sp>
        <p:nvSpPr>
          <p:cNvPr id="39" name="Stage 6"/>
          <p:cNvSpPr txBox="1"/>
          <p:nvPr/>
        </p:nvSpPr>
        <p:spPr>
          <a:xfrm>
            <a:off x="6583680" y="1243584"/>
            <a:ext cx="1051560" cy="219456"/>
          </a:xfrm>
          <a:prstGeom prst="rect">
            <a:avLst/>
          </a:prstGeom>
          <a:noFill/>
        </p:spPr>
        <p:txBody>
          <a:bodyPr wrap="square" lIns="0" rIns="0" tIns="0" bIns="0" anchor="ctr">
            <a:noAutofit/>
          </a:bodyPr>
          <a:lstStyle/>
          <a:p>
            <a:pPr algn="ctr"/>
            <a:r>
              <a:rPr sz="850" b="1" i="0">
                <a:solidFill>
                  <a:schemeClr val="tx2"/>
                </a:solidFill>
              </a:rPr>
              <a:t>6  </a:t>
            </a:r>
            <a:r>
              <a:rPr sz="800" b="1" i="0">
                <a:solidFill>
                  <a:schemeClr val="accent2"/>
                </a:solidFill>
              </a:rPr>
              <a:t>VERIFY</a:t>
            </a:r>
          </a:p>
        </p:txBody>
      </p:sp>
      <p:sp>
        <p:nvSpPr>
          <p:cNvPr id="40" name="Stage 7"/>
          <p:cNvSpPr txBox="1"/>
          <p:nvPr/>
        </p:nvSpPr>
        <p:spPr>
          <a:xfrm>
            <a:off x="7635240" y="1243584"/>
            <a:ext cx="1051560" cy="219456"/>
          </a:xfrm>
          <a:prstGeom prst="rect">
            <a:avLst/>
          </a:prstGeom>
          <a:noFill/>
        </p:spPr>
        <p:txBody>
          <a:bodyPr wrap="square" lIns="0" rIns="0" tIns="0" bIns="0" anchor="ctr">
            <a:noAutofit/>
          </a:bodyPr>
          <a:lstStyle/>
          <a:p>
            <a:pPr algn="ctr"/>
            <a:r>
              <a:rPr sz="850" b="1" i="0">
                <a:solidFill>
                  <a:schemeClr val="tx2"/>
                </a:solidFill>
              </a:rPr>
              <a:t>7  </a:t>
            </a:r>
            <a:r>
              <a:rPr sz="800" b="1" i="0">
                <a:solidFill>
                  <a:schemeClr val="accent2"/>
                </a:solidFill>
              </a:rPr>
              <a:t>CLOSE &amp; SHARE</a:t>
            </a:r>
          </a:p>
        </p:txBody>
      </p:sp>
      <p:sp>
        <p:nvSpPr>
          <p:cNvPr id="41" name="Report a problem (Community member)"/>
          <p:cNvSpPr/>
          <p:nvPr/>
        </p:nvSpPr>
        <p:spPr>
          <a:xfrm>
            <a:off x="1431036" y="163220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Report a problem</a:t>
            </a:r>
          </a:p>
          <a:p>
            <a:pPr algn="ctr"/>
            <a:r>
              <a:rPr sz="750" b="0" i="0">
                <a:solidFill>
                  <a:schemeClr val="accent2"/>
                </a:solidFill>
              </a:rPr>
              <a:t>photos + map pin</a:t>
            </a:r>
          </a:p>
        </p:txBody>
      </p:sp>
      <p:sp>
        <p:nvSpPr>
          <p:cNvPr id="42" name="Satellite comparison (TerraLink (automatic))"/>
          <p:cNvSpPr/>
          <p:nvPr/>
        </p:nvSpPr>
        <p:spPr>
          <a:xfrm>
            <a:off x="143103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Satellite comparison</a:t>
            </a:r>
          </a:p>
          <a:p>
            <a:pPr algn="ctr"/>
            <a:r>
              <a:rPr sz="750" b="0" i="0">
                <a:solidFill>
                  <a:schemeClr val="accent2"/>
                </a:solidFill>
              </a:rPr>
              <a:t>Sentinel-2, NDWI</a:t>
            </a:r>
          </a:p>
        </p:txBody>
      </p:sp>
      <p:sp>
        <p:nvSpPr>
          <p:cNvPr id="43" name="Review evidence (Project manager)"/>
          <p:cNvSpPr/>
          <p:nvPr/>
        </p:nvSpPr>
        <p:spPr>
          <a:xfrm>
            <a:off x="2482596" y="240944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Review evidence</a:t>
            </a:r>
          </a:p>
          <a:p>
            <a:pPr algn="ctr"/>
            <a:r>
              <a:rPr sz="750" b="0" i="0">
                <a:solidFill>
                  <a:schemeClr val="accent2"/>
                </a:solidFill>
              </a:rPr>
              <a:t>report or satellite</a:t>
            </a:r>
          </a:p>
        </p:txBody>
      </p:sp>
      <p:sp>
        <p:nvSpPr>
          <p:cNvPr id="44" name="Confirmed? (Project manager)"/>
          <p:cNvSpPr/>
          <p:nvPr/>
        </p:nvSpPr>
        <p:spPr>
          <a:xfrm>
            <a:off x="3534156" y="2409444"/>
            <a:ext cx="841248" cy="548640"/>
          </a:xfrm>
          <a:prstGeom prst="roundRect">
            <a:avLst>
              <a:gd name="adj" fmla="val 12000"/>
            </a:avLst>
          </a:prstGeom>
          <a:solidFill>
            <a:srgbClr val="ECEFEF"/>
          </a:solidFill>
          <a:ln w="12700">
            <a:solidFill>
              <a:schemeClr val="accent3"/>
            </a:solidFill>
          </a:ln>
          <a:effectLst/>
        </p:spPr>
        <p:txBody>
          <a:bodyPr rtlCol="0" anchor="ctr" wrap="square" lIns="36576" rIns="36576" tIns="18288" bIns="18288"/>
          <a:lstStyle/>
          <a:p>
            <a:pPr algn="ctr"/>
            <a:r>
              <a:rPr sz="850" b="1" i="0">
                <a:solidFill>
                  <a:schemeClr val="tx1"/>
                </a:solidFill>
              </a:rPr>
              <a:t>Confirmed?</a:t>
            </a:r>
          </a:p>
          <a:p>
            <a:pPr algn="ctr"/>
            <a:r>
              <a:rPr sz="750" b="0" i="0">
                <a:solidFill>
                  <a:schemeClr val="accent2"/>
                </a:solidFill>
              </a:rPr>
              <a:t>verified or measured</a:t>
            </a:r>
          </a:p>
        </p:txBody>
      </p:sp>
      <p:sp>
        <p:nvSpPr>
          <p:cNvPr id="45" name="Not taken forward (Community member)"/>
          <p:cNvSpPr/>
          <p:nvPr/>
        </p:nvSpPr>
        <p:spPr>
          <a:xfrm>
            <a:off x="3534156" y="1632204"/>
            <a:ext cx="841248" cy="548640"/>
          </a:xfrm>
          <a:prstGeom prst="roundRect">
            <a:avLst>
              <a:gd name="adj" fmla="val 12000"/>
            </a:avLst>
          </a:prstGeom>
          <a:solidFill>
            <a:schemeClr val="bg1"/>
          </a:solidFill>
          <a:ln w="12700">
            <a:solidFill>
              <a:schemeClr val="accent3"/>
            </a:solidFill>
            <a:prstDash val="dash"/>
          </a:ln>
          <a:effectLst/>
        </p:spPr>
        <p:txBody>
          <a:bodyPr rtlCol="0" anchor="ctr" wrap="square" lIns="36576" rIns="36576" tIns="18288" bIns="18288"/>
          <a:lstStyle/>
          <a:p>
            <a:pPr algn="ctr"/>
            <a:r>
              <a:rPr sz="850" b="1" i="0">
                <a:solidFill>
                  <a:schemeClr val="tx1"/>
                </a:solidFill>
              </a:rPr>
              <a:t>Not taken forward</a:t>
            </a:r>
          </a:p>
          <a:p>
            <a:pPr algn="ctr"/>
            <a:r>
              <a:rPr sz="750" b="0" i="0">
                <a:solidFill>
                  <a:schemeClr val="accent2"/>
                </a:solidFill>
              </a:rPr>
              <a:t>reason recorded</a:t>
            </a:r>
          </a:p>
        </p:txBody>
      </p:sp>
      <p:sp>
        <p:nvSpPr>
          <p:cNvPr id="46" name="Create task (Project manager)"/>
          <p:cNvSpPr/>
          <p:nvPr/>
        </p:nvSpPr>
        <p:spPr>
          <a:xfrm>
            <a:off x="4585716" y="240944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Create task</a:t>
            </a:r>
          </a:p>
          <a:p>
            <a:pPr algn="ctr"/>
            <a:r>
              <a:rPr sz="750" b="0" i="0">
                <a:solidFill>
                  <a:schemeClr val="accent2"/>
                </a:solidFill>
              </a:rPr>
              <a:t>coordinator + deadline</a:t>
            </a:r>
          </a:p>
        </p:txBody>
      </p:sp>
      <p:sp>
        <p:nvSpPr>
          <p:cNvPr id="47" name="Schedule + email (TerraLink (automatic))"/>
          <p:cNvSpPr/>
          <p:nvPr/>
        </p:nvSpPr>
        <p:spPr>
          <a:xfrm>
            <a:off x="458571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Schedule + email</a:t>
            </a:r>
          </a:p>
          <a:p>
            <a:pPr algn="ctr"/>
            <a:r>
              <a:rPr sz="750" b="0" i="0">
                <a:solidFill>
                  <a:schemeClr val="accent2"/>
                </a:solidFill>
              </a:rPr>
              <a:t>calendar, assignee</a:t>
            </a:r>
          </a:p>
        </p:txBody>
      </p:sp>
      <p:sp>
        <p:nvSpPr>
          <p:cNvPr id="85" name="CNN photo check (Review)"/>
          <p:cNvSpPr/>
          <p:nvPr/>
        </p:nvSpPr>
        <p:spPr>
          <a:xfrm>
            <a:off x="2482596" y="163220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CNN photo check</a:t>
            </a:r>
          </a:p>
          <a:p>
            <a:pPr algn="ctr"/>
            <a:r>
              <a:rPr sz="750" b="0" i="0">
                <a:solidFill>
                  <a:schemeClr val="accent2"/>
                </a:solidFill>
              </a:rPr>
              <a:t>marks the waste</a:t>
            </a:r>
          </a:p>
        </p:txBody>
      </p:sp>
      <p:sp>
        <p:nvSpPr>
          <p:cNvPr id="48" name="Do the work (Field coordinator)"/>
          <p:cNvSpPr/>
          <p:nvPr/>
        </p:nvSpPr>
        <p:spPr>
          <a:xfrm>
            <a:off x="5637276" y="318668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Do the work</a:t>
            </a:r>
          </a:p>
          <a:p>
            <a:pPr algn="ctr"/>
            <a:r>
              <a:rPr sz="750" b="0" i="0">
                <a:solidFill>
                  <a:schemeClr val="accent2"/>
                </a:solidFill>
              </a:rPr>
              <a:t>start, record costs</a:t>
            </a:r>
          </a:p>
        </p:txBody>
      </p:sp>
      <p:sp>
        <p:nvSpPr>
          <p:cNvPr id="49" name="Submit for review (Field coordinator)"/>
          <p:cNvSpPr/>
          <p:nvPr/>
        </p:nvSpPr>
        <p:spPr>
          <a:xfrm>
            <a:off x="6688836" y="318668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Submit for review</a:t>
            </a:r>
          </a:p>
          <a:p>
            <a:pPr algn="ctr"/>
            <a:r>
              <a:rPr sz="750" b="0" i="0">
                <a:solidFill>
                  <a:schemeClr val="accent2"/>
                </a:solidFill>
              </a:rPr>
              <a:t>photos + summary</a:t>
            </a:r>
          </a:p>
        </p:txBody>
      </p:sp>
      <p:sp>
        <p:nvSpPr>
          <p:cNvPr id="50" name="Email manager (TerraLink (automatic))"/>
          <p:cNvSpPr/>
          <p:nvPr/>
        </p:nvSpPr>
        <p:spPr>
          <a:xfrm>
            <a:off x="668883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AI check + email</a:t>
            </a:r>
          </a:p>
          <a:p>
            <a:pPr algn="ctr"/>
            <a:r>
              <a:rPr sz="750" b="0" i="0">
                <a:solidFill>
                  <a:schemeClr val="accent2"/>
                </a:solidFill>
              </a:rPr>
              <a:t>CNN checks photos</a:t>
            </a:r>
          </a:p>
        </p:txBody>
      </p:sp>
      <p:sp>
        <p:nvSpPr>
          <p:cNvPr id="51" name="Approve work? (Project manager)"/>
          <p:cNvSpPr/>
          <p:nvPr/>
        </p:nvSpPr>
        <p:spPr>
          <a:xfrm>
            <a:off x="6688836" y="2409444"/>
            <a:ext cx="841248" cy="548640"/>
          </a:xfrm>
          <a:prstGeom prst="roundRect">
            <a:avLst>
              <a:gd name="adj" fmla="val 12000"/>
            </a:avLst>
          </a:prstGeom>
          <a:solidFill>
            <a:srgbClr val="ECEFEF"/>
          </a:solidFill>
          <a:ln w="12700">
            <a:solidFill>
              <a:schemeClr val="accent3"/>
            </a:solidFill>
          </a:ln>
          <a:effectLst/>
        </p:spPr>
        <p:txBody>
          <a:bodyPr rtlCol="0" anchor="ctr" wrap="square" lIns="36576" rIns="36576" tIns="18288" bIns="18288"/>
          <a:lstStyle/>
          <a:p>
            <a:pPr algn="ctr"/>
            <a:r>
              <a:rPr sz="850" b="1" i="0">
                <a:solidFill>
                  <a:schemeClr val="tx1"/>
                </a:solidFill>
              </a:rPr>
              <a:t>Approve work?</a:t>
            </a:r>
          </a:p>
          <a:p>
            <a:pPr algn="ctr"/>
            <a:r>
              <a:rPr sz="750" b="0" i="0">
                <a:solidFill>
                  <a:schemeClr val="accent2"/>
                </a:solidFill>
              </a:rPr>
              <a:t>and expenses</a:t>
            </a:r>
          </a:p>
        </p:txBody>
      </p:sp>
      <p:sp>
        <p:nvSpPr>
          <p:cNvPr id="52" name="Task completed (Project manager)"/>
          <p:cNvSpPr/>
          <p:nvPr/>
        </p:nvSpPr>
        <p:spPr>
          <a:xfrm>
            <a:off x="7740396" y="240944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Task completed</a:t>
            </a:r>
          </a:p>
          <a:p>
            <a:pPr algn="ctr"/>
            <a:r>
              <a:rPr sz="750" b="0" i="0">
                <a:solidFill>
                  <a:schemeClr val="accent2"/>
                </a:solidFill>
              </a:rPr>
              <a:t>outcome recorded</a:t>
            </a:r>
          </a:p>
        </p:txBody>
      </p:sp>
      <p:sp>
        <p:nvSpPr>
          <p:cNvPr id="53" name="Sees the result (Community member)"/>
          <p:cNvSpPr/>
          <p:nvPr/>
        </p:nvSpPr>
        <p:spPr>
          <a:xfrm>
            <a:off x="7740396" y="1632204"/>
            <a:ext cx="841248" cy="548640"/>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Sees the result</a:t>
            </a:r>
          </a:p>
          <a:p>
            <a:pPr algn="ctr"/>
            <a:r>
              <a:rPr sz="750" b="0" i="0">
                <a:solidFill>
                  <a:schemeClr val="accent2"/>
                </a:solidFill>
              </a:rPr>
              <a:t>report shows Resolved</a:t>
            </a:r>
          </a:p>
        </p:txBody>
      </p:sp>
      <p:sp>
        <p:nvSpPr>
          <p:cNvPr id="54" name="Report + email (TerraLink (automatic))"/>
          <p:cNvSpPr/>
          <p:nvPr/>
        </p:nvSpPr>
        <p:spPr>
          <a:xfrm>
            <a:off x="7740396" y="3963924"/>
            <a:ext cx="841248" cy="54864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Report + email</a:t>
            </a:r>
          </a:p>
          <a:p>
            <a:pPr algn="ctr"/>
            <a:r>
              <a:rPr sz="750" b="0" i="0">
                <a:solidFill>
                  <a:schemeClr val="accent2"/>
                </a:solidFill>
              </a:rPr>
              <a:t>PDF, download or send</a:t>
            </a:r>
          </a:p>
        </p:txBody>
      </p:sp>
      <p:cxnSp>
        <p:nvCxnSpPr>
          <p:cNvPr id="55" name="Connector 54"/>
          <p:cNvCxnSpPr/>
          <p:nvPr/>
        </p:nvCxnSpPr>
        <p:spPr>
          <a:xfrm>
            <a:off x="2272284" y="1906524"/>
            <a:ext cx="210312" cy="0"/>
          </a:xfrm>
          <a:prstGeom prst="line">
            <a:avLst/>
          </a:prstGeom>
          <a:ln w="15875" cap="rnd">
            <a:solidFill>
              <a:schemeClr val="accent2"/>
            </a:solidFill>
            <a:tailEnd type="triangle" w="med" len="med"/>
          </a:ln>
        </p:spPr>
      </p:cxnSp>
      <p:cxnSp>
        <p:nvCxnSpPr>
          <p:cNvPr id="56" name="Connector 55"/>
          <p:cNvCxnSpPr/>
          <p:nvPr/>
        </p:nvCxnSpPr>
        <p:spPr>
          <a:xfrm>
            <a:off x="2903220" y="2180844"/>
            <a:ext cx="0" cy="228600"/>
          </a:xfrm>
          <a:prstGeom prst="line">
            <a:avLst/>
          </a:prstGeom>
          <a:ln w="15875" cap="rnd">
            <a:solidFill>
              <a:schemeClr val="accent2"/>
            </a:solidFill>
            <a:tailEnd type="triangle" w="med" len="med"/>
          </a:ln>
        </p:spPr>
      </p:cxnSp>
      <p:cxnSp>
        <p:nvCxnSpPr>
          <p:cNvPr id="57" name="Connector 56"/>
          <p:cNvCxnSpPr/>
          <p:nvPr/>
        </p:nvCxnSpPr>
        <p:spPr>
          <a:xfrm>
            <a:off x="2272284" y="4238244"/>
            <a:ext cx="630936" cy="0"/>
          </a:xfrm>
          <a:prstGeom prst="line">
            <a:avLst/>
          </a:prstGeom>
          <a:ln w="15875" cap="rnd">
            <a:solidFill>
              <a:schemeClr val="accent2"/>
            </a:solidFill>
          </a:ln>
        </p:spPr>
      </p:cxnSp>
      <p:cxnSp>
        <p:nvCxnSpPr>
          <p:cNvPr id="58" name="Connector 57"/>
          <p:cNvCxnSpPr/>
          <p:nvPr/>
        </p:nvCxnSpPr>
        <p:spPr>
          <a:xfrm flipV="1">
            <a:off x="2903220" y="2958084"/>
            <a:ext cx="0" cy="1280160"/>
          </a:xfrm>
          <a:prstGeom prst="line">
            <a:avLst/>
          </a:prstGeom>
          <a:ln w="15875" cap="rnd">
            <a:solidFill>
              <a:schemeClr val="accent2"/>
            </a:solidFill>
            <a:tailEnd type="triangle" w="med" len="med"/>
          </a:ln>
        </p:spPr>
      </p:cxnSp>
      <p:cxnSp>
        <p:nvCxnSpPr>
          <p:cNvPr id="59" name="Connector 58"/>
          <p:cNvCxnSpPr/>
          <p:nvPr/>
        </p:nvCxnSpPr>
        <p:spPr>
          <a:xfrm>
            <a:off x="3323844" y="2683764"/>
            <a:ext cx="210312" cy="0"/>
          </a:xfrm>
          <a:prstGeom prst="line">
            <a:avLst/>
          </a:prstGeom>
          <a:ln w="15875" cap="rnd">
            <a:solidFill>
              <a:schemeClr val="accent2"/>
            </a:solidFill>
            <a:tailEnd type="triangle" w="med" len="med"/>
          </a:ln>
        </p:spPr>
      </p:cxnSp>
      <p:cxnSp>
        <p:nvCxnSpPr>
          <p:cNvPr id="60" name="Connector 59"/>
          <p:cNvCxnSpPr/>
          <p:nvPr/>
        </p:nvCxnSpPr>
        <p:spPr>
          <a:xfrm flipV="1">
            <a:off x="3954780" y="2180844"/>
            <a:ext cx="0" cy="228600"/>
          </a:xfrm>
          <a:prstGeom prst="line">
            <a:avLst/>
          </a:prstGeom>
          <a:ln w="15875" cap="rnd">
            <a:solidFill>
              <a:schemeClr val="accent2"/>
            </a:solidFill>
            <a:prstDash val="dash"/>
            <a:tailEnd type="triangle" w="med" len="med"/>
          </a:ln>
        </p:spPr>
      </p:cxnSp>
      <p:cxnSp>
        <p:nvCxnSpPr>
          <p:cNvPr id="61" name="Connector 60"/>
          <p:cNvCxnSpPr/>
          <p:nvPr/>
        </p:nvCxnSpPr>
        <p:spPr>
          <a:xfrm>
            <a:off x="4375404" y="2683764"/>
            <a:ext cx="210312" cy="0"/>
          </a:xfrm>
          <a:prstGeom prst="line">
            <a:avLst/>
          </a:prstGeom>
          <a:ln w="15875" cap="rnd">
            <a:solidFill>
              <a:schemeClr val="accent2"/>
            </a:solidFill>
            <a:tailEnd type="triangle" w="med" len="med"/>
          </a:ln>
        </p:spPr>
      </p:cxnSp>
      <p:cxnSp>
        <p:nvCxnSpPr>
          <p:cNvPr id="62" name="Connector 61"/>
          <p:cNvCxnSpPr/>
          <p:nvPr/>
        </p:nvCxnSpPr>
        <p:spPr>
          <a:xfrm>
            <a:off x="5006340" y="2958084"/>
            <a:ext cx="0" cy="1005840"/>
          </a:xfrm>
          <a:prstGeom prst="line">
            <a:avLst/>
          </a:prstGeom>
          <a:ln w="15875" cap="rnd">
            <a:solidFill>
              <a:schemeClr val="accent2"/>
            </a:solidFill>
            <a:tailEnd type="triangle" w="med" len="med"/>
          </a:ln>
        </p:spPr>
      </p:cxnSp>
      <p:cxnSp>
        <p:nvCxnSpPr>
          <p:cNvPr id="63" name="Connector 62"/>
          <p:cNvCxnSpPr/>
          <p:nvPr/>
        </p:nvCxnSpPr>
        <p:spPr>
          <a:xfrm>
            <a:off x="5426964" y="2683764"/>
            <a:ext cx="429768" cy="0"/>
          </a:xfrm>
          <a:prstGeom prst="line">
            <a:avLst/>
          </a:prstGeom>
          <a:ln w="15875" cap="rnd">
            <a:solidFill>
              <a:schemeClr val="accent2"/>
            </a:solidFill>
          </a:ln>
        </p:spPr>
      </p:cxnSp>
      <p:cxnSp>
        <p:nvCxnSpPr>
          <p:cNvPr id="64" name="Connector 63"/>
          <p:cNvCxnSpPr/>
          <p:nvPr/>
        </p:nvCxnSpPr>
        <p:spPr>
          <a:xfrm>
            <a:off x="5856732" y="2683764"/>
            <a:ext cx="0" cy="502920"/>
          </a:xfrm>
          <a:prstGeom prst="line">
            <a:avLst/>
          </a:prstGeom>
          <a:ln w="15875" cap="rnd">
            <a:solidFill>
              <a:schemeClr val="accent2"/>
            </a:solidFill>
            <a:tailEnd type="triangle" w="med" len="med"/>
          </a:ln>
        </p:spPr>
      </p:cxnSp>
      <p:cxnSp>
        <p:nvCxnSpPr>
          <p:cNvPr id="65" name="Connector 64"/>
          <p:cNvCxnSpPr/>
          <p:nvPr/>
        </p:nvCxnSpPr>
        <p:spPr>
          <a:xfrm>
            <a:off x="6478524" y="3461004"/>
            <a:ext cx="210312" cy="0"/>
          </a:xfrm>
          <a:prstGeom prst="line">
            <a:avLst/>
          </a:prstGeom>
          <a:ln w="15875" cap="rnd">
            <a:solidFill>
              <a:schemeClr val="accent2"/>
            </a:solidFill>
            <a:tailEnd type="triangle" w="med" len="med"/>
          </a:ln>
        </p:spPr>
      </p:cxnSp>
      <p:cxnSp>
        <p:nvCxnSpPr>
          <p:cNvPr id="66" name="Connector 65"/>
          <p:cNvCxnSpPr/>
          <p:nvPr/>
        </p:nvCxnSpPr>
        <p:spPr>
          <a:xfrm flipV="1">
            <a:off x="7109460" y="2958084"/>
            <a:ext cx="0" cy="228600"/>
          </a:xfrm>
          <a:prstGeom prst="line">
            <a:avLst/>
          </a:prstGeom>
          <a:ln w="15875" cap="rnd">
            <a:solidFill>
              <a:schemeClr val="accent2"/>
            </a:solidFill>
            <a:tailEnd type="triangle" w="med" len="med"/>
          </a:ln>
        </p:spPr>
      </p:cxnSp>
      <p:cxnSp>
        <p:nvCxnSpPr>
          <p:cNvPr id="67" name="Connector 66"/>
          <p:cNvCxnSpPr/>
          <p:nvPr/>
        </p:nvCxnSpPr>
        <p:spPr>
          <a:xfrm>
            <a:off x="7109460" y="3735324"/>
            <a:ext cx="0" cy="228600"/>
          </a:xfrm>
          <a:prstGeom prst="line">
            <a:avLst/>
          </a:prstGeom>
          <a:ln w="15875" cap="rnd">
            <a:solidFill>
              <a:schemeClr val="accent2"/>
            </a:solidFill>
            <a:tailEnd type="triangle" w="med" len="med"/>
          </a:ln>
        </p:spPr>
      </p:cxnSp>
      <p:cxnSp>
        <p:nvCxnSpPr>
          <p:cNvPr id="68" name="Connector 67"/>
          <p:cNvCxnSpPr/>
          <p:nvPr/>
        </p:nvCxnSpPr>
        <p:spPr>
          <a:xfrm flipH="1">
            <a:off x="6259068" y="2683764"/>
            <a:ext cx="429768" cy="0"/>
          </a:xfrm>
          <a:prstGeom prst="line">
            <a:avLst/>
          </a:prstGeom>
          <a:ln w="15875" cap="rnd">
            <a:solidFill>
              <a:schemeClr val="accent2"/>
            </a:solidFill>
            <a:prstDash val="dash"/>
          </a:ln>
        </p:spPr>
      </p:cxnSp>
      <p:cxnSp>
        <p:nvCxnSpPr>
          <p:cNvPr id="69" name="Connector 68"/>
          <p:cNvCxnSpPr/>
          <p:nvPr/>
        </p:nvCxnSpPr>
        <p:spPr>
          <a:xfrm>
            <a:off x="6259068" y="2683764"/>
            <a:ext cx="0" cy="502920"/>
          </a:xfrm>
          <a:prstGeom prst="line">
            <a:avLst/>
          </a:prstGeom>
          <a:ln w="15875" cap="rnd">
            <a:solidFill>
              <a:schemeClr val="accent2"/>
            </a:solidFill>
            <a:prstDash val="dash"/>
            <a:tailEnd type="triangle" w="med" len="med"/>
          </a:ln>
        </p:spPr>
      </p:cxnSp>
      <p:cxnSp>
        <p:nvCxnSpPr>
          <p:cNvPr id="70" name="Connector 69"/>
          <p:cNvCxnSpPr/>
          <p:nvPr/>
        </p:nvCxnSpPr>
        <p:spPr>
          <a:xfrm>
            <a:off x="7530084" y="2683764"/>
            <a:ext cx="210312" cy="0"/>
          </a:xfrm>
          <a:prstGeom prst="line">
            <a:avLst/>
          </a:prstGeom>
          <a:ln w="15875" cap="rnd">
            <a:solidFill>
              <a:schemeClr val="accent2"/>
            </a:solidFill>
            <a:tailEnd type="triangle" w="med" len="med"/>
          </a:ln>
        </p:spPr>
      </p:cxnSp>
      <p:cxnSp>
        <p:nvCxnSpPr>
          <p:cNvPr id="71" name="Connector 70"/>
          <p:cNvCxnSpPr/>
          <p:nvPr/>
        </p:nvCxnSpPr>
        <p:spPr>
          <a:xfrm flipV="1">
            <a:off x="8161020" y="2180844"/>
            <a:ext cx="0" cy="228600"/>
          </a:xfrm>
          <a:prstGeom prst="line">
            <a:avLst/>
          </a:prstGeom>
          <a:ln w="15875" cap="rnd">
            <a:solidFill>
              <a:schemeClr val="accent2"/>
            </a:solidFill>
            <a:tailEnd type="triangle" w="med" len="med"/>
          </a:ln>
        </p:spPr>
      </p:cxnSp>
      <p:cxnSp>
        <p:nvCxnSpPr>
          <p:cNvPr id="72" name="Connector 71"/>
          <p:cNvCxnSpPr/>
          <p:nvPr/>
        </p:nvCxnSpPr>
        <p:spPr>
          <a:xfrm>
            <a:off x="8161020" y="2958084"/>
            <a:ext cx="0" cy="1005840"/>
          </a:xfrm>
          <a:prstGeom prst="line">
            <a:avLst/>
          </a:prstGeom>
          <a:ln w="15875" cap="rnd">
            <a:solidFill>
              <a:schemeClr val="accent2"/>
            </a:solidFill>
            <a:tailEnd type="triangle" w="med" len="med"/>
          </a:ln>
        </p:spPr>
      </p:cxnSp>
      <p:sp>
        <p:nvSpPr>
          <p:cNvPr id="73" name="Label No"/>
          <p:cNvSpPr txBox="1"/>
          <p:nvPr/>
        </p:nvSpPr>
        <p:spPr>
          <a:xfrm>
            <a:off x="4000500" y="2244852"/>
            <a:ext cx="228600" cy="128016"/>
          </a:xfrm>
          <a:prstGeom prst="rect">
            <a:avLst/>
          </a:prstGeom>
          <a:noFill/>
        </p:spPr>
        <p:txBody>
          <a:bodyPr wrap="square" lIns="0" rIns="0" tIns="0" bIns="0" anchor="t">
            <a:noAutofit/>
          </a:bodyPr>
          <a:lstStyle/>
          <a:p>
            <a:pPr algn="ctr"/>
            <a:r>
              <a:rPr sz="750" b="1" i="0">
                <a:solidFill>
                  <a:schemeClr val="tx2"/>
                </a:solidFill>
              </a:rPr>
              <a:t>No</a:t>
            </a:r>
          </a:p>
        </p:txBody>
      </p:sp>
      <p:sp>
        <p:nvSpPr>
          <p:cNvPr id="74" name="Label Yes"/>
          <p:cNvSpPr txBox="1"/>
          <p:nvPr/>
        </p:nvSpPr>
        <p:spPr>
          <a:xfrm>
            <a:off x="4357116" y="2510028"/>
            <a:ext cx="237744" cy="128016"/>
          </a:xfrm>
          <a:prstGeom prst="rect">
            <a:avLst/>
          </a:prstGeom>
          <a:noFill/>
        </p:spPr>
        <p:txBody>
          <a:bodyPr wrap="square" lIns="0" rIns="0" tIns="0" bIns="0" anchor="t">
            <a:noAutofit/>
          </a:bodyPr>
          <a:lstStyle/>
          <a:p>
            <a:pPr algn="ctr"/>
            <a:r>
              <a:rPr sz="750" b="1" i="0">
                <a:solidFill>
                  <a:schemeClr val="tx2"/>
                </a:solidFill>
              </a:rPr>
              <a:t>Yes</a:t>
            </a:r>
          </a:p>
        </p:txBody>
      </p:sp>
      <p:sp>
        <p:nvSpPr>
          <p:cNvPr id="75" name="Label No"/>
          <p:cNvSpPr txBox="1"/>
          <p:nvPr/>
        </p:nvSpPr>
        <p:spPr>
          <a:xfrm>
            <a:off x="6396228" y="2510028"/>
            <a:ext cx="228600" cy="128016"/>
          </a:xfrm>
          <a:prstGeom prst="rect">
            <a:avLst/>
          </a:prstGeom>
          <a:noFill/>
        </p:spPr>
        <p:txBody>
          <a:bodyPr wrap="square" lIns="0" rIns="0" tIns="0" bIns="0" anchor="t">
            <a:noAutofit/>
          </a:bodyPr>
          <a:lstStyle/>
          <a:p>
            <a:pPr algn="ctr"/>
            <a:r>
              <a:rPr sz="750" b="1" i="0">
                <a:solidFill>
                  <a:schemeClr val="tx2"/>
                </a:solidFill>
              </a:rPr>
              <a:t>No</a:t>
            </a:r>
          </a:p>
        </p:txBody>
      </p:sp>
      <p:sp>
        <p:nvSpPr>
          <p:cNvPr id="76" name="Label Yes"/>
          <p:cNvSpPr txBox="1"/>
          <p:nvPr/>
        </p:nvSpPr>
        <p:spPr>
          <a:xfrm>
            <a:off x="7511796" y="2510028"/>
            <a:ext cx="237744" cy="128016"/>
          </a:xfrm>
          <a:prstGeom prst="rect">
            <a:avLst/>
          </a:prstGeom>
          <a:noFill/>
        </p:spPr>
        <p:txBody>
          <a:bodyPr wrap="square" lIns="0" rIns="0" tIns="0" bIns="0" anchor="t">
            <a:noAutofit/>
          </a:bodyPr>
          <a:lstStyle/>
          <a:p>
            <a:pPr algn="ctr"/>
            <a:r>
              <a:rPr sz="750" b="1" i="0">
                <a:solidFill>
                  <a:schemeClr val="tx2"/>
                </a:solidFill>
              </a:rPr>
              <a:t>Yes</a:t>
            </a:r>
          </a:p>
        </p:txBody>
      </p:sp>
      <p:sp>
        <p:nvSpPr>
          <p:cNvPr id="77" name="Key Main step"/>
          <p:cNvSpPr/>
          <p:nvPr/>
        </p:nvSpPr>
        <p:spPr>
          <a:xfrm>
            <a:off x="457200" y="4709160"/>
            <a:ext cx="237744" cy="128016"/>
          </a:xfrm>
          <a:prstGeom prst="roundRect">
            <a:avLst>
              <a:gd name="adj" fmla="val 20000"/>
            </a:avLst>
          </a:prstGeom>
          <a:solidFill>
            <a:schemeClr val="bg1"/>
          </a:solidFill>
          <a:ln w="15875">
            <a:solidFill>
              <a:schemeClr val="accent1"/>
            </a:solidFill>
          </a:ln>
          <a:effectLst/>
        </p:spPr>
        <p:txBody>
          <a:bodyPr rtlCol="0" anchor="ctr"/>
          <a:lstStyle/>
          <a:p>
            <a:pPr algn="ctr"/>
          </a:p>
        </p:txBody>
      </p:sp>
      <p:sp>
        <p:nvSpPr>
          <p:cNvPr id="78" name="Key label Main step"/>
          <p:cNvSpPr txBox="1"/>
          <p:nvPr/>
        </p:nvSpPr>
        <p:spPr>
          <a:xfrm>
            <a:off x="758952" y="4690872"/>
            <a:ext cx="914400" cy="164592"/>
          </a:xfrm>
          <a:prstGeom prst="rect">
            <a:avLst/>
          </a:prstGeom>
          <a:noFill/>
        </p:spPr>
        <p:txBody>
          <a:bodyPr wrap="square" lIns="0" rIns="0" tIns="0" bIns="0" anchor="ctr">
            <a:noAutofit/>
          </a:bodyPr>
          <a:lstStyle/>
          <a:p>
            <a:r>
              <a:rPr sz="800" b="0" i="0">
                <a:solidFill>
                  <a:schemeClr val="accent2"/>
                </a:solidFill>
              </a:rPr>
              <a:t>Main step</a:t>
            </a:r>
          </a:p>
        </p:txBody>
      </p:sp>
      <p:sp>
        <p:nvSpPr>
          <p:cNvPr id="79" name="Key Decision"/>
          <p:cNvSpPr/>
          <p:nvPr/>
        </p:nvSpPr>
        <p:spPr>
          <a:xfrm>
            <a:off x="1764792" y="4709160"/>
            <a:ext cx="237744" cy="128016"/>
          </a:xfrm>
          <a:prstGeom prst="roundRect">
            <a:avLst>
              <a:gd name="adj" fmla="val 20000"/>
            </a:avLst>
          </a:prstGeom>
          <a:solidFill>
            <a:srgbClr val="ECEFEF"/>
          </a:solidFill>
          <a:ln w="12700">
            <a:solidFill>
              <a:schemeClr val="accent3"/>
            </a:solidFill>
          </a:ln>
          <a:effectLst/>
        </p:spPr>
        <p:txBody>
          <a:bodyPr rtlCol="0" anchor="ctr"/>
          <a:lstStyle/>
          <a:p>
            <a:pPr algn="ctr"/>
          </a:p>
        </p:txBody>
      </p:sp>
      <p:sp>
        <p:nvSpPr>
          <p:cNvPr id="80" name="Key label Decision"/>
          <p:cNvSpPr txBox="1"/>
          <p:nvPr/>
        </p:nvSpPr>
        <p:spPr>
          <a:xfrm>
            <a:off x="2066544" y="4690872"/>
            <a:ext cx="822960" cy="164592"/>
          </a:xfrm>
          <a:prstGeom prst="rect">
            <a:avLst/>
          </a:prstGeom>
          <a:noFill/>
        </p:spPr>
        <p:txBody>
          <a:bodyPr wrap="square" lIns="0" rIns="0" tIns="0" bIns="0" anchor="ctr">
            <a:noAutofit/>
          </a:bodyPr>
          <a:lstStyle/>
          <a:p>
            <a:r>
              <a:rPr sz="800" b="0" i="0">
                <a:solidFill>
                  <a:schemeClr val="accent2"/>
                </a:solidFill>
              </a:rPr>
              <a:t>Decision</a:t>
            </a:r>
          </a:p>
        </p:txBody>
      </p:sp>
      <p:sp>
        <p:nvSpPr>
          <p:cNvPr id="81" name="Key Automatic (TerraLink)"/>
          <p:cNvSpPr/>
          <p:nvPr/>
        </p:nvSpPr>
        <p:spPr>
          <a:xfrm>
            <a:off x="2980944" y="4709160"/>
            <a:ext cx="237744" cy="128016"/>
          </a:xfrm>
          <a:prstGeom prst="roundRect">
            <a:avLst>
              <a:gd name="adj" fmla="val 20000"/>
            </a:avLst>
          </a:prstGeom>
          <a:solidFill>
            <a:schemeClr val="bg2"/>
          </a:solidFill>
          <a:ln w="12700">
            <a:solidFill>
              <a:schemeClr val="accent3"/>
            </a:solidFill>
          </a:ln>
          <a:effectLst/>
        </p:spPr>
        <p:txBody>
          <a:bodyPr rtlCol="0" anchor="ctr"/>
          <a:lstStyle/>
          <a:p>
            <a:pPr algn="ctr"/>
          </a:p>
        </p:txBody>
      </p:sp>
      <p:sp>
        <p:nvSpPr>
          <p:cNvPr id="82" name="Key label Automatic (TerraLink)"/>
          <p:cNvSpPr txBox="1"/>
          <p:nvPr/>
        </p:nvSpPr>
        <p:spPr>
          <a:xfrm>
            <a:off x="3282696" y="4690872"/>
            <a:ext cx="1417320" cy="164592"/>
          </a:xfrm>
          <a:prstGeom prst="rect">
            <a:avLst/>
          </a:prstGeom>
          <a:noFill/>
        </p:spPr>
        <p:txBody>
          <a:bodyPr wrap="square" lIns="0" rIns="0" tIns="0" bIns="0" anchor="ctr">
            <a:noAutofit/>
          </a:bodyPr>
          <a:lstStyle/>
          <a:p>
            <a:r>
              <a:rPr sz="800" b="0" i="0">
                <a:solidFill>
                  <a:schemeClr val="accent2"/>
                </a:solidFill>
              </a:rPr>
              <a:t>Automatic (TerraLink)</a:t>
            </a:r>
          </a:p>
        </p:txBody>
      </p:sp>
      <p:sp>
        <p:nvSpPr>
          <p:cNvPr id="83" name="Key Side path or return"/>
          <p:cNvSpPr/>
          <p:nvPr/>
        </p:nvSpPr>
        <p:spPr>
          <a:xfrm>
            <a:off x="4791456" y="4709160"/>
            <a:ext cx="237744" cy="128016"/>
          </a:xfrm>
          <a:prstGeom prst="roundRect">
            <a:avLst>
              <a:gd name="adj" fmla="val 20000"/>
            </a:avLst>
          </a:prstGeom>
          <a:solidFill>
            <a:schemeClr val="bg1"/>
          </a:solidFill>
          <a:ln w="12700">
            <a:solidFill>
              <a:schemeClr val="accent3"/>
            </a:solidFill>
            <a:prstDash val="dash"/>
          </a:ln>
          <a:effectLst/>
        </p:spPr>
        <p:txBody>
          <a:bodyPr rtlCol="0" anchor="ctr"/>
          <a:lstStyle/>
          <a:p>
            <a:pPr algn="ctr"/>
          </a:p>
        </p:txBody>
      </p:sp>
      <p:sp>
        <p:nvSpPr>
          <p:cNvPr id="84" name="Key label Side path or return"/>
          <p:cNvSpPr txBox="1"/>
          <p:nvPr/>
        </p:nvSpPr>
        <p:spPr>
          <a:xfrm>
            <a:off x="5093208" y="4690872"/>
            <a:ext cx="1325880" cy="164592"/>
          </a:xfrm>
          <a:prstGeom prst="rect">
            <a:avLst/>
          </a:prstGeom>
          <a:noFill/>
        </p:spPr>
        <p:txBody>
          <a:bodyPr wrap="square" lIns="0" rIns="0" tIns="0" bIns="0" anchor="ctr">
            <a:noAutofit/>
          </a:bodyPr>
          <a:lstStyle/>
          <a:p>
            <a:r>
              <a:rPr sz="800" b="0" i="0">
                <a:solidFill>
                  <a:schemeClr val="accent2"/>
                </a:solidFill>
              </a:rPr>
              <a:t>Side path or return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Map, Review &amp; Tasks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See the change on real imagery, then turn it into accountable work.</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pic>
        <p:nvPicPr>
          <p:cNvPr id="26" name="Map &amp; Change Analysis screenshot" descr="Satellite comparison with the measured water mask"/>
          <p:cNvPicPr>
            <a:picLocks noChangeAspect="1"/>
          </p:cNvPicPr>
          <p:nvPr/>
        </p:nvPicPr>
        <p:blipFill>
          <a:blip r:embed="rId3"/>
          <a:stretch>
            <a:fillRect/>
          </a:stretch>
        </p:blipFill>
        <p:spPr>
          <a:xfrm>
            <a:off x="457200" y="1280160"/>
            <a:ext cx="3291840" cy="1554480"/>
          </a:xfrm>
          <a:prstGeom prst="rect">
            <a:avLst/>
          </a:prstGeom>
        </p:spPr>
      </p:pic>
      <p:sp>
        <p:nvSpPr>
          <p:cNvPr id="27" name="Map &amp; Change Analysis screenshot frame"/>
          <p:cNvSpPr/>
          <p:nvPr/>
        </p:nvSpPr>
        <p:spPr>
          <a:xfrm>
            <a:off x="457200" y="1280160"/>
            <a:ext cx="3291840" cy="1554480"/>
          </a:xfrm>
          <a:prstGeom prst="rect">
            <a:avLst/>
          </a:prstGeom>
          <a:noFill/>
          <a:ln w="9525">
            <a:solidFill>
              <a:schemeClr val="accent4"/>
            </a:solidFill>
          </a:ln>
        </p:spPr>
        <p:txBody>
          <a:bodyPr rtlCol="0" anchor="ctr"/>
          <a:lstStyle/>
          <a:p>
            <a:pPr algn="ctr"/>
          </a:p>
        </p:txBody>
      </p:sp>
      <p:pic>
        <p:nvPicPr>
          <p:cNvPr id="28" name="Map &amp; Change Analysis detail" descr="The wetland map with the five water bodies"/>
          <p:cNvPicPr>
            <a:picLocks noChangeAspect="1"/>
          </p:cNvPicPr>
          <p:nvPr/>
        </p:nvPicPr>
        <p:blipFill>
          <a:blip r:embed="rId4"/>
          <a:stretch>
            <a:fillRect/>
          </a:stretch>
        </p:blipFill>
        <p:spPr>
          <a:xfrm>
            <a:off x="2441448" y="2075688"/>
            <a:ext cx="1417320" cy="868680"/>
          </a:xfrm>
          <a:prstGeom prst="rect">
            <a:avLst/>
          </a:prstGeom>
          <a:ln w="28575">
            <a:solidFill>
              <a:srgbClr val="FFFFFF"/>
            </a:solidFill>
          </a:ln>
          <a:effectLst>
            <a:outerShdw blurRad="76200" dist="25400" dir="2700000" algn="tl" rotWithShape="0">
              <a:srgbClr val="1F2A2E">
                <a:alpha val="28000"/>
              </a:srgbClr>
            </a:outerShdw>
          </a:effectLst>
        </p:spPr>
      </p:pic>
      <p:sp>
        <p:nvSpPr>
          <p:cNvPr id="29" name="Map &amp; Change Analysis label"/>
          <p:cNvSpPr txBox="1"/>
          <p:nvPr/>
        </p:nvSpPr>
        <p:spPr>
          <a:xfrm>
            <a:off x="4114800" y="1280160"/>
            <a:ext cx="4572000" cy="146304"/>
          </a:xfrm>
          <a:prstGeom prst="rect">
            <a:avLst/>
          </a:prstGeom>
          <a:noFill/>
        </p:spPr>
        <p:txBody>
          <a:bodyPr wrap="square" lIns="0" rIns="0" tIns="0" bIns="0" anchor="t">
            <a:noAutofit/>
          </a:bodyPr>
          <a:lstStyle/>
          <a:p>
            <a:r>
              <a:rPr sz="800" b="1" i="0" spc="120">
                <a:solidFill>
                  <a:schemeClr val="tx2"/>
                </a:solidFill>
              </a:rPr>
              <a:t>FEATURE 1</a:t>
            </a:r>
          </a:p>
        </p:txBody>
      </p:sp>
      <p:sp>
        <p:nvSpPr>
          <p:cNvPr id="30" name="Map &amp; Change Analysis heading"/>
          <p:cNvSpPr txBox="1"/>
          <p:nvPr/>
        </p:nvSpPr>
        <p:spPr>
          <a:xfrm>
            <a:off x="4114800" y="1435608"/>
            <a:ext cx="4572000" cy="292608"/>
          </a:xfrm>
          <a:prstGeom prst="rect">
            <a:avLst/>
          </a:prstGeom>
          <a:noFill/>
        </p:spPr>
        <p:txBody>
          <a:bodyPr wrap="square" lIns="0" rIns="0" tIns="0" bIns="0" anchor="ctr">
            <a:noAutofit/>
          </a:bodyPr>
          <a:lstStyle/>
          <a:p>
            <a:r>
              <a:rPr sz="1500" b="1" i="0">
                <a:solidFill>
                  <a:schemeClr val="tx1"/>
                </a:solidFill>
              </a:rPr>
              <a:t>Map &amp; Change Analysis</a:t>
            </a:r>
          </a:p>
        </p:txBody>
      </p:sp>
      <p:sp>
        <p:nvSpPr>
          <p:cNvPr id="31" name="Map &amp; Change Analysis description"/>
          <p:cNvSpPr txBox="1"/>
          <p:nvPr/>
        </p:nvSpPr>
        <p:spPr>
          <a:xfrm>
            <a:off x="4114800" y="1792224"/>
            <a:ext cx="4572000" cy="365760"/>
          </a:xfrm>
          <a:prstGeom prst="rect">
            <a:avLst/>
          </a:prstGeom>
          <a:noFill/>
        </p:spPr>
        <p:txBody>
          <a:bodyPr wrap="square" lIns="0" rIns="0" tIns="0" bIns="0" anchor="t">
            <a:noAutofit/>
          </a:bodyPr>
          <a:lstStyle/>
          <a:p>
            <a:r>
              <a:rPr sz="1100" b="0" i="0">
                <a:solidFill>
                  <a:schemeClr val="accent2"/>
                </a:solidFill>
              </a:rPr>
              <a:t>See every site on one map and measure the change between two real images.</a:t>
            </a:r>
          </a:p>
        </p:txBody>
      </p:sp>
      <p:sp>
        <p:nvSpPr>
          <p:cNvPr id="32" name="Map &amp; Change Analysis points"/>
          <p:cNvSpPr txBox="1"/>
          <p:nvPr/>
        </p:nvSpPr>
        <p:spPr>
          <a:xfrm>
            <a:off x="4114800" y="2176272"/>
            <a:ext cx="4572000" cy="658368"/>
          </a:xfrm>
          <a:prstGeom prst="rect">
            <a:avLst/>
          </a:prstGeom>
          <a:noFill/>
        </p:spPr>
        <p:txBody>
          <a:bodyPr wrap="square" lIns="0" rIns="0" tIns="0" bIns="0" anchor="t">
            <a:noAutofit/>
          </a:bodyPr>
          <a:lstStyle/>
          <a:p>
            <a:pPr marL="127000" indent="-127000">
              <a:spcAft>
                <a:spcPts val="200"/>
              </a:spcAft>
              <a:buSzPct val="100000"/>
              <a:buChar char="•"/>
            </a:pPr>
            <a:r>
              <a:rPr sz="1000" b="0" i="0">
                <a:solidFill>
                  <a:schemeClr val="tx1"/>
                </a:solidFill>
              </a:rPr>
              <a:t>Real Sentinel-2 scenes, a water mask and the uncertainty stated</a:t>
            </a:r>
          </a:p>
          <a:p>
            <a:pPr marL="127000" indent="-127000">
              <a:spcAft>
                <a:spcPts val="200"/>
              </a:spcAft>
              <a:buSzPct val="100000"/>
              <a:buChar char="•"/>
            </a:pPr>
            <a:r>
              <a:rPr sz="1000" b="0" i="0">
                <a:solidFill>
                  <a:schemeClr val="tx1"/>
                </a:solidFill>
              </a:rPr>
              <a:t>Insufficient data when clouds block the view</a:t>
            </a:r>
          </a:p>
          <a:p>
            <a:pPr marL="127000" indent="-127000">
              <a:spcAft>
                <a:spcPts val="200"/>
              </a:spcAft>
              <a:buSzPct val="100000"/>
              <a:buChar char="•"/>
            </a:pPr>
            <a:r>
              <a:rPr sz="1000" b="0" i="0">
                <a:solidFill>
                  <a:schemeClr val="tx1"/>
                </a:solidFill>
              </a:rPr>
              <a:t>A drop in water is a signal to check, not proof</a:t>
            </a:r>
          </a:p>
        </p:txBody>
      </p:sp>
      <p:pic>
        <p:nvPicPr>
          <p:cNvPr id="33" name="Review &amp; Tasks screenshot" descr="Task board with each task in its stage"/>
          <p:cNvPicPr>
            <a:picLocks noChangeAspect="1"/>
          </p:cNvPicPr>
          <p:nvPr/>
        </p:nvPicPr>
        <p:blipFill>
          <a:blip r:embed="rId5"/>
          <a:stretch>
            <a:fillRect/>
          </a:stretch>
        </p:blipFill>
        <p:spPr>
          <a:xfrm>
            <a:off x="5394960" y="3063240"/>
            <a:ext cx="3291840" cy="1554480"/>
          </a:xfrm>
          <a:prstGeom prst="rect">
            <a:avLst/>
          </a:prstGeom>
        </p:spPr>
      </p:pic>
      <p:sp>
        <p:nvSpPr>
          <p:cNvPr id="34" name="Review &amp; Tasks screenshot frame"/>
          <p:cNvSpPr/>
          <p:nvPr/>
        </p:nvSpPr>
        <p:spPr>
          <a:xfrm>
            <a:off x="5394960" y="3063240"/>
            <a:ext cx="3291840" cy="1554480"/>
          </a:xfrm>
          <a:prstGeom prst="rect">
            <a:avLst/>
          </a:prstGeom>
          <a:noFill/>
          <a:ln w="9525">
            <a:solidFill>
              <a:schemeClr val="accent4"/>
            </a:solidFill>
          </a:ln>
        </p:spPr>
        <p:txBody>
          <a:bodyPr rtlCol="0" anchor="ctr"/>
          <a:lstStyle/>
          <a:p>
            <a:pPr algn="ctr"/>
          </a:p>
        </p:txBody>
      </p:sp>
      <p:pic>
        <p:nvPicPr>
          <p:cNvPr id="35" name="Review &amp; Tasks detail" descr="A task with its four stages, evidence and costs"/>
          <p:cNvPicPr>
            <a:picLocks noChangeAspect="1"/>
          </p:cNvPicPr>
          <p:nvPr/>
        </p:nvPicPr>
        <p:blipFill>
          <a:blip r:embed="rId6"/>
          <a:stretch>
            <a:fillRect/>
          </a:stretch>
        </p:blipFill>
        <p:spPr>
          <a:xfrm>
            <a:off x="5285232" y="3419856"/>
            <a:ext cx="914400" cy="1307592"/>
          </a:xfrm>
          <a:prstGeom prst="rect">
            <a:avLst/>
          </a:prstGeom>
          <a:ln w="28575">
            <a:solidFill>
              <a:srgbClr val="FFFFFF"/>
            </a:solidFill>
          </a:ln>
          <a:effectLst>
            <a:outerShdw blurRad="76200" dist="25400" dir="2700000" algn="tl" rotWithShape="0">
              <a:srgbClr val="1F2A2E">
                <a:alpha val="28000"/>
              </a:srgbClr>
            </a:outerShdw>
          </a:effectLst>
        </p:spPr>
      </p:pic>
      <p:sp>
        <p:nvSpPr>
          <p:cNvPr id="36" name="Review &amp; Tasks label"/>
          <p:cNvSpPr txBox="1"/>
          <p:nvPr/>
        </p:nvSpPr>
        <p:spPr>
          <a:xfrm>
            <a:off x="457200" y="3063240"/>
            <a:ext cx="4572000" cy="146304"/>
          </a:xfrm>
          <a:prstGeom prst="rect">
            <a:avLst/>
          </a:prstGeom>
          <a:noFill/>
        </p:spPr>
        <p:txBody>
          <a:bodyPr wrap="square" lIns="0" rIns="0" tIns="0" bIns="0" anchor="t">
            <a:noAutofit/>
          </a:bodyPr>
          <a:lstStyle/>
          <a:p>
            <a:r>
              <a:rPr sz="800" b="1" i="0" spc="120">
                <a:solidFill>
                  <a:schemeClr val="tx2"/>
                </a:solidFill>
              </a:rPr>
              <a:t>FEATURE 2</a:t>
            </a:r>
          </a:p>
        </p:txBody>
      </p:sp>
      <p:sp>
        <p:nvSpPr>
          <p:cNvPr id="37" name="Review &amp; Tasks heading"/>
          <p:cNvSpPr txBox="1"/>
          <p:nvPr/>
        </p:nvSpPr>
        <p:spPr>
          <a:xfrm>
            <a:off x="457200" y="3218688"/>
            <a:ext cx="4572000" cy="292608"/>
          </a:xfrm>
          <a:prstGeom prst="rect">
            <a:avLst/>
          </a:prstGeom>
          <a:noFill/>
        </p:spPr>
        <p:txBody>
          <a:bodyPr wrap="square" lIns="0" rIns="0" tIns="0" bIns="0" anchor="ctr">
            <a:noAutofit/>
          </a:bodyPr>
          <a:lstStyle/>
          <a:p>
            <a:r>
              <a:rPr sz="1500" b="1" i="0">
                <a:solidFill>
                  <a:schemeClr val="tx1"/>
                </a:solidFill>
              </a:rPr>
              <a:t>Review &amp; Tasks</a:t>
            </a:r>
          </a:p>
        </p:txBody>
      </p:sp>
      <p:sp>
        <p:nvSpPr>
          <p:cNvPr id="38" name="Review &amp; Tasks description"/>
          <p:cNvSpPr txBox="1"/>
          <p:nvPr/>
        </p:nvSpPr>
        <p:spPr>
          <a:xfrm>
            <a:off x="457200" y="3575304"/>
            <a:ext cx="4572000" cy="365760"/>
          </a:xfrm>
          <a:prstGeom prst="rect">
            <a:avLst/>
          </a:prstGeom>
          <a:noFill/>
        </p:spPr>
        <p:txBody>
          <a:bodyPr wrap="square" lIns="0" rIns="0" tIns="0" bIns="0" anchor="t">
            <a:noAutofit/>
          </a:bodyPr>
          <a:lstStyle/>
          <a:p>
            <a:r>
              <a:rPr sz="1100" b="0" i="0">
                <a:solidFill>
                  <a:schemeClr val="accent2"/>
                </a:solidFill>
              </a:rPr>
              <a:t>Turn a verified finding into accountable field work.</a:t>
            </a:r>
          </a:p>
        </p:txBody>
      </p:sp>
      <p:sp>
        <p:nvSpPr>
          <p:cNvPr id="39" name="Review &amp; Tasks points"/>
          <p:cNvSpPr txBox="1"/>
          <p:nvPr/>
        </p:nvSpPr>
        <p:spPr>
          <a:xfrm>
            <a:off x="457200" y="3959352"/>
            <a:ext cx="4572000" cy="658368"/>
          </a:xfrm>
          <a:prstGeom prst="rect">
            <a:avLst/>
          </a:prstGeom>
          <a:noFill/>
        </p:spPr>
        <p:txBody>
          <a:bodyPr wrap="square" lIns="0" rIns="0" tIns="0" bIns="0" anchor="t">
            <a:noAutofit/>
          </a:bodyPr>
          <a:lstStyle/>
          <a:p>
            <a:pPr marL="127000" indent="-127000">
              <a:spcAft>
                <a:spcPts val="200"/>
              </a:spcAft>
              <a:buSzPct val="100000"/>
              <a:buChar char="•"/>
            </a:pPr>
            <a:r>
              <a:rPr sz="1000" b="0" i="0">
                <a:solidFill>
                  <a:schemeClr val="tx1"/>
                </a:solidFill>
              </a:rPr>
              <a:t>Verify photo reports and satellite findings; AI marks the waste</a:t>
            </a:r>
          </a:p>
          <a:p>
            <a:pPr marL="127000" indent="-127000">
              <a:spcAft>
                <a:spcPts val="200"/>
              </a:spcAft>
              <a:buSzPct val="100000"/>
              <a:buChar char="•"/>
            </a:pPr>
            <a:r>
              <a:rPr sz="1000" b="0" i="0">
                <a:solidFill>
                  <a:schemeClr val="tx1"/>
                </a:solidFill>
              </a:rPr>
              <a:t>Assign a field coordinator, deadline and budget</a:t>
            </a:r>
          </a:p>
          <a:p>
            <a:pPr marL="127000" indent="-127000">
              <a:spcAft>
                <a:spcPts val="200"/>
              </a:spcAft>
              <a:buSzPct val="100000"/>
              <a:buChar char="•"/>
            </a:pPr>
            <a:r>
              <a:rPr sz="1000" b="0" i="0">
                <a:solidFill>
                  <a:schemeClr val="tx1"/>
                </a:solidFill>
              </a:rPr>
              <a:t>AI checks the after-photos before the manager approves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Reports, Meetings &amp; Costs</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Reports and events reach the right people without leaving the page where the work happens.</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pic>
        <p:nvPicPr>
          <p:cNvPr id="26" name="Send report dialog" descr="Send report dialog listing people, each with a Send button"/>
          <p:cNvPicPr>
            <a:picLocks noChangeAspect="1"/>
          </p:cNvPicPr>
          <p:nvPr/>
        </p:nvPicPr>
        <p:blipFill>
          <a:blip r:embed="rId3"/>
          <a:stretch>
            <a:fillRect/>
          </a:stretch>
        </p:blipFill>
        <p:spPr>
          <a:xfrm>
            <a:off x="457200" y="1280160"/>
            <a:ext cx="2377440" cy="2432914"/>
          </a:xfrm>
          <a:prstGeom prst="rect">
            <a:avLst/>
          </a:prstGeom>
        </p:spPr>
      </p:pic>
      <p:sp>
        <p:nvSpPr>
          <p:cNvPr id="27" name="Send report dialog frame"/>
          <p:cNvSpPr/>
          <p:nvPr/>
        </p:nvSpPr>
        <p:spPr>
          <a:xfrm>
            <a:off x="457200" y="1280160"/>
            <a:ext cx="2377440" cy="2432914"/>
          </a:xfrm>
          <a:prstGeom prst="rect">
            <a:avLst/>
          </a:prstGeom>
          <a:noFill/>
          <a:ln w="9525">
            <a:solidFill>
              <a:schemeClr val="accent4"/>
            </a:solidFill>
          </a:ln>
        </p:spPr>
        <p:txBody>
          <a:bodyPr rtlCol="0" anchor="ctr"/>
          <a:lstStyle/>
          <a:p>
            <a:pPr algn="ctr"/>
          </a:p>
        </p:txBody>
      </p:sp>
      <p:sp>
        <p:nvSpPr>
          <p:cNvPr id="28" name="Dialog caption"/>
          <p:cNvSpPr txBox="1"/>
          <p:nvPr/>
        </p:nvSpPr>
        <p:spPr>
          <a:xfrm>
            <a:off x="457200" y="3804514"/>
            <a:ext cx="2377440" cy="457200"/>
          </a:xfrm>
          <a:prstGeom prst="rect">
            <a:avLst/>
          </a:prstGeom>
          <a:noFill/>
        </p:spPr>
        <p:txBody>
          <a:bodyPr wrap="square" lIns="0" rIns="0" tIns="0" bIns="0" anchor="t">
            <a:noAutofit/>
          </a:bodyPr>
          <a:lstStyle/>
          <a:p>
            <a:r>
              <a:rPr sz="950" b="0" i="0">
                <a:solidFill>
                  <a:schemeClr val="accent2"/>
                </a:solidFill>
              </a:rPr>
              <a:t>One Send button per person. A tick shows who already has the report.</a:t>
            </a:r>
          </a:p>
        </p:txBody>
      </p:sp>
      <p:sp>
        <p:nvSpPr>
          <p:cNvPr id="29" name="Reports label"/>
          <p:cNvSpPr txBox="1"/>
          <p:nvPr/>
        </p:nvSpPr>
        <p:spPr>
          <a:xfrm>
            <a:off x="3017520" y="1280160"/>
            <a:ext cx="1783080" cy="146304"/>
          </a:xfrm>
          <a:prstGeom prst="rect">
            <a:avLst/>
          </a:prstGeom>
          <a:noFill/>
        </p:spPr>
        <p:txBody>
          <a:bodyPr wrap="square" lIns="0" rIns="0" tIns="0" bIns="0" anchor="t">
            <a:noAutofit/>
          </a:bodyPr>
          <a:lstStyle/>
          <a:p>
            <a:r>
              <a:rPr sz="800" b="1" i="0" spc="120">
                <a:solidFill>
                  <a:schemeClr val="tx2"/>
                </a:solidFill>
              </a:rPr>
              <a:t>FEATURE 3</a:t>
            </a:r>
          </a:p>
        </p:txBody>
      </p:sp>
      <p:sp>
        <p:nvSpPr>
          <p:cNvPr id="30" name="Reports heading"/>
          <p:cNvSpPr txBox="1"/>
          <p:nvPr/>
        </p:nvSpPr>
        <p:spPr>
          <a:xfrm>
            <a:off x="3017520" y="1435608"/>
            <a:ext cx="1783080" cy="292608"/>
          </a:xfrm>
          <a:prstGeom prst="rect">
            <a:avLst/>
          </a:prstGeom>
          <a:noFill/>
        </p:spPr>
        <p:txBody>
          <a:bodyPr wrap="square" lIns="0" rIns="0" tIns="0" bIns="0" anchor="ctr">
            <a:noAutofit/>
          </a:bodyPr>
          <a:lstStyle/>
          <a:p>
            <a:r>
              <a:rPr sz="1150" b="1" i="0">
                <a:solidFill>
                  <a:schemeClr val="tx1"/>
                </a:solidFill>
              </a:rPr>
              <a:t>Reports</a:t>
            </a:r>
          </a:p>
        </p:txBody>
      </p:sp>
      <p:sp>
        <p:nvSpPr>
          <p:cNvPr id="31" name="Reports description"/>
          <p:cNvSpPr txBox="1"/>
          <p:nvPr/>
        </p:nvSpPr>
        <p:spPr>
          <a:xfrm>
            <a:off x="3017520" y="1764792"/>
            <a:ext cx="1783080" cy="566928"/>
          </a:xfrm>
          <a:prstGeom prst="rect">
            <a:avLst/>
          </a:prstGeom>
          <a:noFill/>
        </p:spPr>
        <p:txBody>
          <a:bodyPr wrap="square" lIns="0" rIns="0" tIns="0" bIns="0" anchor="t">
            <a:noAutofit/>
          </a:bodyPr>
          <a:lstStyle/>
          <a:p>
            <a:r>
              <a:rPr sz="950" b="0" i="0">
                <a:solidFill>
                  <a:schemeClr val="accent2"/>
                </a:solidFill>
              </a:rPr>
              <a:t>Download a PDF, or Send: each person gets a subject, a summary table and the PDF attached.</a:t>
            </a:r>
          </a:p>
        </p:txBody>
      </p:sp>
      <p:sp>
        <p:nvSpPr>
          <p:cNvPr id="32" name="Reports points"/>
          <p:cNvSpPr txBox="1"/>
          <p:nvPr/>
        </p:nvSpPr>
        <p:spPr>
          <a:xfrm>
            <a:off x="3017520" y="2395728"/>
            <a:ext cx="1783080" cy="640080"/>
          </a:xfrm>
          <a:prstGeom prst="rect">
            <a:avLst/>
          </a:prstGeom>
          <a:noFill/>
        </p:spPr>
        <p:txBody>
          <a:bodyPr wrap="square" lIns="0" rIns="0" tIns="0" bIns="0" anchor="t">
            <a:noAutofit/>
          </a:bodyPr>
          <a:lstStyle/>
          <a:p>
            <a:pPr marL="127000" indent="-127000">
              <a:spcAft>
                <a:spcPts val="150"/>
              </a:spcAft>
              <a:buSzPct val="100000"/>
              <a:buChar char="•"/>
            </a:pPr>
            <a:r>
              <a:rPr sz="950" b="0" i="0">
                <a:solidFill>
                  <a:schemeClr val="tx1"/>
                </a:solidFill>
              </a:rPr>
              <a:t>Images, decisions and costs</a:t>
            </a:r>
          </a:p>
          <a:p>
            <a:pPr marL="127000" indent="-127000">
              <a:spcAft>
                <a:spcPts val="150"/>
              </a:spcAft>
              <a:buSzPct val="100000"/>
              <a:buChar char="•"/>
            </a:pPr>
            <a:r>
              <a:rPr sz="950" b="0" i="0">
                <a:solidFill>
                  <a:schemeClr val="tx1"/>
                </a:solidFill>
              </a:rPr>
              <a:t>Sources and limits included</a:t>
            </a:r>
          </a:p>
          <a:p>
            <a:pPr marL="127000" indent="-127000">
              <a:spcAft>
                <a:spcPts val="150"/>
              </a:spcAft>
              <a:buSzPct val="100000"/>
              <a:buChar char="•"/>
            </a:pPr>
            <a:r>
              <a:rPr sz="950" b="0" i="0">
                <a:solidFill>
                  <a:schemeClr val="tx1"/>
                </a:solidFill>
              </a:rPr>
              <a:t>PDF download or email</a:t>
            </a:r>
          </a:p>
        </p:txBody>
      </p:sp>
      <p:sp>
        <p:nvSpPr>
          <p:cNvPr id="33" name="Schedule &amp; Notifications label"/>
          <p:cNvSpPr txBox="1"/>
          <p:nvPr/>
        </p:nvSpPr>
        <p:spPr>
          <a:xfrm>
            <a:off x="4960620" y="1280160"/>
            <a:ext cx="1783080" cy="146304"/>
          </a:xfrm>
          <a:prstGeom prst="rect">
            <a:avLst/>
          </a:prstGeom>
          <a:noFill/>
        </p:spPr>
        <p:txBody>
          <a:bodyPr wrap="square" lIns="0" rIns="0" tIns="0" bIns="0" anchor="t">
            <a:noAutofit/>
          </a:bodyPr>
          <a:lstStyle/>
          <a:p>
            <a:r>
              <a:rPr sz="800" b="1" i="0" spc="120">
                <a:solidFill>
                  <a:schemeClr val="tx2"/>
                </a:solidFill>
              </a:rPr>
              <a:t>FEATURE 4</a:t>
            </a:r>
          </a:p>
        </p:txBody>
      </p:sp>
      <p:sp>
        <p:nvSpPr>
          <p:cNvPr id="34" name="Schedule &amp; Notifications heading"/>
          <p:cNvSpPr txBox="1"/>
          <p:nvPr/>
        </p:nvSpPr>
        <p:spPr>
          <a:xfrm>
            <a:off x="4960620" y="1435608"/>
            <a:ext cx="1783080" cy="292608"/>
          </a:xfrm>
          <a:prstGeom prst="rect">
            <a:avLst/>
          </a:prstGeom>
          <a:noFill/>
        </p:spPr>
        <p:txBody>
          <a:bodyPr wrap="square" lIns="0" rIns="0" tIns="0" bIns="0" anchor="ctr">
            <a:noAutofit/>
          </a:bodyPr>
          <a:lstStyle/>
          <a:p>
            <a:r>
              <a:rPr sz="1150" b="1" i="0">
                <a:solidFill>
                  <a:schemeClr val="tx1"/>
                </a:solidFill>
              </a:rPr>
              <a:t>Meetings &amp; Updates</a:t>
            </a:r>
          </a:p>
        </p:txBody>
      </p:sp>
      <p:sp>
        <p:nvSpPr>
          <p:cNvPr id="35" name="Schedule &amp; Notifications description"/>
          <p:cNvSpPr txBox="1"/>
          <p:nvPr/>
        </p:nvSpPr>
        <p:spPr>
          <a:xfrm>
            <a:off x="4960620" y="1764792"/>
            <a:ext cx="1783080" cy="566928"/>
          </a:xfrm>
          <a:prstGeom prst="rect">
            <a:avLst/>
          </a:prstGeom>
          <a:noFill/>
        </p:spPr>
        <p:txBody>
          <a:bodyPr wrap="square" lIns="0" rIns="0" tIns="0" bIns="0" anchor="t">
            <a:noAutofit/>
          </a:bodyPr>
          <a:lstStyle/>
          <a:p>
            <a:r>
              <a:rPr sz="950" b="0" i="0">
                <a:solidFill>
                  <a:schemeClr val="accent2"/>
                </a:solidFill>
              </a:rPr>
              <a:t>Create a Google Meet for any task or lake. It goes into every guest’s calendar.</a:t>
            </a:r>
          </a:p>
        </p:txBody>
      </p:sp>
      <p:sp>
        <p:nvSpPr>
          <p:cNvPr id="36" name="Schedule &amp; Notifications points"/>
          <p:cNvSpPr txBox="1"/>
          <p:nvPr/>
        </p:nvSpPr>
        <p:spPr>
          <a:xfrm>
            <a:off x="4960620" y="2395728"/>
            <a:ext cx="1783080" cy="640080"/>
          </a:xfrm>
          <a:prstGeom prst="rect">
            <a:avLst/>
          </a:prstGeom>
          <a:noFill/>
        </p:spPr>
        <p:txBody>
          <a:bodyPr wrap="square" lIns="0" rIns="0" tIns="0" bIns="0" anchor="t">
            <a:noAutofit/>
          </a:bodyPr>
          <a:lstStyle/>
          <a:p>
            <a:pPr marL="127000" indent="-127000">
              <a:spcAft>
                <a:spcPts val="150"/>
              </a:spcAft>
              <a:buSzPct val="100000"/>
              <a:buChar char="•"/>
            </a:pPr>
            <a:r>
              <a:rPr sz="950" b="0" i="0">
                <a:solidFill>
                  <a:schemeClr val="tx1"/>
                </a:solidFill>
              </a:rPr>
              <a:t>Meet link from your account</a:t>
            </a:r>
          </a:p>
          <a:p>
            <a:pPr marL="127000" indent="-127000">
              <a:spcAft>
                <a:spcPts val="150"/>
              </a:spcAft>
              <a:buSzPct val="100000"/>
              <a:buChar char="•"/>
            </a:pPr>
            <a:r>
              <a:rPr sz="950" b="0" i="0">
                <a:solidFill>
                  <a:schemeClr val="tx1"/>
                </a:solidFill>
              </a:rPr>
              <a:t>Saved in each guest’s calendar</a:t>
            </a:r>
          </a:p>
          <a:p>
            <a:pPr marL="127000" indent="-127000">
              <a:spcAft>
                <a:spcPts val="150"/>
              </a:spcAft>
              <a:buSzPct val="100000"/>
              <a:buChar char="•"/>
            </a:pPr>
            <a:r>
              <a:rPr sz="950" b="0" i="0">
                <a:solidFill>
                  <a:schemeClr val="tx1"/>
                </a:solidFill>
              </a:rPr>
              <a:t>Discord thread for each lake</a:t>
            </a:r>
          </a:p>
        </p:txBody>
      </p:sp>
      <p:sp>
        <p:nvSpPr>
          <p:cNvPr id="37" name="Team &amp; Costs label"/>
          <p:cNvSpPr txBox="1"/>
          <p:nvPr/>
        </p:nvSpPr>
        <p:spPr>
          <a:xfrm>
            <a:off x="6903720" y="1280160"/>
            <a:ext cx="1783080" cy="146304"/>
          </a:xfrm>
          <a:prstGeom prst="rect">
            <a:avLst/>
          </a:prstGeom>
          <a:noFill/>
        </p:spPr>
        <p:txBody>
          <a:bodyPr wrap="square" lIns="0" rIns="0" tIns="0" bIns="0" anchor="t">
            <a:noAutofit/>
          </a:bodyPr>
          <a:lstStyle/>
          <a:p>
            <a:r>
              <a:rPr sz="800" b="1" i="0" spc="120">
                <a:solidFill>
                  <a:schemeClr val="tx2"/>
                </a:solidFill>
              </a:rPr>
              <a:t>FEATURE 5</a:t>
            </a:r>
          </a:p>
        </p:txBody>
      </p:sp>
      <p:sp>
        <p:nvSpPr>
          <p:cNvPr id="38" name="Team &amp; Costs heading"/>
          <p:cNvSpPr txBox="1"/>
          <p:nvPr/>
        </p:nvSpPr>
        <p:spPr>
          <a:xfrm>
            <a:off x="6903720" y="1435608"/>
            <a:ext cx="1783080" cy="292608"/>
          </a:xfrm>
          <a:prstGeom prst="rect">
            <a:avLst/>
          </a:prstGeom>
          <a:noFill/>
        </p:spPr>
        <p:txBody>
          <a:bodyPr wrap="square" lIns="0" rIns="0" tIns="0" bIns="0" anchor="ctr">
            <a:noAutofit/>
          </a:bodyPr>
          <a:lstStyle/>
          <a:p>
            <a:r>
              <a:rPr sz="1150" b="1" i="0">
                <a:solidFill>
                  <a:schemeClr val="tx1"/>
                </a:solidFill>
              </a:rPr>
              <a:t>Budgets &amp; Costs</a:t>
            </a:r>
          </a:p>
        </p:txBody>
      </p:sp>
      <p:sp>
        <p:nvSpPr>
          <p:cNvPr id="39" name="Team &amp; Costs description"/>
          <p:cNvSpPr txBox="1"/>
          <p:nvPr/>
        </p:nvSpPr>
        <p:spPr>
          <a:xfrm>
            <a:off x="6903720" y="1764792"/>
            <a:ext cx="1783080" cy="566928"/>
          </a:xfrm>
          <a:prstGeom prst="rect">
            <a:avLst/>
          </a:prstGeom>
          <a:noFill/>
        </p:spPr>
        <p:txBody>
          <a:bodyPr wrap="square" lIns="0" rIns="0" tIns="0" bIns="0" anchor="t">
            <a:noAutofit/>
          </a:bodyPr>
          <a:lstStyle/>
          <a:p>
            <a:r>
              <a:rPr sz="950" b="0" i="0">
                <a:solidFill>
                  <a:schemeClr val="accent2"/>
                </a:solidFill>
              </a:rPr>
              <a:t>Each task has a budget. Spending within it is accepted; more needs approval.</a:t>
            </a:r>
          </a:p>
        </p:txBody>
      </p:sp>
      <p:sp>
        <p:nvSpPr>
          <p:cNvPr id="40" name="Team &amp; Costs points"/>
          <p:cNvSpPr txBox="1"/>
          <p:nvPr/>
        </p:nvSpPr>
        <p:spPr>
          <a:xfrm>
            <a:off x="6903720" y="2395728"/>
            <a:ext cx="1783080" cy="640080"/>
          </a:xfrm>
          <a:prstGeom prst="rect">
            <a:avLst/>
          </a:prstGeom>
          <a:noFill/>
        </p:spPr>
        <p:txBody>
          <a:bodyPr wrap="square" lIns="0" rIns="0" tIns="0" bIns="0" anchor="t">
            <a:noAutofit/>
          </a:bodyPr>
          <a:lstStyle/>
          <a:p>
            <a:pPr marL="127000" indent="-127000">
              <a:spcAft>
                <a:spcPts val="150"/>
              </a:spcAft>
              <a:buSzPct val="100000"/>
              <a:buChar char="•"/>
            </a:pPr>
            <a:r>
              <a:rPr sz="950" b="0" i="0">
                <a:solidFill>
                  <a:schemeClr val="tx1"/>
                </a:solidFill>
              </a:rPr>
              <a:t>Budget, spent and variance</a:t>
            </a:r>
          </a:p>
          <a:p>
            <a:pPr marL="127000" indent="-127000">
              <a:spcAft>
                <a:spcPts val="150"/>
              </a:spcAft>
              <a:buSzPct val="100000"/>
              <a:buChar char="•"/>
            </a:pPr>
            <a:r>
              <a:rPr sz="950" b="0" i="0">
                <a:solidFill>
                  <a:schemeClr val="tx1"/>
                </a:solidFill>
              </a:rPr>
              <a:t>Extra budget needs approval</a:t>
            </a:r>
          </a:p>
          <a:p>
            <a:pPr marL="127000" indent="-127000">
              <a:spcAft>
                <a:spcPts val="150"/>
              </a:spcAft>
              <a:buSzPct val="100000"/>
              <a:buChar char="•"/>
            </a:pPr>
            <a:r>
              <a:rPr sz="950" b="0" i="0">
                <a:solidFill>
                  <a:schemeClr val="tx1"/>
                </a:solidFill>
              </a:rPr>
              <a:t>Over-budget email warning</a:t>
            </a:r>
          </a:p>
        </p:txBody>
      </p:sp>
      <p:pic>
        <p:nvPicPr>
          <p:cNvPr id="41" name="PDF report page" descr="The report PDF"/>
          <p:cNvPicPr>
            <a:picLocks noChangeAspect="1"/>
          </p:cNvPicPr>
          <p:nvPr/>
        </p:nvPicPr>
        <p:blipFill>
          <a:blip r:embed="rId4"/>
          <a:stretch>
            <a:fillRect/>
          </a:stretch>
        </p:blipFill>
        <p:spPr>
          <a:xfrm>
            <a:off x="3017520" y="3291840"/>
            <a:ext cx="2697480" cy="1234440"/>
          </a:xfrm>
          <a:prstGeom prst="rect">
            <a:avLst/>
          </a:prstGeom>
        </p:spPr>
      </p:pic>
      <p:sp>
        <p:nvSpPr>
          <p:cNvPr id="42" name="PDF report page frame"/>
          <p:cNvSpPr/>
          <p:nvPr/>
        </p:nvSpPr>
        <p:spPr>
          <a:xfrm>
            <a:off x="3017520" y="3291840"/>
            <a:ext cx="2697480" cy="1234440"/>
          </a:xfrm>
          <a:prstGeom prst="rect">
            <a:avLst/>
          </a:prstGeom>
          <a:noFill/>
          <a:ln w="9525">
            <a:solidFill>
              <a:schemeClr val="accent4"/>
            </a:solidFill>
          </a:ln>
        </p:spPr>
        <p:txBody>
          <a:bodyPr rtlCol="0" anchor="ctr"/>
          <a:lstStyle/>
          <a:p>
            <a:pPr algn="ctr"/>
          </a:p>
        </p:txBody>
      </p:sp>
      <p:sp>
        <p:nvSpPr>
          <p:cNvPr id="43" name="PDF caption"/>
          <p:cNvSpPr txBox="1"/>
          <p:nvPr/>
        </p:nvSpPr>
        <p:spPr>
          <a:xfrm>
            <a:off x="3017520" y="4590288"/>
            <a:ext cx="2697480" cy="201168"/>
          </a:xfrm>
          <a:prstGeom prst="rect">
            <a:avLst/>
          </a:prstGeom>
          <a:noFill/>
        </p:spPr>
        <p:txBody>
          <a:bodyPr wrap="square" lIns="0" rIns="0" tIns="0" bIns="0" anchor="t">
            <a:noAutofit/>
          </a:bodyPr>
          <a:lstStyle/>
          <a:p>
            <a:r>
              <a:rPr sz="950" b="0" i="0">
                <a:solidFill>
                  <a:schemeClr val="accent2"/>
                </a:solidFill>
              </a:rPr>
              <a:t>The PDF the person downloads</a:t>
            </a:r>
          </a:p>
        </p:txBody>
      </p:sp>
      <p:pic>
        <p:nvPicPr>
          <p:cNvPr id="44" name="Budgets page" descr="The budgets page: planned against actual cost per water body"/>
          <p:cNvPicPr>
            <a:picLocks noChangeAspect="1"/>
          </p:cNvPicPr>
          <p:nvPr/>
        </p:nvPicPr>
        <p:blipFill>
          <a:blip r:embed="rId5"/>
          <a:stretch>
            <a:fillRect/>
          </a:stretch>
        </p:blipFill>
        <p:spPr>
          <a:xfrm>
            <a:off x="5989320" y="3291840"/>
            <a:ext cx="2697480" cy="1234440"/>
          </a:xfrm>
          <a:prstGeom prst="rect">
            <a:avLst/>
          </a:prstGeom>
        </p:spPr>
      </p:pic>
      <p:sp>
        <p:nvSpPr>
          <p:cNvPr id="45" name="Budgets page frame"/>
          <p:cNvSpPr/>
          <p:nvPr/>
        </p:nvSpPr>
        <p:spPr>
          <a:xfrm>
            <a:off x="5989320" y="3291840"/>
            <a:ext cx="2697480" cy="1234440"/>
          </a:xfrm>
          <a:prstGeom prst="rect">
            <a:avLst/>
          </a:prstGeom>
          <a:noFill/>
          <a:ln w="9525">
            <a:solidFill>
              <a:schemeClr val="accent4"/>
            </a:solidFill>
          </a:ln>
        </p:spPr>
        <p:txBody>
          <a:bodyPr rtlCol="0" anchor="ctr"/>
          <a:lstStyle/>
          <a:p>
            <a:pPr algn="ctr"/>
          </a:p>
        </p:txBody>
      </p:sp>
      <p:sp>
        <p:nvSpPr>
          <p:cNvPr id="46" name="Budget caption"/>
          <p:cNvSpPr txBox="1"/>
          <p:nvPr/>
        </p:nvSpPr>
        <p:spPr>
          <a:xfrm>
            <a:off x="5989320" y="4590288"/>
            <a:ext cx="2697480" cy="201168"/>
          </a:xfrm>
          <a:prstGeom prst="rect">
            <a:avLst/>
          </a:prstGeom>
          <a:noFill/>
        </p:spPr>
        <p:txBody>
          <a:bodyPr wrap="square" lIns="0" rIns="0" tIns="0" bIns="0" anchor="t">
            <a:noAutofit/>
          </a:bodyPr>
          <a:lstStyle/>
          <a:p>
            <a:r>
              <a:rPr sz="950" b="0" i="0">
                <a:solidFill>
                  <a:schemeClr val="accent2"/>
                </a:solidFill>
              </a:rPr>
              <a:t>Budgets: planned against actual cost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Key Features: AI Copilot &amp; Discord</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Ask a question and get an answer from live data. A Discord bot shares every lake update.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6</a:t>
            </a:fld>
            <a:endParaRPr lang="en-US"/>
          </a:p>
        </p:txBody>
      </p:sp>
      <p:sp>
        <p:nvSpPr>
          <p:cNvPr id="26" name="Data 1"/>
          <p:cNvSpPr/>
          <p:nvPr/>
        </p:nvSpPr>
        <p:spPr>
          <a:xfrm>
            <a:off x="457200" y="160020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Site and satellite records</a:t>
            </a:r>
          </a:p>
        </p:txBody>
      </p:sp>
      <p:sp>
        <p:nvSpPr>
          <p:cNvPr id="27" name="Data 2"/>
          <p:cNvSpPr/>
          <p:nvPr/>
        </p:nvSpPr>
        <p:spPr>
          <a:xfrm>
            <a:off x="457200" y="187452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Community reports</a:t>
            </a:r>
          </a:p>
        </p:txBody>
      </p:sp>
      <p:sp>
        <p:nvSpPr>
          <p:cNvPr id="28" name="Data 3"/>
          <p:cNvSpPr/>
          <p:nvPr/>
        </p:nvSpPr>
        <p:spPr>
          <a:xfrm>
            <a:off x="457200" y="214884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Tasks and costs</a:t>
            </a:r>
          </a:p>
        </p:txBody>
      </p:sp>
      <p:sp>
        <p:nvSpPr>
          <p:cNvPr id="29" name="Data 4"/>
          <p:cNvSpPr/>
          <p:nvPr/>
        </p:nvSpPr>
        <p:spPr>
          <a:xfrm>
            <a:off x="457200" y="2423160"/>
            <a:ext cx="1463040" cy="228600"/>
          </a:xfrm>
          <a:prstGeom prst="roundRect">
            <a:avLst>
              <a:gd name="adj" fmla="val 12000"/>
            </a:avLst>
          </a:prstGeom>
          <a:solidFill>
            <a:schemeClr val="bg2"/>
          </a:solidFill>
          <a:ln w="12700">
            <a:solidFill>
              <a:schemeClr val="accent3"/>
            </a:solidFill>
          </a:ln>
          <a:effectLst/>
        </p:spPr>
        <p:txBody>
          <a:bodyPr rtlCol="0" anchor="ctr" wrap="square" lIns="36576" rIns="36576" tIns="18288" bIns="18288"/>
          <a:lstStyle/>
          <a:p>
            <a:pPr algn="ctr"/>
            <a:r>
              <a:rPr sz="850" b="1" i="0">
                <a:solidFill>
                  <a:schemeClr val="tx1"/>
                </a:solidFill>
              </a:rPr>
              <a:t>Field notes and photos</a:t>
            </a:r>
          </a:p>
        </p:txBody>
      </p:sp>
      <p:sp>
        <p:nvSpPr>
          <p:cNvPr id="30" name="Assistant"/>
          <p:cNvSpPr/>
          <p:nvPr/>
        </p:nvSpPr>
        <p:spPr>
          <a:xfrm>
            <a:off x="2331720" y="1801368"/>
            <a:ext cx="1280160" cy="749808"/>
          </a:xfrm>
          <a:prstGeom prst="roundRect">
            <a:avLst>
              <a:gd name="adj" fmla="val 10000"/>
            </a:avLst>
          </a:prstGeom>
          <a:solidFill>
            <a:schemeClr val="accent1"/>
          </a:solidFill>
          <a:ln>
            <a:noFill/>
          </a:ln>
          <a:effectLst/>
        </p:spPr>
        <p:txBody>
          <a:bodyPr rtlCol="0" anchor="ctr" wrap="square" lIns="45720" rIns="45720"/>
          <a:lstStyle/>
          <a:p>
            <a:pPr algn="ctr"/>
            <a:r>
              <a:rPr sz="1000" b="1" i="0">
                <a:solidFill>
                  <a:schemeClr val="bg1"/>
                </a:solidFill>
              </a:rPr>
              <a:t>TerraLink Copilot</a:t>
            </a:r>
          </a:p>
          <a:p>
            <a:pPr algn="ctr"/>
            <a:r>
              <a:rPr sz="850" b="0" i="0">
                <a:solidFill>
                  <a:schemeClr val="bg1"/>
                </a:solidFill>
              </a:rPr>
              <a:t>with role-based access</a:t>
            </a:r>
          </a:p>
        </p:txBody>
      </p:sp>
      <p:sp>
        <p:nvSpPr>
          <p:cNvPr id="31" name="Answer"/>
          <p:cNvSpPr/>
          <p:nvPr/>
        </p:nvSpPr>
        <p:spPr>
          <a:xfrm>
            <a:off x="4023360" y="1801368"/>
            <a:ext cx="1188720" cy="749808"/>
          </a:xfrm>
          <a:prstGeom prst="roundRect">
            <a:avLst>
              <a:gd name="adj" fmla="val 12000"/>
            </a:avLst>
          </a:prstGeom>
          <a:solidFill>
            <a:schemeClr val="bg1"/>
          </a:solidFill>
          <a:ln w="19050">
            <a:solidFill>
              <a:schemeClr val="accent1"/>
            </a:solidFill>
          </a:ln>
          <a:effectLst/>
        </p:spPr>
        <p:txBody>
          <a:bodyPr rtlCol="0" anchor="ctr" wrap="square" lIns="36576" rIns="36576" tIns="18288" bIns="18288"/>
          <a:lstStyle/>
          <a:p>
            <a:pPr algn="ctr"/>
            <a:r>
              <a:rPr sz="850" b="1" i="0">
                <a:solidFill>
                  <a:schemeClr val="tx1"/>
                </a:solidFill>
              </a:rPr>
              <a:t>Answer with photos</a:t>
            </a:r>
          </a:p>
          <a:p>
            <a:pPr algn="ctr"/>
            <a:r>
              <a:rPr sz="750" b="0" i="0">
                <a:solidFill>
                  <a:schemeClr val="accent2"/>
                </a:solidFill>
              </a:rPr>
              <a:t>with its source record</a:t>
            </a:r>
          </a:p>
        </p:txBody>
      </p:sp>
      <p:sp>
        <p:nvSpPr>
          <p:cNvPr id="32" name="Asker"/>
          <p:cNvSpPr txBox="1"/>
          <p:nvPr/>
        </p:nvSpPr>
        <p:spPr>
          <a:xfrm>
            <a:off x="2148840" y="1472184"/>
            <a:ext cx="1645920" cy="182880"/>
          </a:xfrm>
          <a:prstGeom prst="rect">
            <a:avLst/>
          </a:prstGeom>
          <a:noFill/>
        </p:spPr>
        <p:txBody>
          <a:bodyPr wrap="square" lIns="0" rIns="0" tIns="0" bIns="0" anchor="t">
            <a:noAutofit/>
          </a:bodyPr>
          <a:lstStyle/>
          <a:p>
            <a:pPr algn="ctr"/>
            <a:r>
              <a:rPr sz="850" b="1" i="0">
                <a:solidFill>
                  <a:schemeClr val="tx2"/>
                </a:solidFill>
              </a:rPr>
              <a:t>A team member asks a question</a:t>
            </a:r>
          </a:p>
        </p:txBody>
      </p:sp>
      <p:cxnSp>
        <p:nvCxnSpPr>
          <p:cNvPr id="33" name="Connector 32"/>
          <p:cNvCxnSpPr/>
          <p:nvPr/>
        </p:nvCxnSpPr>
        <p:spPr>
          <a:xfrm>
            <a:off x="2971800" y="1664208"/>
            <a:ext cx="0" cy="137160"/>
          </a:xfrm>
          <a:prstGeom prst="line">
            <a:avLst/>
          </a:prstGeom>
          <a:ln w="15875" cap="rnd">
            <a:solidFill>
              <a:schemeClr val="accent2"/>
            </a:solidFill>
            <a:tailEnd type="triangle" w="med" len="med"/>
          </a:ln>
        </p:spPr>
      </p:cxnSp>
      <p:cxnSp>
        <p:nvCxnSpPr>
          <p:cNvPr id="34" name="Connector 33"/>
          <p:cNvCxnSpPr/>
          <p:nvPr/>
        </p:nvCxnSpPr>
        <p:spPr>
          <a:xfrm>
            <a:off x="1920240" y="2176272"/>
            <a:ext cx="411480" cy="0"/>
          </a:xfrm>
          <a:prstGeom prst="line">
            <a:avLst/>
          </a:prstGeom>
          <a:ln w="15875" cap="rnd">
            <a:solidFill>
              <a:schemeClr val="accent2"/>
            </a:solidFill>
            <a:tailEnd type="triangle" w="med" len="med"/>
          </a:ln>
        </p:spPr>
      </p:cxnSp>
      <p:cxnSp>
        <p:nvCxnSpPr>
          <p:cNvPr id="35" name="Connector 34"/>
          <p:cNvCxnSpPr/>
          <p:nvPr/>
        </p:nvCxnSpPr>
        <p:spPr>
          <a:xfrm>
            <a:off x="3611880" y="2176272"/>
            <a:ext cx="411480" cy="0"/>
          </a:xfrm>
          <a:prstGeom prst="line">
            <a:avLst/>
          </a:prstGeom>
          <a:ln w="15875" cap="rnd">
            <a:solidFill>
              <a:schemeClr val="accent2"/>
            </a:solidFill>
            <a:tailEnd type="triangle" w="med" len="med"/>
          </a:ln>
        </p:spPr>
      </p:cxnSp>
      <p:sp>
        <p:nvSpPr>
          <p:cNvPr id="36" name="Today heading"/>
          <p:cNvSpPr txBox="1"/>
          <p:nvPr/>
        </p:nvSpPr>
        <p:spPr>
          <a:xfrm>
            <a:off x="457200" y="2834640"/>
            <a:ext cx="2377440" cy="274320"/>
          </a:xfrm>
          <a:prstGeom prst="rect">
            <a:avLst/>
          </a:prstGeom>
          <a:noFill/>
        </p:spPr>
        <p:txBody>
          <a:bodyPr wrap="square" lIns="0" rIns="0" tIns="0" bIns="0" anchor="ctr">
            <a:noAutofit/>
          </a:bodyPr>
          <a:lstStyle/>
          <a:p>
            <a:r>
              <a:rPr sz="1200" b="1" i="0">
                <a:solidFill>
                  <a:schemeClr val="tx1"/>
                </a:solidFill>
              </a:rPr>
              <a:t>Copilot keeps data private</a:t>
            </a:r>
          </a:p>
        </p:txBody>
      </p:sp>
      <p:sp>
        <p:nvSpPr>
          <p:cNvPr id="37" name="Today points"/>
          <p:cNvSpPr txBox="1"/>
          <p:nvPr/>
        </p:nvSpPr>
        <p:spPr>
          <a:xfrm>
            <a:off x="457200" y="3127248"/>
            <a:ext cx="2377440" cy="1280160"/>
          </a:xfrm>
          <a:prstGeom prst="rect">
            <a:avLst/>
          </a:prstGeom>
          <a:noFill/>
        </p:spPr>
        <p:txBody>
          <a:bodyPr wrap="square" lIns="0" rIns="0" tIns="0" bIns="0" anchor="t">
            <a:noAutofit/>
          </a:bodyPr>
          <a:lstStyle/>
          <a:p>
            <a:pPr marL="127000" indent="-127000">
              <a:spcAft>
                <a:spcPts val="300"/>
              </a:spcAft>
              <a:buSzPct val="100000"/>
              <a:buChar char="•"/>
            </a:pPr>
            <a:r>
              <a:rPr sz="1000" b="0" i="0">
                <a:solidFill>
                  <a:schemeClr val="tx1"/>
                </a:solidFill>
              </a:rPr>
              <a:t>Ask in English, Bangla or Banglish</a:t>
            </a:r>
          </a:p>
          <a:p>
            <a:pPr marL="127000" indent="-127000">
              <a:spcAft>
                <a:spcPts val="300"/>
              </a:spcAft>
              <a:buSzPct val="100000"/>
              <a:buChar char="•"/>
            </a:pPr>
            <a:r>
              <a:rPr sz="1000" b="0" i="0">
                <a:solidFill>
                  <a:schemeClr val="tx1"/>
                </a:solidFill>
              </a:rPr>
              <a:t>The manager sees everything</a:t>
            </a:r>
          </a:p>
          <a:p>
            <a:pPr marL="127000" indent="-127000">
              <a:spcAft>
                <a:spcPts val="300"/>
              </a:spcAft>
              <a:buSzPct val="100000"/>
              <a:buChar char="•"/>
            </a:pPr>
            <a:r>
              <a:rPr sz="1000" b="0" i="0">
                <a:solidFill>
                  <a:schemeClr val="tx1"/>
                </a:solidFill>
              </a:rPr>
              <a:t>Coordinators see only their own work</a:t>
            </a:r>
          </a:p>
        </p:txBody>
      </p:sp>
      <p:sp>
        <p:nvSpPr>
          <p:cNvPr id="38" name="Next heading"/>
          <p:cNvSpPr txBox="1"/>
          <p:nvPr/>
        </p:nvSpPr>
        <p:spPr>
          <a:xfrm>
            <a:off x="3017520" y="2834640"/>
            <a:ext cx="2377440" cy="274320"/>
          </a:xfrm>
          <a:prstGeom prst="rect">
            <a:avLst/>
          </a:prstGeom>
          <a:noFill/>
        </p:spPr>
        <p:txBody>
          <a:bodyPr wrap="square" lIns="0" rIns="0" tIns="0" bIns="0" anchor="ctr">
            <a:noAutofit/>
          </a:bodyPr>
          <a:lstStyle/>
          <a:p>
            <a:r>
              <a:rPr sz="1200" b="1" i="0">
                <a:solidFill>
                  <a:schemeClr val="tx1"/>
                </a:solidFill>
              </a:rPr>
              <a:t>Discord bot</a:t>
            </a:r>
          </a:p>
        </p:txBody>
      </p:sp>
      <p:sp>
        <p:nvSpPr>
          <p:cNvPr id="39" name="Next points"/>
          <p:cNvSpPr txBox="1"/>
          <p:nvPr/>
        </p:nvSpPr>
        <p:spPr>
          <a:xfrm>
            <a:off x="3017520" y="3127248"/>
            <a:ext cx="2286000" cy="1554480"/>
          </a:xfrm>
          <a:prstGeom prst="rect">
            <a:avLst/>
          </a:prstGeom>
          <a:noFill/>
        </p:spPr>
        <p:txBody>
          <a:bodyPr wrap="square" lIns="0" rIns="0" tIns="0" bIns="0" anchor="t">
            <a:noAutofit/>
          </a:bodyPr>
          <a:lstStyle/>
          <a:p>
            <a:pPr marL="127000" indent="-127000">
              <a:spcAft>
                <a:spcPts val="300"/>
              </a:spcAft>
              <a:buSzPct val="100000"/>
              <a:buChar char="•"/>
            </a:pPr>
            <a:r>
              <a:rPr sz="1000" b="0" i="0">
                <a:solidFill>
                  <a:schemeClr val="tx1"/>
                </a:solidFill>
              </a:rPr>
              <a:t>One thread for each lake</a:t>
            </a:r>
          </a:p>
          <a:p>
            <a:pPr marL="127000" indent="-127000">
              <a:spcAft>
                <a:spcPts val="300"/>
              </a:spcAft>
              <a:buSzPct val="100000"/>
              <a:buChar char="•"/>
            </a:pPr>
            <a:r>
              <a:rPr sz="1000" b="0" i="0">
                <a:solidFill>
                  <a:schemeClr val="tx1"/>
                </a:solidFill>
              </a:rPr>
              <a:t>Posts every status change</a:t>
            </a:r>
          </a:p>
          <a:p>
            <a:pPr marL="127000" indent="-127000">
              <a:spcAft>
                <a:spcPts val="300"/>
              </a:spcAft>
              <a:buSzPct val="100000"/>
              <a:buChar char="•"/>
            </a:pPr>
            <a:r>
              <a:rPr sz="1000" b="0" i="0">
                <a:solidFill>
                  <a:schemeClr val="tx1"/>
                </a:solidFill>
              </a:rPr>
              <a:t>Type /status to see the latest</a:t>
            </a:r>
          </a:p>
        </p:txBody>
      </p:sp>
      <p:pic>
        <p:nvPicPr>
          <p:cNvPr id="40" name="Bangla assistant screenshot" descr="Bangla assistant answering a question about reports to verify"/>
          <p:cNvPicPr>
            <a:picLocks noChangeAspect="1"/>
          </p:cNvPicPr>
          <p:nvPr/>
        </p:nvPicPr>
        <p:blipFill>
          <a:blip r:embed="rId2"/>
          <a:stretch>
            <a:fillRect/>
          </a:stretch>
        </p:blipFill>
        <p:spPr>
          <a:xfrm>
            <a:off x="5486400" y="1325880"/>
            <a:ext cx="3200400" cy="1920240"/>
          </a:xfrm>
          <a:prstGeom prst="rect">
            <a:avLst/>
          </a:prstGeom>
        </p:spPr>
      </p:pic>
      <p:sp>
        <p:nvSpPr>
          <p:cNvPr id="41" name="Bangla assistant screenshot frame"/>
          <p:cNvSpPr/>
          <p:nvPr/>
        </p:nvSpPr>
        <p:spPr>
          <a:xfrm>
            <a:off x="5486400" y="1325880"/>
            <a:ext cx="3200400" cy="1920240"/>
          </a:xfrm>
          <a:prstGeom prst="rect">
            <a:avLst/>
          </a:prstGeom>
          <a:noFill/>
          <a:ln w="9525">
            <a:solidFill>
              <a:schemeClr val="accent4"/>
            </a:solidFill>
          </a:ln>
        </p:spPr>
        <p:txBody>
          <a:bodyPr rtlCol="0" anchor="ctr"/>
          <a:lstStyle/>
          <a:p>
            <a:pPr algn="ctr"/>
          </a:p>
        </p:txBody>
      </p:sp>
      <p:sp>
        <p:nvSpPr>
          <p:cNvPr id="42" name="Screenshot caption"/>
          <p:cNvSpPr txBox="1"/>
          <p:nvPr/>
        </p:nvSpPr>
        <p:spPr>
          <a:xfrm>
            <a:off x="5486400" y="3310128"/>
            <a:ext cx="3200400" cy="365760"/>
          </a:xfrm>
          <a:prstGeom prst="rect">
            <a:avLst/>
          </a:prstGeom>
          <a:noFill/>
        </p:spPr>
        <p:txBody>
          <a:bodyPr wrap="square" lIns="0" rIns="0" tIns="0" bIns="0" anchor="t">
            <a:noAutofit/>
          </a:bodyPr>
          <a:lstStyle/>
          <a:p>
            <a:r>
              <a:rPr sz="950" b="0" i="0">
                <a:solidFill>
                  <a:schemeClr val="accent2"/>
                </a:solidFill>
              </a:rPr>
              <a:t>Live prototype: Copilot answers from current records and names its source.</a:t>
            </a:r>
          </a:p>
        </p:txBody>
      </p:sp>
      <p:sp>
        <p:nvSpPr>
          <p:cNvPr id="43" name="Goal"/>
          <p:cNvSpPr/>
          <p:nvPr/>
        </p:nvSpPr>
        <p:spPr>
          <a:xfrm>
            <a:off x="5486400" y="3840480"/>
            <a:ext cx="3200400" cy="640080"/>
          </a:xfrm>
          <a:prstGeom prst="roundRect">
            <a:avLst>
              <a:gd name="adj" fmla="val 8000"/>
            </a:avLst>
          </a:prstGeom>
          <a:solidFill>
            <a:schemeClr val="bg2"/>
          </a:solidFill>
          <a:ln>
            <a:noFill/>
          </a:ln>
          <a:effectLst/>
        </p:spPr>
        <p:txBody>
          <a:bodyPr rtlCol="0" anchor="ctr" wrap="square" lIns="109728" rIns="109728"/>
          <a:lstStyle/>
          <a:p>
            <a:pPr algn="l"/>
            <a:r>
              <a:rPr sz="1050" b="1" i="0">
                <a:solidFill>
                  <a:schemeClr val="tx2"/>
                </a:solidFill>
              </a:rPr>
              <a:t>The goal: quick answers for everyone, and private data only for the manager.</a:t>
            </a:r>
          </a:p>
        </p:txBody>
      </p:sp>
      <p:sp>
        <p:nvSpPr>
          <p:cNvPr id="44" name="Feature label"/>
          <p:cNvSpPr txBox="1"/>
          <p:nvPr/>
        </p:nvSpPr>
        <p:spPr>
          <a:xfrm>
            <a:off x="457200" y="1261872"/>
            <a:ext cx="2743200" cy="146304"/>
          </a:xfrm>
          <a:prstGeom prst="rect">
            <a:avLst/>
          </a:prstGeom>
          <a:noFill/>
        </p:spPr>
        <p:txBody>
          <a:bodyPr wrap="square" lIns="0" rIns="0" tIns="0" bIns="0" anchor="t">
            <a:noAutofit/>
          </a:bodyPr>
          <a:lstStyle/>
          <a:p>
            <a:r>
              <a:rPr sz="800" b="1" i="0" spc="120">
                <a:solidFill>
                  <a:schemeClr val="tx2"/>
                </a:solidFill>
              </a:rPr>
              <a:t>FEATURES 6 &amp;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2800" b="1" dirty="0">
                <a:solidFill>
                  <a:schemeClr val="tx2"/>
                </a:solidFill>
              </a:rPr>
              <a:t>Expected Impact &amp; Vision</a:t>
            </a:r>
            <a:endParaRPr lang="en-US" sz="2800" dirty="0"/>
          </a:p>
        </p:txBody>
      </p:sp>
      <p:sp>
        <p:nvSpPr>
          <p:cNvPr id="3" name="Text 0"/>
          <p:cNvSpPr/>
          <p:nvPr>
            <p:ph idx="101" type="body" hasCustomPrompt="1"/>
          </p:nvPr>
        </p:nvSpPr>
        <p:spPr>
          <a:xfrm>
            <a:off x="457200" y="841248"/>
            <a:ext cx="8229600" cy="365760"/>
          </a:xfrm>
          <a:prstGeom prst="rect">
            <a:avLst/>
          </a:prstGeom>
          <a:noFill/>
          <a:ln/>
        </p:spPr>
        <p:txBody>
          <a:bodyPr wrap="square" lIns="0" tIns="0" rIns="0" bIns="0" rtlCol="0" anchor="t"/>
          <a:lstStyle/>
          <a:p>
            <a:pPr algn="l" indent="0" marL="0">
              <a:buNone/>
            </a:pPr>
            <a:r>
              <a:rPr lang="en-US" sz="1300" dirty="0">
                <a:solidFill>
                  <a:schemeClr val="accent2"/>
                </a:solidFill>
              </a:rPr>
              <a:t>Built for small NGO teams that protect wetlands. Local communities are the ones who benefit.</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2"/>
                </a:solidFill>
              </a:defRPr>
            </a:lvl1pPr>
          </a:lstStyle>
          <a:p>
            <a:pPr algn="r"/>
            <a:fld id="{F7021451-1387-4CA6-816F-3879F97B5CBC}" type="slidenum">
              <a:rPr b="0" lang="en-US"/>
              <a:t>2</a:t>
            </a:fld>
            <a:endParaRPr lang="en-US"/>
          </a:p>
        </p:txBody>
      </p:sp>
      <p:sp>
        <p:nvSpPr>
          <p:cNvPr id="26" name="Impact label"/>
          <p:cNvSpPr txBox="1"/>
          <p:nvPr/>
        </p:nvSpPr>
        <p:spPr>
          <a:xfrm>
            <a:off x="457200" y="1280160"/>
            <a:ext cx="4572000" cy="146304"/>
          </a:xfrm>
          <a:prstGeom prst="rect">
            <a:avLst/>
          </a:prstGeom>
          <a:noFill/>
        </p:spPr>
        <p:txBody>
          <a:bodyPr wrap="square" lIns="0" rIns="0" tIns="0" bIns="0" anchor="t">
            <a:noAutofit/>
          </a:bodyPr>
          <a:lstStyle/>
          <a:p>
            <a:r>
              <a:rPr sz="800" b="1" i="0" spc="120">
                <a:solidFill>
                  <a:schemeClr val="tx2"/>
                </a:solidFill>
              </a:rPr>
              <a:t>EXPECTED IMPACT</a:t>
            </a:r>
          </a:p>
        </p:txBody>
      </p:sp>
      <p:sp>
        <p:nvSpPr>
          <p:cNvPr id="27" name="Help heading"/>
          <p:cNvSpPr txBox="1"/>
          <p:nvPr/>
        </p:nvSpPr>
        <p:spPr>
          <a:xfrm>
            <a:off x="457200" y="1435608"/>
            <a:ext cx="4572000" cy="310896"/>
          </a:xfrm>
          <a:prstGeom prst="rect">
            <a:avLst/>
          </a:prstGeom>
          <a:noFill/>
        </p:spPr>
        <p:txBody>
          <a:bodyPr wrap="square" lIns="0" rIns="0" tIns="0" bIns="0" anchor="ctr">
            <a:noAutofit/>
          </a:bodyPr>
          <a:lstStyle/>
          <a:p>
            <a:r>
              <a:rPr sz="1600" b="1" i="0">
                <a:solidFill>
                  <a:schemeClr val="tx1"/>
                </a:solidFill>
              </a:rPr>
              <a:t>How will TerraLink help?</a:t>
            </a:r>
          </a:p>
        </p:txBody>
      </p:sp>
      <p:sp>
        <p:nvSpPr>
          <p:cNvPr id="28" name="Help description"/>
          <p:cNvSpPr txBox="1"/>
          <p:nvPr/>
        </p:nvSpPr>
        <p:spPr>
          <a:xfrm>
            <a:off x="457200" y="1792224"/>
            <a:ext cx="4114800" cy="411480"/>
          </a:xfrm>
          <a:prstGeom prst="rect">
            <a:avLst/>
          </a:prstGeom>
          <a:noFill/>
        </p:spPr>
        <p:txBody>
          <a:bodyPr wrap="square" lIns="0" rIns="0" tIns="0" bIns="0" anchor="t">
            <a:noAutofit/>
          </a:bodyPr>
          <a:lstStyle/>
          <a:p>
            <a:r>
              <a:rPr sz="1200" b="0" i="0">
                <a:solidFill>
                  <a:schemeClr val="accent2"/>
                </a:solidFill>
              </a:rPr>
              <a:t>One shared record connects residents’ reports, satellite evidence, field work and expenses.</a:t>
            </a:r>
          </a:p>
        </p:txBody>
      </p:sp>
      <p:sp>
        <p:nvSpPr>
          <p:cNvPr id="29" name="Help points"/>
          <p:cNvSpPr txBox="1"/>
          <p:nvPr/>
        </p:nvSpPr>
        <p:spPr>
          <a:xfrm>
            <a:off x="457200" y="2286000"/>
            <a:ext cx="4572000" cy="1005840"/>
          </a:xfrm>
          <a:prstGeom prst="rect">
            <a:avLst/>
          </a:prstGeom>
          <a:noFill/>
        </p:spPr>
        <p:txBody>
          <a:bodyPr wrap="square" lIns="0" rIns="0" tIns="0" bIns="0" anchor="t">
            <a:noAutofit/>
          </a:bodyPr>
          <a:lstStyle/>
          <a:p>
            <a:pPr marL="127000" indent="-127000">
              <a:spcAft>
                <a:spcPts val="450"/>
              </a:spcAft>
              <a:buSzPct val="100000"/>
              <a:buChar char="•"/>
            </a:pPr>
            <a:r>
              <a:rPr sz="1200" b="0" i="0">
                <a:solidFill>
                  <a:schemeClr val="tx1"/>
                </a:solidFill>
              </a:rPr>
              <a:t>Managers see findings and pending work in one place.</a:t>
            </a:r>
          </a:p>
          <a:p>
            <a:pPr marL="127000" indent="-127000">
              <a:spcAft>
                <a:spcPts val="450"/>
              </a:spcAft>
              <a:buSzPct val="100000"/>
              <a:buChar char="•"/>
            </a:pPr>
            <a:r>
              <a:rPr sz="1200" b="0" i="0">
                <a:solidFill>
                  <a:schemeClr val="tx1"/>
                </a:solidFill>
              </a:rPr>
              <a:t>Report and upload problems with a photo, and follow the result.</a:t>
            </a:r>
          </a:p>
          <a:p>
            <a:pPr marL="127000" indent="-127000">
              <a:spcAft>
                <a:spcPts val="450"/>
              </a:spcAft>
              <a:buSzPct val="100000"/>
              <a:buChar char="•"/>
            </a:pPr>
            <a:r>
              <a:rPr sz="1200" b="0" i="0">
                <a:solidFill>
                  <a:schemeClr val="tx1"/>
                </a:solidFill>
              </a:rPr>
              <a:t>Responsibilities, deadlines and expenses are easy to track.</a:t>
            </a:r>
          </a:p>
          <a:p>
            <a:pPr marL="127000" indent="-127000">
              <a:spcAft>
                <a:spcPts val="450"/>
              </a:spcAft>
              <a:buSzPct val="100000"/>
              <a:buChar char="•"/>
            </a:pPr>
            <a:r>
              <a:rPr sz="1200" b="0" i="0">
                <a:solidFill>
                  <a:schemeClr val="tx1"/>
                </a:solidFill>
              </a:rPr>
              <a:t>Reports go out by email as a PDF.</a:t>
            </a:r>
          </a:p>
        </p:txBody>
      </p:sp>
      <p:sp>
        <p:nvSpPr>
          <p:cNvPr id="30" name="Impact note"/>
          <p:cNvSpPr txBox="1"/>
          <p:nvPr/>
        </p:nvSpPr>
        <p:spPr>
          <a:xfrm>
            <a:off x="457200" y="3401568"/>
            <a:ext cx="4572000" cy="201168"/>
          </a:xfrm>
          <a:prstGeom prst="rect">
            <a:avLst/>
          </a:prstGeom>
          <a:noFill/>
        </p:spPr>
        <p:txBody>
          <a:bodyPr wrap="square" lIns="0" rIns="0" tIns="0" bIns="0" anchor="t">
            <a:noAutofit/>
          </a:bodyPr>
          <a:lstStyle/>
          <a:p>
            <a:r>
              <a:rPr sz="900" b="0" i="1">
                <a:solidFill>
                  <a:schemeClr val="accent2"/>
                </a:solidFill>
              </a:rPr>
              <a:t>Actual impact will be evaluated through user feedback and project results.</a:t>
            </a:r>
          </a:p>
        </p:txBody>
      </p:sp>
      <p:sp>
        <p:nvSpPr>
          <p:cNvPr id="31" name="First step and vision card"/>
          <p:cNvSpPr/>
          <p:nvPr/>
        </p:nvSpPr>
        <p:spPr>
          <a:xfrm>
            <a:off x="457200" y="3657600"/>
            <a:ext cx="4572000" cy="1051560"/>
          </a:xfrm>
          <a:prstGeom prst="roundRect">
            <a:avLst>
              <a:gd name="adj" fmla="val 7000"/>
            </a:avLst>
          </a:prstGeom>
          <a:solidFill>
            <a:schemeClr val="bg2"/>
          </a:solidFill>
          <a:ln>
            <a:noFill/>
          </a:ln>
          <a:effectLst/>
        </p:spPr>
        <p:txBody>
          <a:bodyPr rtlCol="0" anchor="ctr"/>
          <a:lstStyle/>
          <a:p>
            <a:pPr algn="ctr"/>
          </a:p>
        </p:txBody>
      </p:sp>
      <p:cxnSp>
        <p:nvCxnSpPr>
          <p:cNvPr id="32" name="Card divider"/>
          <p:cNvCxnSpPr/>
          <p:nvPr/>
        </p:nvCxnSpPr>
        <p:spPr>
          <a:xfrm>
            <a:off x="2697480" y="3776472"/>
            <a:ext cx="0" cy="813816"/>
          </a:xfrm>
          <a:prstGeom prst="line">
            <a:avLst/>
          </a:prstGeom>
          <a:ln w="9525">
            <a:solidFill>
              <a:schemeClr val="accent4"/>
            </a:solidFill>
          </a:ln>
        </p:spPr>
      </p:cxnSp>
      <p:sp>
        <p:nvSpPr>
          <p:cNvPr id="33" name="A focused first step heading"/>
          <p:cNvSpPr txBox="1"/>
          <p:nvPr/>
        </p:nvSpPr>
        <p:spPr>
          <a:xfrm>
            <a:off x="658368" y="3749040"/>
            <a:ext cx="1828800" cy="201168"/>
          </a:xfrm>
          <a:prstGeom prst="rect">
            <a:avLst/>
          </a:prstGeom>
          <a:noFill/>
        </p:spPr>
        <p:txBody>
          <a:bodyPr wrap="square" lIns="0" rIns="0" tIns="0" bIns="0" anchor="t">
            <a:noAutofit/>
          </a:bodyPr>
          <a:lstStyle/>
          <a:p>
            <a:r>
              <a:rPr sz="1100" b="1" i="0">
                <a:solidFill>
                  <a:schemeClr val="tx2"/>
                </a:solidFill>
              </a:rPr>
              <a:t>A focused first step</a:t>
            </a:r>
          </a:p>
        </p:txBody>
      </p:sp>
      <p:sp>
        <p:nvSpPr>
          <p:cNvPr id="34" name="A focused first step text"/>
          <p:cNvSpPr txBox="1"/>
          <p:nvPr/>
        </p:nvSpPr>
        <p:spPr>
          <a:xfrm>
            <a:off x="658368" y="3968496"/>
            <a:ext cx="1828800" cy="713232"/>
          </a:xfrm>
          <a:prstGeom prst="rect">
            <a:avLst/>
          </a:prstGeom>
          <a:noFill/>
        </p:spPr>
        <p:txBody>
          <a:bodyPr wrap="square" lIns="0" rIns="0" tIns="0" bIns="0" anchor="t">
            <a:noAutofit/>
          </a:bodyPr>
          <a:lstStyle/>
          <a:p>
            <a:r>
              <a:rPr sz="900" b="0" i="0">
                <a:solidFill>
                  <a:schemeClr val="tx1"/>
                </a:solidFill>
              </a:rPr>
              <a:t>Five selected Dhaka ponds and wetlands, built on existing satellite data and free tools, with sample records where real data is not available.</a:t>
            </a:r>
          </a:p>
        </p:txBody>
      </p:sp>
      <p:sp>
        <p:nvSpPr>
          <p:cNvPr id="35" name="Our vision heading"/>
          <p:cNvSpPr txBox="1"/>
          <p:nvPr/>
        </p:nvSpPr>
        <p:spPr>
          <a:xfrm>
            <a:off x="2880360" y="3749040"/>
            <a:ext cx="2011680" cy="201168"/>
          </a:xfrm>
          <a:prstGeom prst="rect">
            <a:avLst/>
          </a:prstGeom>
          <a:noFill/>
        </p:spPr>
        <p:txBody>
          <a:bodyPr wrap="square" lIns="0" rIns="0" tIns="0" bIns="0" anchor="t">
            <a:noAutofit/>
          </a:bodyPr>
          <a:lstStyle/>
          <a:p>
            <a:r>
              <a:rPr sz="1100" b="1" i="0">
                <a:solidFill>
                  <a:schemeClr val="tx2"/>
                </a:solidFill>
              </a:rPr>
              <a:t>Our vision</a:t>
            </a:r>
          </a:p>
        </p:txBody>
      </p:sp>
      <p:sp>
        <p:nvSpPr>
          <p:cNvPr id="36" name="Our vision text"/>
          <p:cNvSpPr txBox="1"/>
          <p:nvPr/>
        </p:nvSpPr>
        <p:spPr>
          <a:xfrm>
            <a:off x="2880360" y="3968496"/>
            <a:ext cx="2011680" cy="713232"/>
          </a:xfrm>
          <a:prstGeom prst="rect">
            <a:avLst/>
          </a:prstGeom>
          <a:noFill/>
        </p:spPr>
        <p:txBody>
          <a:bodyPr wrap="square" lIns="0" rIns="0" tIns="0" bIns="0" anchor="t">
            <a:noAutofit/>
          </a:bodyPr>
          <a:lstStyle/>
          <a:p>
            <a:r>
              <a:rPr sz="900" b="0" i="0">
                <a:solidFill>
                  <a:schemeClr val="tx1"/>
                </a:solidFill>
              </a:rPr>
              <a:t>A practical tool that turns satellite observations into organised, accountable wetland protection work.</a:t>
            </a:r>
          </a:p>
        </p:txBody>
      </p:sp>
      <p:pic>
        <p:nvPicPr>
          <p:cNvPr id="37" name="Team" descr="A project team reviewing satellite imagery"/>
          <p:cNvPicPr>
            <a:picLocks noChangeAspect="1"/>
          </p:cNvPicPr>
          <p:nvPr/>
        </p:nvPicPr>
        <p:blipFill>
          <a:blip r:embed="rId7"/>
          <a:stretch>
            <a:fillRect/>
          </a:stretch>
        </p:blipFill>
        <p:spPr>
          <a:xfrm>
            <a:off x="5303520" y="1280160"/>
            <a:ext cx="3383280" cy="2194560"/>
          </a:xfrm>
          <a:prstGeom prst="rect">
            <a:avLst/>
          </a:prstGeom>
        </p:spPr>
      </p:pic>
      <p:sp>
        <p:nvSpPr>
          <p:cNvPr id="38" name="Team frame"/>
          <p:cNvSpPr/>
          <p:nvPr/>
        </p:nvSpPr>
        <p:spPr>
          <a:xfrm>
            <a:off x="5303520" y="1280160"/>
            <a:ext cx="3383280" cy="2194560"/>
          </a:xfrm>
          <a:prstGeom prst="rect">
            <a:avLst/>
          </a:prstGeom>
          <a:noFill/>
          <a:ln w="9525">
            <a:solidFill>
              <a:schemeClr val="accent4"/>
            </a:solidFill>
          </a:ln>
        </p:spPr>
        <p:txBody>
          <a:bodyPr rtlCol="0" anchor="ctr"/>
          <a:lstStyle/>
          <a:p>
            <a:pPr algn="ctr"/>
          </a:p>
        </p:txBody>
      </p:sp>
      <p:pic>
        <p:nvPicPr>
          <p:cNvPr id="39" name="Wetland" descr="Aerial view of a wetland"/>
          <p:cNvPicPr>
            <a:picLocks noChangeAspect="1"/>
          </p:cNvPicPr>
          <p:nvPr/>
        </p:nvPicPr>
        <p:blipFill>
          <a:blip r:embed="rId8"/>
          <a:stretch>
            <a:fillRect/>
          </a:stretch>
        </p:blipFill>
        <p:spPr>
          <a:xfrm>
            <a:off x="5303520" y="3657600"/>
            <a:ext cx="3383280" cy="1051560"/>
          </a:xfrm>
          <a:prstGeom prst="rect">
            <a:avLst/>
          </a:prstGeom>
        </p:spPr>
      </p:pic>
      <p:sp>
        <p:nvSpPr>
          <p:cNvPr id="40" name="Wetland frame"/>
          <p:cNvSpPr/>
          <p:nvPr/>
        </p:nvSpPr>
        <p:spPr>
          <a:xfrm>
            <a:off x="5303520" y="3657600"/>
            <a:ext cx="3383280" cy="1051560"/>
          </a:xfrm>
          <a:prstGeom prst="rect">
            <a:avLst/>
          </a:prstGeom>
          <a:noFill/>
          <a:ln w="9525">
            <a:solidFill>
              <a:schemeClr val="accent4"/>
            </a:solidFill>
          </a:ln>
        </p:spPr>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Wetland strip" descr="Aerial view of a wetland"/>
          <p:cNvPicPr>
            <a:picLocks noChangeAspect="1"/>
          </p:cNvPicPr>
          <p:nvPr/>
        </p:nvPicPr>
        <p:blipFill>
          <a:blip r:embed="rId3"/>
          <a:stretch>
            <a:fillRect/>
          </a:stretch>
        </p:blipFill>
        <p:spPr>
          <a:xfrm>
            <a:off x="0" y="0"/>
            <a:ext cx="9144000" cy="640080"/>
          </a:xfrm>
          <a:prstGeom prst="rect">
            <a:avLst/>
          </a:prstGeom>
        </p:spPr>
      </p:pic>
      <p:pic>
        <p:nvPicPr>
          <p:cNvPr id="6" name="Demo QR code" descr="QR code for the live demo"/>
          <p:cNvPicPr>
            <a:picLocks noChangeAspect="1"/>
          </p:cNvPicPr>
          <p:nvPr/>
        </p:nvPicPr>
        <p:blipFill>
          <a:blip r:embed="rId4"/>
          <a:stretch>
            <a:fillRect/>
          </a:stretch>
        </p:blipFill>
        <p:spPr>
          <a:xfrm>
            <a:off x="4046220" y="3017520"/>
            <a:ext cx="1051560" cy="1051560"/>
          </a:xfrm>
          <a:prstGeom prst="rect">
            <a:avLst/>
          </a:prstGeom>
        </p:spPr>
      </p:pic>
      <p:sp>
        <p:nvSpPr>
          <p:cNvPr id="7" name="Thank you"/>
          <p:cNvSpPr txBox="1"/>
          <p:nvPr/>
        </p:nvSpPr>
        <p:spPr>
          <a:xfrm>
            <a:off x="1371600" y="960120"/>
            <a:ext cx="6400800" cy="822960"/>
          </a:xfrm>
          <a:prstGeom prst="rect">
            <a:avLst/>
          </a:prstGeom>
          <a:noFill/>
        </p:spPr>
        <p:txBody>
          <a:bodyPr wrap="square" lIns="0" rIns="0" tIns="0" bIns="0" anchor="ctr">
            <a:noAutofit/>
          </a:bodyPr>
          <a:lstStyle/>
          <a:p>
            <a:pPr algn="ctr"/>
            <a:r>
              <a:rPr sz="4400" b="1" i="0">
                <a:solidFill>
                  <a:schemeClr val="tx2"/>
                </a:solidFill>
              </a:rPr>
              <a:t>Thank You</a:t>
            </a:r>
          </a:p>
        </p:txBody>
      </p:sp>
      <p:sp>
        <p:nvSpPr>
          <p:cNvPr id="8" name="Questions"/>
          <p:cNvSpPr txBox="1"/>
          <p:nvPr/>
        </p:nvSpPr>
        <p:spPr>
          <a:xfrm>
            <a:off x="1371600" y="1783080"/>
            <a:ext cx="6400800" cy="365760"/>
          </a:xfrm>
          <a:prstGeom prst="rect">
            <a:avLst/>
          </a:prstGeom>
          <a:noFill/>
        </p:spPr>
        <p:txBody>
          <a:bodyPr wrap="square" lIns="0" rIns="0" tIns="0" bIns="0" anchor="ctr">
            <a:noAutofit/>
          </a:bodyPr>
          <a:lstStyle/>
          <a:p>
            <a:pPr algn="ctr"/>
            <a:r>
              <a:rPr sz="1800" b="0" i="0">
                <a:solidFill>
                  <a:schemeClr val="accent2"/>
                </a:solidFill>
              </a:rPr>
              <a:t>Questions are welcome.</a:t>
            </a:r>
          </a:p>
        </p:txBody>
      </p:sp>
      <p:sp>
        <p:nvSpPr>
          <p:cNvPr id="9" name="Tagline"/>
          <p:cNvSpPr txBox="1"/>
          <p:nvPr/>
        </p:nvSpPr>
        <p:spPr>
          <a:xfrm>
            <a:off x="2194560" y="2286000"/>
            <a:ext cx="4754880" cy="548640"/>
          </a:xfrm>
          <a:prstGeom prst="rect">
            <a:avLst/>
          </a:prstGeom>
          <a:noFill/>
        </p:spPr>
        <p:txBody>
          <a:bodyPr wrap="square" lIns="0" rIns="0" tIns="0" bIns="0" anchor="ctr">
            <a:noAutofit/>
          </a:bodyPr>
          <a:lstStyle/>
          <a:p>
            <a:pPr algn="ctr"/>
            <a:r>
              <a:rPr sz="1200" b="0" i="1">
                <a:solidFill>
                  <a:schemeClr val="tx1"/>
                </a:solidFill>
              </a:rPr>
              <a:t>TerraLink helps NGOs protect wetlands with clear evidence, clear responsibility and clear records.</a:t>
            </a:r>
          </a:p>
        </p:txBody>
      </p:sp>
      <p:sp>
        <p:nvSpPr>
          <p:cNvPr id="10" name="Demo label"/>
          <p:cNvSpPr txBox="1"/>
          <p:nvPr/>
        </p:nvSpPr>
        <p:spPr>
          <a:xfrm>
            <a:off x="1371600" y="4160520"/>
            <a:ext cx="6400800" cy="219456"/>
          </a:xfrm>
          <a:prstGeom prst="rect">
            <a:avLst/>
          </a:prstGeom>
          <a:noFill/>
        </p:spPr>
        <p:txBody>
          <a:bodyPr wrap="square" lIns="0" rIns="0" tIns="0" bIns="0" anchor="ctr">
            <a:noAutofit/>
          </a:bodyPr>
          <a:lstStyle/>
          <a:p>
            <a:pPr algn="ctr"/>
            <a:r>
              <a:rPr sz="1150" b="1" i="0">
                <a:solidFill>
                  <a:schemeClr val="tx1"/>
                </a:solidFill>
              </a:rPr>
              <a:t>Live demo</a:t>
            </a:r>
          </a:p>
        </p:txBody>
      </p:sp>
      <p:sp>
        <p:nvSpPr>
          <p:cNvPr id="11" name="Demo link"/>
          <p:cNvSpPr txBox="1"/>
          <p:nvPr/>
        </p:nvSpPr>
        <p:spPr>
          <a:xfrm>
            <a:off x="1371600" y="4379976"/>
            <a:ext cx="6400800" cy="219456"/>
          </a:xfrm>
          <a:prstGeom prst="rect">
            <a:avLst/>
          </a:prstGeom>
          <a:noFill/>
        </p:spPr>
        <p:txBody>
          <a:bodyPr wrap="square" lIns="0" rIns="0" tIns="0" bIns="0" anchor="ctr">
            <a:noAutofit/>
          </a:bodyPr>
          <a:lstStyle/>
          <a:p>
            <a:pPr algn="ctr"/>
            <a:r>
              <a:rPr sz="1100" b="0" i="0">
                <a:solidFill>
                  <a:schemeClr val="accent2"/>
                </a:solidFill>
              </a:rPr>
              <a:t>terralink-probah.vercel.app</a:t>
            </a:r>
          </a:p>
        </p:txBody>
      </p:sp>
      <p:sp>
        <p:nvSpPr>
          <p:cNvPr id="12" name="Presenter"/>
          <p:cNvSpPr txBox="1"/>
          <p:nvPr/>
        </p:nvSpPr>
        <p:spPr>
          <a:xfrm>
            <a:off x="1371600" y="4599432"/>
            <a:ext cx="6400800" cy="219456"/>
          </a:xfrm>
          <a:prstGeom prst="rect">
            <a:avLst/>
          </a:prstGeom>
          <a:noFill/>
        </p:spPr>
        <p:txBody>
          <a:bodyPr wrap="square" lIns="0" rIns="0" tIns="0" bIns="0" anchor="ctr">
            <a:noAutofit/>
          </a:bodyPr>
          <a:lstStyle/>
          <a:p>
            <a:pPr algn="ctr"/>
            <a:r>
              <a:rPr sz="1050" b="0" i="0">
                <a:solidFill>
                  <a:schemeClr val="accent2"/>
                </a:solidFill>
              </a:rPr>
              <a:t>Afrin Jahan Era · IUT</a:t>
            </a:r>
          </a:p>
        </p:txBody>
      </p:sp>
    </p:spTree>
  </p:cSld>
  <p:clrMapOvr>
    <a:masterClrMapping/>
  </p:clrMapOvr>
</p:sld>
</file>

<file path=ppt/theme/theme1.xml><?xml version="1.0" encoding="utf-8"?>
<a:theme xmlns:a="http://schemas.openxmlformats.org/drawingml/2006/main" name="TerraLink Professional">
  <a:themeElements>
    <a:clrScheme name="TerraLink Professional">
      <a:dk1>
        <a:srgbClr val="1F2A2E"/>
      </a:dk1>
      <a:lt1>
        <a:srgbClr val="FFFFFF"/>
      </a:lt1>
      <a:dk2>
        <a:srgbClr val="1B6B63"/>
      </a:dk2>
      <a:lt2>
        <a:srgbClr val="E0F2F4"/>
      </a:lt2>
      <a:accent1>
        <a:srgbClr val="1B6B63"/>
      </a:accent1>
      <a:accent2>
        <a:srgbClr val="5F6B6D"/>
      </a:accent2>
      <a:accent3>
        <a:srgbClr val="8A9597"/>
      </a:accent3>
      <a:accent4>
        <a:srgbClr val="D9DEDF"/>
      </a:accent4>
      <a:accent5>
        <a:srgbClr val="B8C0C2"/>
      </a:accent5>
      <a:accent6>
        <a:srgbClr val="3A4548"/>
      </a:accent6>
      <a:hlink>
        <a:srgbClr val="1F2A2E"/>
      </a:hlink>
      <a:folHlink>
        <a:srgbClr val="5F6B6D"/>
      </a:folHlink>
    </a:clrScheme>
    <a:fontScheme name="TerraLink Professio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TerraLink — Smarter Wetland Monitoring &amp; Project Management</dc:title>
  <dc:subject>PptxGenJS Presentation</dc:subject>
  <dc:creator>Afrin Jahan Era</dc:creator>
  <cp:lastModifiedBy>Afrin Jahan Era</cp:lastModifiedBy>
  <cp:revision>1</cp:revision>
  <dcterms:created xsi:type="dcterms:W3CDTF">2026-10-10T07:10:15Z</dcterms:created>
  <dcterms:modified xsi:type="dcterms:W3CDTF">2026-10-10T07:10:15Z</dcterms:modified>
</cp:coreProperties>
</file>